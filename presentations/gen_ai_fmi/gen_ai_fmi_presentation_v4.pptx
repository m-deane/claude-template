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280160"/>
            <a:ext cx="8229600" cy="82296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Gen AI for FM&amp;I</a:t>
            </a:r>
            <a:endParaRPr lang="en-US" sz="4400" dirty="0"/>
          </a:p>
        </p:txBody>
      </p:sp>
      <p:sp>
        <p:nvSpPr>
          <p:cNvPr id="4" name="Text 2"/>
          <p:cNvSpPr/>
          <p:nvPr/>
        </p:nvSpPr>
        <p:spPr>
          <a:xfrm>
            <a:off x="457200" y="2194560"/>
            <a:ext cx="8229600" cy="365760"/>
          </a:xfrm>
          <a:prstGeom prst="rect">
            <a:avLst/>
          </a:prstGeom>
          <a:noFill/>
          <a:ln/>
        </p:spPr>
        <p:txBody>
          <a:bodyPr wrap="square"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Tools, Workflows &amp; Commercial Opportunity</a:t>
            </a:r>
            <a:endParaRPr lang="en-US" sz="1800" dirty="0"/>
          </a:p>
        </p:txBody>
      </p:sp>
      <p:sp>
        <p:nvSpPr>
          <p:cNvPr id="5" name="Text 3"/>
          <p:cNvSpPr/>
          <p:nvPr/>
        </p:nvSpPr>
        <p:spPr>
          <a:xfrm>
            <a:off x="457200" y="2578608"/>
            <a:ext cx="8229600" cy="347472"/>
          </a:xfrm>
          <a:prstGeom prst="rect">
            <a:avLst/>
          </a:prstGeom>
          <a:noFill/>
          <a:ln/>
        </p:spPr>
        <p:txBody>
          <a:bodyPr wrap="square" rtlCol="0" anchor="ctr"/>
          <a:lstStyle/>
          <a:p>
            <a:pPr algn="ctr" indent="0" marL="0">
              <a:buNone/>
            </a:pPr>
            <a:r>
              <a:rPr lang="en-US" sz="1300" i="1" dirty="0">
                <a:solidFill>
                  <a:srgbClr val="D97706"/>
                </a:solidFill>
                <a:latin typeface="Calibri" pitchFamily="34" charset="0"/>
                <a:ea typeface="Calibri" pitchFamily="34" charset="-122"/>
                <a:cs typeface="Calibri" pitchFamily="34" charset="-120"/>
              </a:rPr>
              <a:t>In 12 months, the analysts using these tools daily will be 40–80 hours ahead of those who aren’t. This session is about making sure that isn’t you.</a:t>
            </a:r>
            <a:endParaRPr lang="en-US" sz="1300" dirty="0"/>
          </a:p>
        </p:txBody>
      </p:sp>
      <p:sp>
        <p:nvSpPr>
          <p:cNvPr id="6" name="Text 4"/>
          <p:cNvSpPr/>
          <p:nvPr/>
        </p:nvSpPr>
        <p:spPr>
          <a:xfrm>
            <a:off x="457200" y="3017520"/>
            <a:ext cx="8229600" cy="27432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FM&amp;I | Trading Analytics &amp; Insights | BP</a:t>
            </a:r>
            <a:endParaRPr lang="en-US" sz="1100" dirty="0"/>
          </a:p>
        </p:txBody>
      </p:sp>
      <p:sp>
        <p:nvSpPr>
          <p:cNvPr id="7" name="Text 5"/>
          <p:cNvSpPr/>
          <p:nvPr/>
        </p:nvSpPr>
        <p:spPr>
          <a:xfrm>
            <a:off x="457200" y="4297680"/>
            <a:ext cx="8229600" cy="2286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Session duration: 90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CASE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15 hours saved per week vs 2 hours</a:t>
            </a:r>
            <a:endParaRPr lang="en-US" sz="3000" dirty="0"/>
          </a:p>
        </p:txBody>
      </p:sp>
      <p:sp>
        <p:nvSpPr>
          <p:cNvPr id="8" name="Shape 6"/>
          <p:cNvSpPr/>
          <p:nvPr/>
        </p:nvSpPr>
        <p:spPr>
          <a:xfrm>
            <a:off x="274320" y="1325880"/>
            <a:ext cx="4114800" cy="3017520"/>
          </a:xfrm>
          <a:prstGeom prst="rect">
            <a:avLst/>
          </a:prstGeom>
          <a:solidFill>
            <a:srgbClr val="FFFFFF"/>
          </a:solidFill>
          <a:ln/>
        </p:spPr>
      </p:sp>
      <p:sp>
        <p:nvSpPr>
          <p:cNvPr id="9" name="Shape 7"/>
          <p:cNvSpPr/>
          <p:nvPr/>
        </p:nvSpPr>
        <p:spPr>
          <a:xfrm>
            <a:off x="274320" y="1325880"/>
            <a:ext cx="4114800" cy="45720"/>
          </a:xfrm>
          <a:prstGeom prst="rect">
            <a:avLst/>
          </a:prstGeom>
          <a:solidFill>
            <a:srgbClr val="0D9488"/>
          </a:solidFill>
          <a:ln w="12700">
            <a:solidFill>
              <a:srgbClr val="0D9488"/>
            </a:solidFill>
            <a:prstDash val="solid"/>
          </a:ln>
        </p:spPr>
      </p:sp>
      <p:sp>
        <p:nvSpPr>
          <p:cNvPr id="10" name="Text 8"/>
          <p:cNvSpPr/>
          <p:nvPr/>
        </p:nvSpPr>
        <p:spPr>
          <a:xfrm>
            <a:off x="365760" y="1444752"/>
            <a:ext cx="3931920" cy="685800"/>
          </a:xfrm>
          <a:prstGeom prst="rect">
            <a:avLst/>
          </a:prstGeom>
          <a:noFill/>
          <a:ln/>
        </p:spPr>
        <p:txBody>
          <a:bodyPr wrap="square" rtlCol="0" anchor="ctr"/>
          <a:lstStyle/>
          <a:p>
            <a:pPr algn="ctr" indent="0" marL="0">
              <a:buNone/>
            </a:pPr>
            <a:r>
              <a:rPr lang="en-US" sz="5200" b="1" dirty="0">
                <a:solidFill>
                  <a:srgbClr val="0D9488"/>
                </a:solidFill>
                <a:latin typeface="Trebuchet MS" pitchFamily="34" charset="0"/>
                <a:ea typeface="Trebuchet MS" pitchFamily="34" charset="-122"/>
                <a:cs typeface="Trebuchet MS" pitchFamily="34" charset="-120"/>
              </a:rPr>
              <a:t>15 hrs</a:t>
            </a:r>
            <a:endParaRPr lang="en-US" sz="5200" dirty="0"/>
          </a:p>
        </p:txBody>
      </p:sp>
      <p:sp>
        <p:nvSpPr>
          <p:cNvPr id="11" name="Text 9"/>
          <p:cNvSpPr/>
          <p:nvPr/>
        </p:nvSpPr>
        <p:spPr>
          <a:xfrm>
            <a:off x="365760" y="2176272"/>
            <a:ext cx="3931920" cy="32004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saved per week — top 20% of AI adopters</a:t>
            </a:r>
            <a:endParaRPr lang="en-US" sz="1000" dirty="0"/>
          </a:p>
        </p:txBody>
      </p:sp>
      <p:sp>
        <p:nvSpPr>
          <p:cNvPr id="12" name="Shape 10"/>
          <p:cNvSpPr/>
          <p:nvPr/>
        </p:nvSpPr>
        <p:spPr>
          <a:xfrm>
            <a:off x="822960" y="2578608"/>
            <a:ext cx="3017520" cy="18288"/>
          </a:xfrm>
          <a:prstGeom prst="rect">
            <a:avLst/>
          </a:prstGeom>
          <a:solidFill>
            <a:srgbClr val="E2E8F0"/>
          </a:solidFill>
          <a:ln w="12700">
            <a:solidFill>
              <a:srgbClr val="E2E8F0"/>
            </a:solidFill>
            <a:prstDash val="solid"/>
          </a:ln>
        </p:spPr>
      </p:sp>
      <p:sp>
        <p:nvSpPr>
          <p:cNvPr id="13" name="Text 11"/>
          <p:cNvSpPr/>
          <p:nvPr/>
        </p:nvSpPr>
        <p:spPr>
          <a:xfrm>
            <a:off x="365760" y="2670048"/>
            <a:ext cx="3931920" cy="274320"/>
          </a:xfrm>
          <a:prstGeom prst="rect">
            <a:avLst/>
          </a:prstGeom>
          <a:noFill/>
          <a:ln/>
        </p:spPr>
        <p:txBody>
          <a:bodyPr wrap="square" rtlCol="0" anchor="ctr"/>
          <a:lstStyle/>
          <a:p>
            <a:pPr algn="ctr" indent="0" marL="0">
              <a:buNone/>
            </a:pPr>
            <a:r>
              <a:rPr lang="en-US" sz="1000" b="1" dirty="0">
                <a:solidFill>
                  <a:srgbClr val="DC2626"/>
                </a:solidFill>
                <a:latin typeface="Calibri" pitchFamily="34" charset="0"/>
                <a:ea typeface="Calibri" pitchFamily="34" charset="-122"/>
                <a:cs typeface="Calibri" pitchFamily="34" charset="-120"/>
              </a:rPr>
              <a:t>vs 2 hrs/week — bottom 20%</a:t>
            </a:r>
            <a:endParaRPr lang="en-US" sz="1000" dirty="0"/>
          </a:p>
        </p:txBody>
      </p:sp>
      <p:sp>
        <p:nvSpPr>
          <p:cNvPr id="14" name="Text 12"/>
          <p:cNvSpPr/>
          <p:nvPr/>
        </p:nvSpPr>
        <p:spPr>
          <a:xfrm>
            <a:off x="411480" y="3035808"/>
            <a:ext cx="3794760" cy="11430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Source: Accenture 2025 quant analyst study. Same tools. Same technical background. Gap explained entirely by prompting skill and integration depth.</a:t>
            </a:r>
            <a:endParaRPr lang="en-US" sz="850" dirty="0"/>
          </a:p>
        </p:txBody>
      </p:sp>
      <p:sp>
        <p:nvSpPr>
          <p:cNvPr id="15" name="Shape 13"/>
          <p:cNvSpPr/>
          <p:nvPr/>
        </p:nvSpPr>
        <p:spPr>
          <a:xfrm>
            <a:off x="4663440" y="1325880"/>
            <a:ext cx="4160520" cy="3017520"/>
          </a:xfrm>
          <a:prstGeom prst="rect">
            <a:avLst/>
          </a:prstGeom>
          <a:solidFill>
            <a:srgbClr val="FFFFFF"/>
          </a:solidFill>
          <a:ln/>
        </p:spPr>
      </p:sp>
      <p:sp>
        <p:nvSpPr>
          <p:cNvPr id="16" name="Shape 14"/>
          <p:cNvSpPr/>
          <p:nvPr/>
        </p:nvSpPr>
        <p:spPr>
          <a:xfrm>
            <a:off x="4663440" y="1325880"/>
            <a:ext cx="4160520" cy="45720"/>
          </a:xfrm>
          <a:prstGeom prst="rect">
            <a:avLst/>
          </a:prstGeom>
          <a:solidFill>
            <a:srgbClr val="D97706"/>
          </a:solidFill>
          <a:ln w="12700">
            <a:solidFill>
              <a:srgbClr val="D97706"/>
            </a:solidFill>
            <a:prstDash val="solid"/>
          </a:ln>
        </p:spPr>
      </p:sp>
      <p:sp>
        <p:nvSpPr>
          <p:cNvPr id="17" name="Text 15"/>
          <p:cNvSpPr/>
          <p:nvPr/>
        </p:nvSpPr>
        <p:spPr>
          <a:xfrm>
            <a:off x="480060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 is already opening</a:t>
            </a:r>
            <a:endParaRPr lang="en-US" sz="1100" dirty="0"/>
          </a:p>
        </p:txBody>
      </p:sp>
      <p:sp>
        <p:nvSpPr>
          <p:cNvPr id="18" name="Text 16"/>
          <p:cNvSpPr/>
          <p:nvPr/>
        </p:nvSpPr>
        <p:spPr>
          <a:xfrm>
            <a:off x="4800600" y="1810512"/>
            <a:ext cx="3840480" cy="24231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Fifteen hours versus two hours — that is the difference between an analyst who has integrated AI into their daily workflow and one who uses it occasionally for spell-checking.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In FM&amp;I terms: fifteen hours reclaimed per week means three additional ad hoc analysis requests answered, one extra model backlog item cleared, documentation that actually gets written.</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question is not whether to adopt. The question is: are you in the top 20% or the bottom 20%? This session is about what separates them.</a:t>
            </a:r>
            <a:endParaRPr lang="en-US" sz="9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only difference between 15 hrs saved and 2 hrs saved is prompting skill and integration depth — both learnable today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WHY NOW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is already opening — and it is measurable</a:t>
            </a:r>
            <a:endParaRPr lang="en-US" sz="3000" dirty="0"/>
          </a:p>
        </p:txBody>
      </p:sp>
      <p:sp>
        <p:nvSpPr>
          <p:cNvPr id="8" name="Text 6"/>
          <p:cNvSpPr/>
          <p:nvPr/>
        </p:nvSpPr>
        <p:spPr>
          <a:xfrm>
            <a:off x="274320" y="1353312"/>
            <a:ext cx="1828800" cy="365760"/>
          </a:xfrm>
          <a:prstGeom prst="rect">
            <a:avLst/>
          </a:prstGeom>
          <a:noFill/>
          <a:ln/>
        </p:spPr>
        <p:txBody>
          <a:bodyPr wrap="square" rtlCol="0" anchor="ctr"/>
          <a:lstStyle/>
          <a:p>
            <a:pPr algn="l" indent="0" marL="0">
              <a:buNone/>
            </a:pPr>
            <a:r>
              <a:rPr lang="en-US" sz="2800" b="1" dirty="0">
                <a:solidFill>
                  <a:srgbClr val="0D9488"/>
                </a:solidFill>
                <a:latin typeface="Trebuchet MS" pitchFamily="34" charset="0"/>
                <a:ea typeface="Trebuchet MS" pitchFamily="34" charset="-122"/>
                <a:cs typeface="Trebuchet MS" pitchFamily="34" charset="-120"/>
              </a:rPr>
              <a:t>45%</a:t>
            </a:r>
            <a:endParaRPr lang="en-US" sz="2800" dirty="0"/>
          </a:p>
        </p:txBody>
      </p:sp>
      <p:sp>
        <p:nvSpPr>
          <p:cNvPr id="9" name="Text 7"/>
          <p:cNvSpPr/>
          <p:nvPr/>
        </p:nvSpPr>
        <p:spPr>
          <a:xfrm>
            <a:off x="2240280" y="1353312"/>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of analytical work activities automatable with current AI (McKinsey 2024)</a:t>
            </a:r>
            <a:endParaRPr lang="en-US" sz="900" dirty="0"/>
          </a:p>
        </p:txBody>
      </p:sp>
      <p:sp>
        <p:nvSpPr>
          <p:cNvPr id="10" name="Text 8"/>
          <p:cNvSpPr/>
          <p:nvPr/>
        </p:nvSpPr>
        <p:spPr>
          <a:xfrm>
            <a:off x="2240280" y="1581912"/>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For FM&amp;I: ELT recipe documentation, test writing, data quality checks, boilerplate aggregation logic, report formatting — the work absorbing 30–40% of every sprint.</a:t>
            </a:r>
            <a:endParaRPr lang="en-US" sz="850" dirty="0"/>
          </a:p>
        </p:txBody>
      </p:sp>
      <p:sp>
        <p:nvSpPr>
          <p:cNvPr id="11" name="Shape 9"/>
          <p:cNvSpPr/>
          <p:nvPr/>
        </p:nvSpPr>
        <p:spPr>
          <a:xfrm>
            <a:off x="274320" y="2084832"/>
            <a:ext cx="5029200" cy="13716"/>
          </a:xfrm>
          <a:prstGeom prst="rect">
            <a:avLst/>
          </a:prstGeom>
          <a:solidFill>
            <a:srgbClr val="E2E8F0"/>
          </a:solidFill>
          <a:ln w="12700">
            <a:solidFill>
              <a:srgbClr val="E2E8F0"/>
            </a:solidFill>
            <a:prstDash val="solid"/>
          </a:ln>
        </p:spPr>
      </p:sp>
      <p:sp>
        <p:nvSpPr>
          <p:cNvPr id="12" name="Text 10"/>
          <p:cNvSpPr/>
          <p:nvPr/>
        </p:nvSpPr>
        <p:spPr>
          <a:xfrm>
            <a:off x="274320" y="2125980"/>
            <a:ext cx="1828800" cy="365760"/>
          </a:xfrm>
          <a:prstGeom prst="rect">
            <a:avLst/>
          </a:prstGeom>
          <a:noFill/>
          <a:ln/>
        </p:spPr>
        <p:txBody>
          <a:bodyPr wrap="square" rtlCol="0" anchor="ctr"/>
          <a:lstStyle/>
          <a:p>
            <a:pPr algn="l" indent="0" marL="0">
              <a:buNone/>
            </a:pPr>
            <a:r>
              <a:rPr lang="en-US" sz="2800" b="1" dirty="0">
                <a:solidFill>
                  <a:srgbClr val="2563EB"/>
                </a:solidFill>
                <a:latin typeface="Trebuchet MS" pitchFamily="34" charset="0"/>
                <a:ea typeface="Trebuchet MS" pitchFamily="34" charset="-122"/>
                <a:cs typeface="Trebuchet MS" pitchFamily="34" charset="-120"/>
              </a:rPr>
              <a:t>55%</a:t>
            </a:r>
            <a:endParaRPr lang="en-US" sz="2800" dirty="0"/>
          </a:p>
        </p:txBody>
      </p:sp>
      <p:sp>
        <p:nvSpPr>
          <p:cNvPr id="13" name="Text 11"/>
          <p:cNvSpPr/>
          <p:nvPr/>
        </p:nvSpPr>
        <p:spPr>
          <a:xfrm>
            <a:off x="2240280" y="2125980"/>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faster task completion for data engineers using AI coding tools (GitHub 2024)</a:t>
            </a:r>
            <a:endParaRPr lang="en-US" sz="900" dirty="0"/>
          </a:p>
        </p:txBody>
      </p:sp>
      <p:sp>
        <p:nvSpPr>
          <p:cNvPr id="14" name="Text 12"/>
          <p:cNvSpPr/>
          <p:nvPr/>
        </p:nvSpPr>
        <p:spPr>
          <a:xfrm>
            <a:off x="2240280" y="2354580"/>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gain comes from not context-switching to documentation, not writing boilerplate from scratch, and having a first draft to critique rather than starting blank.</a:t>
            </a:r>
            <a:endParaRPr lang="en-US" sz="850" dirty="0"/>
          </a:p>
        </p:txBody>
      </p:sp>
      <p:sp>
        <p:nvSpPr>
          <p:cNvPr id="15" name="Shape 13"/>
          <p:cNvSpPr/>
          <p:nvPr/>
        </p:nvSpPr>
        <p:spPr>
          <a:xfrm>
            <a:off x="274320" y="2857500"/>
            <a:ext cx="5029200" cy="13716"/>
          </a:xfrm>
          <a:prstGeom prst="rect">
            <a:avLst/>
          </a:prstGeom>
          <a:solidFill>
            <a:srgbClr val="E2E8F0"/>
          </a:solidFill>
          <a:ln w="12700">
            <a:solidFill>
              <a:srgbClr val="E2E8F0"/>
            </a:solidFill>
            <a:prstDash val="solid"/>
          </a:ln>
        </p:spPr>
      </p:sp>
      <p:sp>
        <p:nvSpPr>
          <p:cNvPr id="16" name="Text 14"/>
          <p:cNvSpPr/>
          <p:nvPr/>
        </p:nvSpPr>
        <p:spPr>
          <a:xfrm>
            <a:off x="274320" y="2898648"/>
            <a:ext cx="1828800" cy="365760"/>
          </a:xfrm>
          <a:prstGeom prst="rect">
            <a:avLst/>
          </a:prstGeom>
          <a:noFill/>
          <a:ln/>
        </p:spPr>
        <p:txBody>
          <a:bodyPr wrap="square" rtlCol="0" anchor="ctr"/>
          <a:lstStyle/>
          <a:p>
            <a:pPr algn="l" indent="0" marL="0">
              <a:buNone/>
            </a:pPr>
            <a:r>
              <a:rPr lang="en-US" sz="2800" b="1" dirty="0">
                <a:solidFill>
                  <a:srgbClr val="059669"/>
                </a:solidFill>
                <a:latin typeface="Trebuchet MS" pitchFamily="34" charset="0"/>
                <a:ea typeface="Trebuchet MS" pitchFamily="34" charset="-122"/>
                <a:cs typeface="Trebuchet MS" pitchFamily="34" charset="-120"/>
              </a:rPr>
              <a:t>40-80 hrs</a:t>
            </a:r>
            <a:endParaRPr lang="en-US" sz="2800" dirty="0"/>
          </a:p>
        </p:txBody>
      </p:sp>
      <p:sp>
        <p:nvSpPr>
          <p:cNvPr id="17" name="Text 15"/>
          <p:cNvSpPr/>
          <p:nvPr/>
        </p:nvSpPr>
        <p:spPr>
          <a:xfrm>
            <a:off x="2240280" y="2898648"/>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per month saved by active AI tool users vs passive users (Accenture 2025)</a:t>
            </a:r>
            <a:endParaRPr lang="en-US" sz="900" dirty="0"/>
          </a:p>
        </p:txBody>
      </p:sp>
      <p:sp>
        <p:nvSpPr>
          <p:cNvPr id="18" name="Text 16"/>
          <p:cNvSpPr/>
          <p:nvPr/>
        </p:nvSpPr>
        <p:spPr>
          <a:xfrm>
            <a:off x="2240280" y="3127248"/>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At 40 hrs/month that is one additional full working week per month — one week that currently disappears into repetitive tasks that AI can own.</a:t>
            </a:r>
            <a:endParaRPr lang="en-US" sz="850" dirty="0"/>
          </a:p>
        </p:txBody>
      </p:sp>
      <p:sp>
        <p:nvSpPr>
          <p:cNvPr id="19" name="Shape 17"/>
          <p:cNvSpPr/>
          <p:nvPr/>
        </p:nvSpPr>
        <p:spPr>
          <a:xfrm>
            <a:off x="274320" y="3630168"/>
            <a:ext cx="5029200" cy="13716"/>
          </a:xfrm>
          <a:prstGeom prst="rect">
            <a:avLst/>
          </a:prstGeom>
          <a:solidFill>
            <a:srgbClr val="E2E8F0"/>
          </a:solidFill>
          <a:ln w="12700">
            <a:solidFill>
              <a:srgbClr val="E2E8F0"/>
            </a:solidFill>
            <a:prstDash val="solid"/>
          </a:ln>
        </p:spPr>
      </p:sp>
      <p:sp>
        <p:nvSpPr>
          <p:cNvPr id="20" name="Text 18"/>
          <p:cNvSpPr/>
          <p:nvPr/>
        </p:nvSpPr>
        <p:spPr>
          <a:xfrm>
            <a:off x="274320" y="3671316"/>
            <a:ext cx="1828800" cy="365760"/>
          </a:xfrm>
          <a:prstGeom prst="rect">
            <a:avLst/>
          </a:prstGeom>
          <a:noFill/>
          <a:ln/>
        </p:spPr>
        <p:txBody>
          <a:bodyPr wrap="square" rtlCol="0" anchor="ctr"/>
          <a:lstStyle/>
          <a:p>
            <a:pPr algn="l" indent="0" marL="0">
              <a:buNone/>
            </a:pPr>
            <a:r>
              <a:rPr lang="en-US" sz="2800" b="1" dirty="0">
                <a:solidFill>
                  <a:srgbClr val="D97706"/>
                </a:solidFill>
                <a:latin typeface="Trebuchet MS" pitchFamily="34" charset="0"/>
                <a:ea typeface="Trebuchet MS" pitchFamily="34" charset="-122"/>
                <a:cs typeface="Trebuchet MS" pitchFamily="34" charset="-120"/>
              </a:rPr>
              <a:t>12 min</a:t>
            </a:r>
            <a:endParaRPr lang="en-US" sz="2800" dirty="0"/>
          </a:p>
        </p:txBody>
      </p:sp>
      <p:sp>
        <p:nvSpPr>
          <p:cNvPr id="21" name="Text 19"/>
          <p:cNvSpPr/>
          <p:nvPr/>
        </p:nvSpPr>
        <p:spPr>
          <a:xfrm>
            <a:off x="2240280" y="3671316"/>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from prompt to working Plotly Dash crack spread app (vs 2-3 days manual)</a:t>
            </a:r>
            <a:endParaRPr lang="en-US" sz="900" dirty="0"/>
          </a:p>
        </p:txBody>
      </p:sp>
      <p:sp>
        <p:nvSpPr>
          <p:cNvPr id="22" name="Text 20"/>
          <p:cNvSpPr/>
          <p:nvPr/>
        </p:nvSpPr>
        <p:spPr>
          <a:xfrm>
            <a:off x="2240280" y="3899916"/>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is not theoretical — this is the Cursor demo from this session. The ad hoc desk request that currently takes until Friday can be answered by lunch.</a:t>
            </a:r>
            <a:endParaRPr lang="en-US" sz="850" dirty="0"/>
          </a:p>
        </p:txBody>
      </p:sp>
      <p:sp>
        <p:nvSpPr>
          <p:cNvPr id="23" name="Shape 21"/>
          <p:cNvSpPr/>
          <p:nvPr/>
        </p:nvSpPr>
        <p:spPr>
          <a:xfrm>
            <a:off x="5486400" y="1325880"/>
            <a:ext cx="3383280" cy="3017520"/>
          </a:xfrm>
          <a:prstGeom prst="rect">
            <a:avLst/>
          </a:prstGeom>
          <a:solidFill>
            <a:srgbClr val="FFFFFF"/>
          </a:solidFill>
          <a:ln/>
        </p:spPr>
      </p:sp>
      <p:sp>
        <p:nvSpPr>
          <p:cNvPr id="24" name="Shape 22"/>
          <p:cNvSpPr/>
          <p:nvPr/>
        </p:nvSpPr>
        <p:spPr>
          <a:xfrm>
            <a:off x="5486400" y="1325880"/>
            <a:ext cx="3383280" cy="45720"/>
          </a:xfrm>
          <a:prstGeom prst="rect">
            <a:avLst/>
          </a:prstGeom>
          <a:solidFill>
            <a:srgbClr val="0D9488"/>
          </a:solidFill>
          <a:ln w="12700">
            <a:solidFill>
              <a:srgbClr val="0D9488"/>
            </a:solidFill>
            <a:prstDash val="solid"/>
          </a:ln>
        </p:spPr>
      </p:sp>
      <p:sp>
        <p:nvSpPr>
          <p:cNvPr id="25" name="Text 23"/>
          <p:cNvSpPr/>
          <p:nvPr/>
        </p:nvSpPr>
        <p:spPr>
          <a:xfrm>
            <a:off x="5623560" y="1444752"/>
            <a:ext cx="310896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a:t>
            </a:r>
            <a:endParaRPr lang="en-US" sz="1100" dirty="0"/>
          </a:p>
        </p:txBody>
      </p:sp>
      <p:sp>
        <p:nvSpPr>
          <p:cNvPr id="26" name="Text 24"/>
          <p:cNvSpPr/>
          <p:nvPr/>
        </p:nvSpPr>
        <p:spPr>
          <a:xfrm>
            <a:off x="5623560" y="1719072"/>
            <a:ext cx="3108960" cy="502920"/>
          </a:xfrm>
          <a:prstGeom prst="rect">
            <a:avLst/>
          </a:prstGeom>
          <a:noFill/>
          <a:ln/>
        </p:spPr>
        <p:txBody>
          <a:bodyPr wrap="square" rtlCol="0" anchor="ctr"/>
          <a:lstStyle/>
          <a:p>
            <a:pPr algn="ctr" indent="0" marL="0">
              <a:buNone/>
            </a:pPr>
            <a:r>
              <a:rPr lang="en-US" sz="3600" b="1" dirty="0">
                <a:solidFill>
                  <a:srgbClr val="D97706"/>
                </a:solidFill>
                <a:latin typeface="Trebuchet MS" pitchFamily="34" charset="0"/>
                <a:ea typeface="Trebuchet MS" pitchFamily="34" charset="-122"/>
                <a:cs typeface="Trebuchet MS" pitchFamily="34" charset="-120"/>
              </a:rPr>
              <a:t>3×</a:t>
            </a:r>
            <a:endParaRPr lang="en-US" sz="3600" dirty="0"/>
          </a:p>
        </p:txBody>
      </p:sp>
      <p:sp>
        <p:nvSpPr>
          <p:cNvPr id="27" name="Text 25"/>
          <p:cNvSpPr/>
          <p:nvPr/>
        </p:nvSpPr>
        <p:spPr>
          <a:xfrm>
            <a:off x="5623560" y="2249424"/>
            <a:ext cx="3108960" cy="20116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more models shipped per quarter</a:t>
            </a:r>
            <a:endParaRPr lang="en-US" sz="900" dirty="0"/>
          </a:p>
        </p:txBody>
      </p:sp>
      <p:sp>
        <p:nvSpPr>
          <p:cNvPr id="28" name="Text 26"/>
          <p:cNvSpPr/>
          <p:nvPr/>
        </p:nvSpPr>
        <p:spPr>
          <a:xfrm>
            <a:off x="5623560" y="2468880"/>
            <a:ext cx="3108960" cy="228600"/>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teams with mature AI adoption vs same-headcount peers (Accenture/Goldman Sachs 2025)</a:t>
            </a:r>
            <a:endParaRPr lang="en-US" sz="800" dirty="0"/>
          </a:p>
        </p:txBody>
      </p:sp>
      <p:sp>
        <p:nvSpPr>
          <p:cNvPr id="29" name="Shape 27"/>
          <p:cNvSpPr/>
          <p:nvPr/>
        </p:nvSpPr>
        <p:spPr>
          <a:xfrm>
            <a:off x="5760720" y="2743200"/>
            <a:ext cx="2834640" cy="18288"/>
          </a:xfrm>
          <a:prstGeom prst="rect">
            <a:avLst/>
          </a:prstGeom>
          <a:solidFill>
            <a:srgbClr val="E2E8F0"/>
          </a:solidFill>
          <a:ln w="12700">
            <a:solidFill>
              <a:srgbClr val="E2E8F0"/>
            </a:solidFill>
            <a:prstDash val="solid"/>
          </a:ln>
        </p:spPr>
      </p:sp>
      <p:sp>
        <p:nvSpPr>
          <p:cNvPr id="30" name="Text 28"/>
          <p:cNvSpPr/>
          <p:nvPr/>
        </p:nvSpPr>
        <p:spPr>
          <a:xfrm>
            <a:off x="5623560" y="2807208"/>
            <a:ext cx="3108960" cy="13716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gap is measurable in sprint velocity, model delivery time, and analyst capacity utilisation. Three models where one team delivers one — not because they have more people, but because each person is directing AI rather than executing manually.</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The FM&amp;I team has access to every tool discussed today. The question is where on this gap you are sitting right now.</a:t>
            </a:r>
            <a:endParaRPr lang="en-US" sz="850" dirty="0"/>
          </a:p>
        </p:txBody>
      </p:sp>
      <p:sp>
        <p:nvSpPr>
          <p:cNvPr id="31" name="Shape 29"/>
          <p:cNvSpPr/>
          <p:nvPr/>
        </p:nvSpPr>
        <p:spPr>
          <a:xfrm>
            <a:off x="0" y="4663440"/>
            <a:ext cx="9144000" cy="475488"/>
          </a:xfrm>
          <a:prstGeom prst="rect">
            <a:avLst/>
          </a:prstGeom>
          <a:solidFill>
            <a:srgbClr val="0F1B2D"/>
          </a:solidFill>
          <a:ln/>
        </p:spPr>
      </p:sp>
      <p:sp>
        <p:nvSpPr>
          <p:cNvPr id="32" name="Text 30"/>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3× model delivery velocity — not from better engineers, from engineers who spend their time directing AI rather than executing manually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CURVE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capability is accelerating — this is not a steady improvement curve</a:t>
            </a:r>
            <a:endParaRPr lang="en-US" sz="3000" dirty="0"/>
          </a:p>
        </p:txBody>
      </p:sp>
      <p:sp>
        <p:nvSpPr>
          <p:cNvPr id="8" name="Shape 6"/>
          <p:cNvSpPr/>
          <p:nvPr/>
        </p:nvSpPr>
        <p:spPr>
          <a:xfrm>
            <a:off x="274320" y="1325880"/>
            <a:ext cx="45720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Debugging</a:t>
            </a:r>
            <a:endParaRPr lang="en-US" sz="950" dirty="0"/>
          </a:p>
        </p:txBody>
      </p:sp>
      <p:sp>
        <p:nvSpPr>
          <p:cNvPr id="11" name="Text 9"/>
          <p:cNvSpPr/>
          <p:nvPr/>
        </p:nvSpPr>
        <p:spPr>
          <a:xfrm>
            <a:off x="411480" y="160020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AI could not reliably debug a complex multi-file pipeline without hallucinating function signatures that didn’t exist. Today, Claude Code audits 30 files, identifies 23 magic numbers, writes 156 tests, and generates full documentation — autonomously, in 12 minutes. The same task took a senior engineer 2–3 days.</a:t>
            </a:r>
            <a:endParaRPr lang="en-US" sz="850" dirty="0"/>
          </a:p>
        </p:txBody>
      </p:sp>
      <p:sp>
        <p:nvSpPr>
          <p:cNvPr id="12" name="Shape 10"/>
          <p:cNvSpPr/>
          <p:nvPr/>
        </p:nvSpPr>
        <p:spPr>
          <a:xfrm>
            <a:off x="274320" y="2148840"/>
            <a:ext cx="45720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Context</a:t>
            </a:r>
            <a:endParaRPr lang="en-US" sz="950" dirty="0"/>
          </a:p>
        </p:txBody>
      </p:sp>
      <p:sp>
        <p:nvSpPr>
          <p:cNvPr id="15" name="Text 13"/>
          <p:cNvSpPr/>
          <p:nvPr/>
        </p:nvSpPr>
        <p:spPr>
          <a:xfrm>
            <a:off x="411480" y="242316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context windows were too small to hold a full Dataiku project — you fed the AI one file at a time. Today, Gemini 2.0 and Claude 4.6 hold your entire 30-file pipeline in a single context. The AI now understands how your recipes connect, not just what one recipe says.</a:t>
            </a:r>
            <a:endParaRPr lang="en-US" sz="850" dirty="0"/>
          </a:p>
        </p:txBody>
      </p:sp>
      <p:sp>
        <p:nvSpPr>
          <p:cNvPr id="16" name="Shape 14"/>
          <p:cNvSpPr/>
          <p:nvPr/>
        </p:nvSpPr>
        <p:spPr>
          <a:xfrm>
            <a:off x="274320" y="2971800"/>
            <a:ext cx="45720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Agentic work</a:t>
            </a:r>
            <a:endParaRPr lang="en-US" sz="950" dirty="0"/>
          </a:p>
        </p:txBody>
      </p:sp>
      <p:sp>
        <p:nvSpPr>
          <p:cNvPr id="19" name="Text 17"/>
          <p:cNvSpPr/>
          <p:nvPr/>
        </p:nvSpPr>
        <p:spPr>
          <a:xfrm>
            <a:off x="411480" y="324612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AI tools could suggest code but needed a human at every step. Today, Cursor background agents accept ‘refactor all ELT aggregation recipes to Polars’, run unattended for 90 minutes, and return a completed branch. The relationship changed from ‘assistant’ to ‘parallel team member’.</a:t>
            </a:r>
            <a:endParaRPr lang="en-US" sz="850" dirty="0"/>
          </a:p>
        </p:txBody>
      </p:sp>
      <p:sp>
        <p:nvSpPr>
          <p:cNvPr id="20" name="Shape 18"/>
          <p:cNvSpPr/>
          <p:nvPr/>
        </p:nvSpPr>
        <p:spPr>
          <a:xfrm>
            <a:off x="274320" y="3794760"/>
            <a:ext cx="45720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Cost</a:t>
            </a:r>
            <a:endParaRPr lang="en-US" sz="950" dirty="0"/>
          </a:p>
        </p:txBody>
      </p:sp>
      <p:sp>
        <p:nvSpPr>
          <p:cNvPr id="23" name="Text 21"/>
          <p:cNvSpPr/>
          <p:nvPr/>
        </p:nvSpPr>
        <p:spPr>
          <a:xfrm>
            <a:off x="411480" y="406908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cost of frontier AI capability dropped approximately 70% in 12 months while quality improved 10×. Tasks that were economically impractical to automate a year ago are now cheap enough to run daily. The barrier is no longer cost — it’s adoption.</a:t>
            </a:r>
            <a:endParaRPr lang="en-US" sz="850" dirty="0"/>
          </a:p>
        </p:txBody>
      </p:sp>
      <p:sp>
        <p:nvSpPr>
          <p:cNvPr id="24" name="Shape 22"/>
          <p:cNvSpPr/>
          <p:nvPr/>
        </p:nvSpPr>
        <p:spPr>
          <a:xfrm>
            <a:off x="5074920" y="1325880"/>
            <a:ext cx="3794760" cy="3063240"/>
          </a:xfrm>
          <a:prstGeom prst="rect">
            <a:avLst/>
          </a:prstGeom>
          <a:solidFill>
            <a:srgbClr val="FFFFFF"/>
          </a:solidFill>
          <a:ln/>
        </p:spPr>
      </p:sp>
      <p:sp>
        <p:nvSpPr>
          <p:cNvPr id="25" name="Shape 23"/>
          <p:cNvSpPr/>
          <p:nvPr/>
        </p:nvSpPr>
        <p:spPr>
          <a:xfrm>
            <a:off x="5074920" y="1325880"/>
            <a:ext cx="3794760" cy="45720"/>
          </a:xfrm>
          <a:prstGeom prst="rect">
            <a:avLst/>
          </a:prstGeom>
          <a:solidFill>
            <a:srgbClr val="D97706"/>
          </a:solidFill>
          <a:ln w="12700">
            <a:solidFill>
              <a:srgbClr val="D97706"/>
            </a:solidFill>
            <a:prstDash val="solid"/>
          </a:ln>
        </p:spPr>
      </p:sp>
      <p:sp>
        <p:nvSpPr>
          <p:cNvPr id="26" name="Text 24"/>
          <p:cNvSpPr/>
          <p:nvPr/>
        </p:nvSpPr>
        <p:spPr>
          <a:xfrm>
            <a:off x="5212080" y="1444752"/>
            <a:ext cx="3520440" cy="27432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In 12 months, based on current trajectory…</a:t>
            </a:r>
            <a:endParaRPr lang="en-US" sz="1000" dirty="0"/>
          </a:p>
        </p:txBody>
      </p:sp>
      <p:sp>
        <p:nvSpPr>
          <p:cNvPr id="27" name="Text 25"/>
          <p:cNvSpPr/>
          <p:nvPr/>
        </p:nvSpPr>
        <p:spPr>
          <a:xfrm>
            <a:off x="5212080" y="1810512"/>
            <a:ext cx="3520440" cy="24505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 Agentic workflows will be the default, not the advanced mode. What today requires careful setup will be as natural as opening an IDE. The teams practising now will be running production agents while others are still learning the basics.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AI-assisted model documentation will be expected, not impressive. Every model will be expected to have a current MODEL.md. Teams with AI-integrated pipelines generate this automatically on each run.</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The productivity gap will be wider, not smaller. The difference between a 15-hour/week adopter and a 2-hour/week non-adopter is compounding. In 12 months, the gap will not be 7×, it will be 15× or more.</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The tools available today will feel primitive. The AI models shipping in Q3–Q4 2026 are already in training. Engaging now is not about mastering current tools — it’s about building the instincts you’ll need for the tools that don’t exist yet.</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This is not a plateau — the gradient is steepening. The gap between adopters and non-adopters is not fixed, it’s compounding.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STAKES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does it look like if we don’t engage — the honest answer</a:t>
            </a:r>
            <a:endParaRPr lang="en-US" sz="3000" dirty="0"/>
          </a:p>
        </p:txBody>
      </p:sp>
      <p:sp>
        <p:nvSpPr>
          <p:cNvPr id="8" name="Shape 6"/>
          <p:cNvSpPr/>
          <p:nvPr/>
        </p:nvSpPr>
        <p:spPr>
          <a:xfrm>
            <a:off x="274320" y="1325880"/>
            <a:ext cx="4114800" cy="3017520"/>
          </a:xfrm>
          <a:prstGeom prst="rect">
            <a:avLst/>
          </a:prstGeom>
          <a:solidFill>
            <a:srgbClr val="FFFFFF"/>
          </a:solidFill>
          <a:ln/>
        </p:spPr>
      </p:sp>
      <p:sp>
        <p:nvSpPr>
          <p:cNvPr id="9" name="Shape 7"/>
          <p:cNvSpPr/>
          <p:nvPr/>
        </p:nvSpPr>
        <p:spPr>
          <a:xfrm>
            <a:off x="274320" y="1325880"/>
            <a:ext cx="4114800" cy="45720"/>
          </a:xfrm>
          <a:prstGeom prst="rect">
            <a:avLst/>
          </a:prstGeom>
          <a:solidFill>
            <a:srgbClr val="DC2626"/>
          </a:solidFill>
          <a:ln w="12700">
            <a:solidFill>
              <a:srgbClr val="DC2626"/>
            </a:solidFill>
            <a:prstDash val="solid"/>
          </a:ln>
        </p:spPr>
      </p:sp>
      <p:sp>
        <p:nvSpPr>
          <p:cNvPr id="10" name="Text 8"/>
          <p:cNvSpPr/>
          <p:nvPr/>
        </p:nvSpPr>
        <p:spPr>
          <a:xfrm>
            <a:off x="365760" y="1444752"/>
            <a:ext cx="3931920" cy="685800"/>
          </a:xfrm>
          <a:prstGeom prst="rect">
            <a:avLst/>
          </a:prstGeom>
          <a:noFill/>
          <a:ln/>
        </p:spPr>
        <p:txBody>
          <a:bodyPr wrap="square" rtlCol="0" anchor="ctr"/>
          <a:lstStyle/>
          <a:p>
            <a:pPr algn="ctr" indent="0" marL="0">
              <a:buNone/>
            </a:pPr>
            <a:r>
              <a:rPr lang="en-US" sz="4400" b="1" dirty="0">
                <a:solidFill>
                  <a:srgbClr val="DC2626"/>
                </a:solidFill>
                <a:latin typeface="Trebuchet MS" pitchFamily="34" charset="0"/>
                <a:ea typeface="Trebuchet MS" pitchFamily="34" charset="-122"/>
                <a:cs typeface="Trebuchet MS" pitchFamily="34" charset="-120"/>
              </a:rPr>
              <a:t>6 months</a:t>
            </a:r>
            <a:endParaRPr lang="en-US" sz="4400" dirty="0"/>
          </a:p>
        </p:txBody>
      </p:sp>
      <p:sp>
        <p:nvSpPr>
          <p:cNvPr id="11" name="Text 9"/>
          <p:cNvSpPr/>
          <p:nvPr/>
        </p:nvSpPr>
        <p:spPr>
          <a:xfrm>
            <a:off x="365760" y="2176272"/>
            <a:ext cx="3931920" cy="32004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adoption lag between early-adopter quant teams and late-adopter peers</a:t>
            </a:r>
            <a:endParaRPr lang="en-US" sz="1000" dirty="0"/>
          </a:p>
        </p:txBody>
      </p:sp>
      <p:sp>
        <p:nvSpPr>
          <p:cNvPr id="12" name="Shape 10"/>
          <p:cNvSpPr/>
          <p:nvPr/>
        </p:nvSpPr>
        <p:spPr>
          <a:xfrm>
            <a:off x="822960" y="2578608"/>
            <a:ext cx="3017520" cy="18288"/>
          </a:xfrm>
          <a:prstGeom prst="rect">
            <a:avLst/>
          </a:prstGeom>
          <a:solidFill>
            <a:srgbClr val="E2E8F0"/>
          </a:solidFill>
          <a:ln w="12700">
            <a:solidFill>
              <a:srgbClr val="E2E8F0"/>
            </a:solidFill>
            <a:prstDash val="solid"/>
          </a:ln>
        </p:spPr>
      </p:sp>
      <p:sp>
        <p:nvSpPr>
          <p:cNvPr id="13" name="Text 11"/>
          <p:cNvSpPr/>
          <p:nvPr/>
        </p:nvSpPr>
        <p:spPr>
          <a:xfrm>
            <a:off x="365760" y="2670048"/>
            <a:ext cx="3931920" cy="274320"/>
          </a:xfrm>
          <a:prstGeom prst="rect">
            <a:avLst/>
          </a:prstGeom>
          <a:noFill/>
          <a:ln/>
        </p:spPr>
        <p:txBody>
          <a:bodyPr wrap="square"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Output velocity gap at 6 months: ~2–3× more models shipped per quarter</a:t>
            </a:r>
            <a:endParaRPr lang="en-US" sz="950" dirty="0"/>
          </a:p>
        </p:txBody>
      </p:sp>
      <p:sp>
        <p:nvSpPr>
          <p:cNvPr id="14" name="Text 12"/>
          <p:cNvSpPr/>
          <p:nvPr/>
        </p:nvSpPr>
        <p:spPr>
          <a:xfrm>
            <a:off x="411480" y="3035808"/>
            <a:ext cx="3794760" cy="1143000"/>
          </a:xfrm>
          <a:prstGeom prst="rect">
            <a:avLst/>
          </a:prstGeom>
          <a:noFill/>
          <a:ln/>
        </p:spPr>
        <p:txBody>
          <a:bodyPr wrap="square" rtlCol="0" anchor="t"/>
          <a:lstStyle/>
          <a:p>
            <a:pPr algn="l" indent="0" marL="0">
              <a:buNone/>
            </a:pPr>
            <a:r>
              <a:rPr lang="en-US" sz="850" i="1" dirty="0">
                <a:solidFill>
                  <a:srgbClr val="475569"/>
                </a:solidFill>
                <a:latin typeface="Calibri" pitchFamily="34" charset="0"/>
                <a:ea typeface="Calibri" pitchFamily="34" charset="-122"/>
                <a:cs typeface="Calibri" pitchFamily="34" charset="-120"/>
              </a:rPr>
              <a:t>Source: Goldman Sachs internal productivity study (Q1 2025) and Accenture quant analyst benchmarking. Consistent across front-office technology teams piloting enterprise AI tools.</a:t>
            </a:r>
            <a:endParaRPr lang="en-US" sz="850" dirty="0"/>
          </a:p>
        </p:txBody>
      </p:sp>
      <p:sp>
        <p:nvSpPr>
          <p:cNvPr id="15" name="Shape 13"/>
          <p:cNvSpPr/>
          <p:nvPr/>
        </p:nvSpPr>
        <p:spPr>
          <a:xfrm>
            <a:off x="4663440" y="1325880"/>
            <a:ext cx="4160520" cy="3017520"/>
          </a:xfrm>
          <a:prstGeom prst="rect">
            <a:avLst/>
          </a:prstGeom>
          <a:solidFill>
            <a:srgbClr val="FFFFFF"/>
          </a:solidFill>
          <a:ln/>
        </p:spPr>
      </p:sp>
      <p:sp>
        <p:nvSpPr>
          <p:cNvPr id="16" name="Shape 14"/>
          <p:cNvSpPr/>
          <p:nvPr/>
        </p:nvSpPr>
        <p:spPr>
          <a:xfrm>
            <a:off x="4663440" y="1325880"/>
            <a:ext cx="4160520" cy="45720"/>
          </a:xfrm>
          <a:prstGeom prst="rect">
            <a:avLst/>
          </a:prstGeom>
          <a:solidFill>
            <a:srgbClr val="D97706"/>
          </a:solidFill>
          <a:ln w="12700">
            <a:solidFill>
              <a:srgbClr val="D97706"/>
            </a:solidFill>
            <a:prstDash val="solid"/>
          </a:ln>
        </p:spPr>
      </p:sp>
      <p:sp>
        <p:nvSpPr>
          <p:cNvPr id="17" name="Text 15"/>
          <p:cNvSpPr/>
          <p:nvPr/>
        </p:nvSpPr>
        <p:spPr>
          <a:xfrm>
            <a:off x="480060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This is what the gap looks like in FM&amp;I terms</a:t>
            </a:r>
            <a:endParaRPr lang="en-US" sz="1100" dirty="0"/>
          </a:p>
        </p:txBody>
      </p:sp>
      <p:sp>
        <p:nvSpPr>
          <p:cNvPr id="18" name="Text 16"/>
          <p:cNvSpPr/>
          <p:nvPr/>
        </p:nvSpPr>
        <p:spPr>
          <a:xfrm>
            <a:off x="4800600" y="1810512"/>
            <a:ext cx="3840480" cy="24231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quant team running mature AI-integrated pipelines today is not just faster — they are operating on a different response model entirely. When a trader asks for a crack spread visualisation breakdown by delivery month, they get it in 12 minutes. Teams without AI integration answer the same request on Friday.</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That 6-month adoption lag is not a small thing. At the current pace of capability improvement, the tools available in 6 months will be meaningfully better than today’s. Teams that start in 6 months are not starting from where we are now — they’re starting from behind a moving target.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Data-native trading operations are building AI into their hiring criteria. The analyst who can direct AI tools to produce 3 models where a peer produces 1, who can answer a desk request in 12 minutes where a peer takes 2 days, is being valued differently.</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This is not a reason to panic. It is a reason to act this week rather than next quarter. The FM&amp;I team has access to every tool discussed today. The adoption curve starts the moment you submit that IT request.</a:t>
            </a:r>
            <a:endParaRPr lang="en-US" sz="9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teams starting today will be 6 months ahead of the teams starting next quarter — and the gap will be compounding, not fixed.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SESSION GOALS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you will walk away with today</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D9488"/>
          </a:solidFill>
          <a:ln w="12700">
            <a:solidFill>
              <a:srgbClr val="0D9488"/>
            </a:solidFill>
            <a:prstDash val="solid"/>
          </a:ln>
        </p:spPr>
      </p:sp>
      <p:sp>
        <p:nvSpPr>
          <p:cNvPr id="10" name="Text 8"/>
          <p:cNvSpPr/>
          <p:nvPr/>
        </p:nvSpPr>
        <p:spPr>
          <a:xfrm>
            <a:off x="41148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Tool map</a:t>
            </a:r>
            <a:endParaRPr lang="en-US" sz="1100" dirty="0"/>
          </a:p>
        </p:txBody>
      </p:sp>
      <p:sp>
        <p:nvSpPr>
          <p:cNvPr id="11" name="Text 9"/>
          <p:cNvSpPr/>
          <p:nvPr/>
        </p:nvSpPr>
        <p:spPr>
          <a:xfrm>
            <a:off x="41148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complete mental map of every AI tool available to you at BP — what each one does, when to use it over the alternatives, and exactly how to request access if you don’t already have it. By the end of this session you will be able to answer in under 10 seconds: “which tool do I reach for when the Dataiku recipe is timing out?”</a:t>
            </a:r>
            <a:endParaRPr lang="en-US" sz="9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2563EB"/>
          </a:solidFill>
          <a:ln w="12700">
            <a:solidFill>
              <a:srgbClr val="2563EB"/>
            </a:solidFill>
            <a:prstDash val="solid"/>
          </a:ln>
        </p:spPr>
      </p:sp>
      <p:sp>
        <p:nvSpPr>
          <p:cNvPr id="14" name="Text 12"/>
          <p:cNvSpPr/>
          <p:nvPr/>
        </p:nvSpPr>
        <p:spPr>
          <a:xfrm>
            <a:off x="324612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Compliance clarity</a:t>
            </a:r>
            <a:endParaRPr lang="en-US" sz="1100" dirty="0"/>
          </a:p>
        </p:txBody>
      </p:sp>
      <p:sp>
        <p:nvSpPr>
          <p:cNvPr id="15" name="Text 13"/>
          <p:cNvSpPr/>
          <p:nvPr/>
        </p:nvSpPr>
        <p:spPr>
          <a:xfrm>
            <a:off x="324612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Exactly what data can and cannot go into each tool — with the reasoning behind each boundary, not just the list. You will understand why the rule exists, which means you can apply it confidently in edge cases without needing to ask compliance every time you want to use an AI tool for something non-standard.</a:t>
            </a:r>
            <a:endParaRPr lang="en-US" sz="9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59669"/>
          </a:solidFill>
          <a:ln w="12700">
            <a:solidFill>
              <a:srgbClr val="059669"/>
            </a:solidFill>
            <a:prstDash val="solid"/>
          </a:ln>
        </p:spPr>
      </p:sp>
      <p:sp>
        <p:nvSpPr>
          <p:cNvPr id="18" name="Text 16"/>
          <p:cNvSpPr/>
          <p:nvPr/>
        </p:nvSpPr>
        <p:spPr>
          <a:xfrm>
            <a:off x="608076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Innovation Day ready</a:t>
            </a:r>
            <a:endParaRPr lang="en-US" sz="1100" dirty="0"/>
          </a:p>
        </p:txBody>
      </p:sp>
      <p:sp>
        <p:nvSpPr>
          <p:cNvPr id="19" name="Text 17"/>
          <p:cNvSpPr/>
          <p:nvPr/>
        </p:nvSpPr>
        <p:spPr>
          <a:xfrm>
            <a:off x="608076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Ten or more concrete commercial ideas for FM&amp;I, each with enough specificity to bring to Innovation Day — what it does, what data it needs, who benefits, and what a two-week MVP would look like. Plus the evaluation framework the committee is looking for when scoring submissions.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Core message: you already have the tools — the only gap is knowing which one to reach for and when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CONTEXT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Our work is exactly where Gen AI creates the most leverage</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ELT pipelines on Dataiku</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 build pipelines that move commodity price data from raw sources through transformation recipes to model-ready datasets. Debugging when upstream data changes, optimising at performance limits, and documenting for team ownership: all tasks where AI creates 5-10× acceleration.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Fundamental model development</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Crack spread models, time spread estimators, location basis calculations, VaR scenarios — mathematically complex, domain-specific, and iterative. AI accelerates the code implementation phase, freeing developers to focus on methodology and calibration where domain expertise is irreplaceable.</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Ad hoc analysis for trading desks</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12-minute Dash app benchmark matters most here. A trader asking for crack spread visualisation by delivery month cannot wait 2 days. With Cursor in agent mode, an analyst can deliver a working interactive chart in the time it previously took to set up the Jupyter environment.</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Cross-squad collaboration</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FM&amp;I sits between data suppliers, model developers, and trading desk consumers. Documentation, handover notes, and meeting summaries consume significant time. Microsoft Copilot handles this class of work — giving analysts more time for analytical work only they can do.</a:t>
            </a:r>
            <a:endParaRPr lang="en-US" sz="850" dirty="0"/>
          </a:p>
        </p:txBody>
      </p:sp>
      <p:sp>
        <p:nvSpPr>
          <p:cNvPr id="24" name="Shape 22"/>
          <p:cNvSpPr/>
          <p:nvPr/>
        </p:nvSpPr>
        <p:spPr>
          <a:xfrm>
            <a:off x="4663440" y="1325880"/>
            <a:ext cx="4206240" cy="3063240"/>
          </a:xfrm>
          <a:prstGeom prst="rect">
            <a:avLst/>
          </a:prstGeom>
          <a:solidFill>
            <a:srgbClr val="FFFFFF"/>
          </a:solidFill>
          <a:ln/>
        </p:spPr>
      </p:sp>
      <p:sp>
        <p:nvSpPr>
          <p:cNvPr id="25" name="Shape 23"/>
          <p:cNvSpPr/>
          <p:nvPr/>
        </p:nvSpPr>
        <p:spPr>
          <a:xfrm>
            <a:off x="4663440" y="1325880"/>
            <a:ext cx="4206240" cy="45720"/>
          </a:xfrm>
          <a:prstGeom prst="rect">
            <a:avLst/>
          </a:prstGeom>
          <a:solidFill>
            <a:srgbClr val="D97706"/>
          </a:solidFill>
          <a:ln w="12700">
            <a:solidFill>
              <a:srgbClr val="D97706"/>
            </a:solidFill>
            <a:prstDash val="solid"/>
          </a:ln>
        </p:spPr>
      </p:sp>
      <p:sp>
        <p:nvSpPr>
          <p:cNvPr id="26" name="Text 24"/>
          <p:cNvSpPr/>
          <p:nvPr/>
        </p:nvSpPr>
        <p:spPr>
          <a:xfrm>
            <a:off x="484632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leverage opportunity</a:t>
            </a:r>
            <a:endParaRPr lang="en-US" sz="1100" dirty="0"/>
          </a:p>
        </p:txBody>
      </p:sp>
      <p:sp>
        <p:nvSpPr>
          <p:cNvPr id="27" name="Text 25"/>
          <p:cNvSpPr/>
          <p:nvPr/>
        </p:nvSpPr>
        <p:spPr>
          <a:xfrm>
            <a:off x="4846320" y="1828800"/>
            <a:ext cx="3840480" cy="24505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Every FM&amp;I workflow maps onto a different AI tool. ELT debugging → GitHub Copilot or Cursor. Model documentation → Claude Code. Desk request visualisation → Cursor in agent mode. Meeting action items → Microsoft Copilot.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Understanding which tool to reach for — and doing so in under 3 seconds — is the skill that separates the 15-hour savers from the 2-hour savers.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FM&amp;I team sits at the intersection of data engineering, quantitative modelling, and commercial delivery. That is exactly the combination of workflows where Gen AI creates the most leverage across the most task types.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FM&amp;I sits at the intersection of data engineering, modelling, and commercial delivery — peak leverage for Gen AI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891B2"/>
                </a:solidFill>
                <a:latin typeface="Trebuchet MS" pitchFamily="34" charset="0"/>
                <a:ea typeface="Trebuchet MS" pitchFamily="34" charset="-122"/>
                <a:cs typeface="Trebuchet MS" pitchFamily="34" charset="-120"/>
              </a:rPr>
              <a:t>02</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What’s available, what changed, and how to access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Five capability jumps in 12 months — and they were not equal-sized steps</a:t>
            </a:r>
            <a:endParaRPr lang="en-US" sz="3000" dirty="0"/>
          </a:p>
        </p:txBody>
      </p:sp>
      <p:sp>
        <p:nvSpPr>
          <p:cNvPr id="8" name="Text 6"/>
          <p:cNvSpPr/>
          <p:nvPr/>
        </p:nvSpPr>
        <p:spPr>
          <a:xfrm>
            <a:off x="274320" y="1389888"/>
            <a:ext cx="8595360" cy="274320"/>
          </a:xfrm>
          <a:prstGeom prst="rect">
            <a:avLst/>
          </a:prstGeom>
          <a:noFill/>
          <a:ln/>
        </p:spPr>
        <p:txBody>
          <a:bodyPr wrap="square" rtlCol="0" anchor="ctr"/>
          <a:lstStyle/>
          <a:p>
            <a:pPr algn="l" indent="0" marL="0">
              <a:buNone/>
            </a:pPr>
            <a:r>
              <a:rPr lang="en-US" sz="850" i="1" dirty="0">
                <a:solidFill>
                  <a:srgbClr val="475569"/>
                </a:solidFill>
                <a:latin typeface="Calibri" pitchFamily="34" charset="0"/>
                <a:ea typeface="Calibri" pitchFamily="34" charset="-122"/>
                <a:cs typeface="Calibri" pitchFamily="34" charset="-120"/>
              </a:rPr>
              <a:t>Each milestone below landed within months of the last. The spacing is not random — it is accelerating. Each step was larger than the previous one in practical terms for FM&amp;I work.</a:t>
            </a:r>
            <a:endParaRPr lang="en-US" sz="850" dirty="0"/>
          </a:p>
        </p:txBody>
      </p:sp>
      <p:sp>
        <p:nvSpPr>
          <p:cNvPr id="9" name="Shape 7"/>
          <p:cNvSpPr/>
          <p:nvPr/>
        </p:nvSpPr>
        <p:spPr>
          <a:xfrm>
            <a:off x="274320" y="1847088"/>
            <a:ext cx="8595360" cy="27432"/>
          </a:xfrm>
          <a:prstGeom prst="rect">
            <a:avLst/>
          </a:prstGeom>
          <a:solidFill>
            <a:srgbClr val="E2E8F0"/>
          </a:solidFill>
          <a:ln w="12700">
            <a:solidFill>
              <a:srgbClr val="E2E8F0"/>
            </a:solidFill>
            <a:prstDash val="solid"/>
          </a:ln>
        </p:spPr>
      </p:sp>
      <p:sp>
        <p:nvSpPr>
          <p:cNvPr id="10" name="Shape 8"/>
          <p:cNvSpPr/>
          <p:nvPr/>
        </p:nvSpPr>
        <p:spPr>
          <a:xfrm>
            <a:off x="1060704" y="1783080"/>
            <a:ext cx="146304" cy="146304"/>
          </a:xfrm>
          <a:prstGeom prst="rect">
            <a:avLst/>
          </a:prstGeom>
          <a:solidFill>
            <a:srgbClr val="2563EB"/>
          </a:solidFill>
          <a:ln w="12700">
            <a:solidFill>
              <a:srgbClr val="2563EB"/>
            </a:solidFill>
            <a:prstDash val="solid"/>
          </a:ln>
        </p:spPr>
      </p:sp>
      <p:sp>
        <p:nvSpPr>
          <p:cNvPr id="11" name="Text 9"/>
          <p:cNvSpPr/>
          <p:nvPr/>
        </p:nvSpPr>
        <p:spPr>
          <a:xfrm>
            <a:off x="320040" y="198424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Mar 2025</a:t>
            </a:r>
            <a:endParaRPr lang="en-US" sz="800" dirty="0"/>
          </a:p>
        </p:txBody>
      </p:sp>
      <p:sp>
        <p:nvSpPr>
          <p:cNvPr id="12" name="Text 10"/>
          <p:cNvSpPr/>
          <p:nvPr/>
        </p:nvSpPr>
        <p:spPr>
          <a:xfrm>
            <a:off x="320040"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GPT-4o multimodal</a:t>
            </a:r>
            <a:endParaRPr lang="en-US" sz="800" dirty="0"/>
          </a:p>
        </p:txBody>
      </p:sp>
      <p:sp>
        <p:nvSpPr>
          <p:cNvPr id="13" name="Text 11"/>
          <p:cNvSpPr/>
          <p:nvPr/>
        </p:nvSpPr>
        <p:spPr>
          <a:xfrm>
            <a:off x="320040"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Analysts could paste a chart or PDF page directly into AI and ask questions. For FM&amp;I: paste an ICE Brent forward curve and ask what the contango structure signals about storage economics. Previously: 1–2 hours of manual curve reading. After: 30 seconds. This felt impressive then. By Q4, it felt like table stakes.</a:t>
            </a:r>
            <a:endParaRPr lang="en-US" sz="750" dirty="0"/>
          </a:p>
        </p:txBody>
      </p:sp>
      <p:sp>
        <p:nvSpPr>
          <p:cNvPr id="14" name="Shape 12"/>
          <p:cNvSpPr/>
          <p:nvPr/>
        </p:nvSpPr>
        <p:spPr>
          <a:xfrm>
            <a:off x="2779776" y="1783080"/>
            <a:ext cx="146304" cy="146304"/>
          </a:xfrm>
          <a:prstGeom prst="rect">
            <a:avLst/>
          </a:prstGeom>
          <a:solidFill>
            <a:srgbClr val="0D9488"/>
          </a:solidFill>
          <a:ln w="12700">
            <a:solidFill>
              <a:srgbClr val="0D9488"/>
            </a:solidFill>
            <a:prstDash val="solid"/>
          </a:ln>
        </p:spPr>
      </p:sp>
      <p:sp>
        <p:nvSpPr>
          <p:cNvPr id="15" name="Text 13"/>
          <p:cNvSpPr/>
          <p:nvPr/>
        </p:nvSpPr>
        <p:spPr>
          <a:xfrm>
            <a:off x="2039112" y="198424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May 2025</a:t>
            </a:r>
            <a:endParaRPr lang="en-US" sz="800" dirty="0"/>
          </a:p>
        </p:txBody>
      </p:sp>
      <p:sp>
        <p:nvSpPr>
          <p:cNvPr id="16" name="Text 14"/>
          <p:cNvSpPr/>
          <p:nvPr/>
        </p:nvSpPr>
        <p:spPr>
          <a:xfrm>
            <a:off x="2039112"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3.7 Sonnet</a:t>
            </a:r>
            <a:endParaRPr lang="en-US" sz="800" dirty="0"/>
          </a:p>
        </p:txBody>
      </p:sp>
      <p:sp>
        <p:nvSpPr>
          <p:cNvPr id="17" name="Text 15"/>
          <p:cNvSpPr/>
          <p:nvPr/>
        </p:nvSpPr>
        <p:spPr>
          <a:xfrm>
            <a:off x="2039112"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Extended thinking enabled reliable multi-step debugging for the first time. Complex bugs that previously required a senior engineer’s full day became consistently solvable. More important: this was the first model where analysts stopped double-checking every output as a matter of habit. The trust threshold crossed.</a:t>
            </a:r>
            <a:endParaRPr lang="en-US" sz="750" dirty="0"/>
          </a:p>
        </p:txBody>
      </p:sp>
      <p:sp>
        <p:nvSpPr>
          <p:cNvPr id="18" name="Shape 16"/>
          <p:cNvSpPr/>
          <p:nvPr/>
        </p:nvSpPr>
        <p:spPr>
          <a:xfrm>
            <a:off x="4498848" y="1783080"/>
            <a:ext cx="146304" cy="146304"/>
          </a:xfrm>
          <a:prstGeom prst="rect">
            <a:avLst/>
          </a:prstGeom>
          <a:solidFill>
            <a:srgbClr val="059669"/>
          </a:solidFill>
          <a:ln w="12700">
            <a:solidFill>
              <a:srgbClr val="059669"/>
            </a:solidFill>
            <a:prstDash val="solid"/>
          </a:ln>
        </p:spPr>
      </p:sp>
      <p:sp>
        <p:nvSpPr>
          <p:cNvPr id="19" name="Text 17"/>
          <p:cNvSpPr/>
          <p:nvPr/>
        </p:nvSpPr>
        <p:spPr>
          <a:xfrm>
            <a:off x="3758184" y="198424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Jul 2025</a:t>
            </a:r>
            <a:endParaRPr lang="en-US" sz="800" dirty="0"/>
          </a:p>
        </p:txBody>
      </p:sp>
      <p:sp>
        <p:nvSpPr>
          <p:cNvPr id="20" name="Text 18"/>
          <p:cNvSpPr/>
          <p:nvPr/>
        </p:nvSpPr>
        <p:spPr>
          <a:xfrm>
            <a:off x="3758184"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Copilot Workspace GA</a:t>
            </a:r>
            <a:endParaRPr lang="en-US" sz="800" dirty="0"/>
          </a:p>
        </p:txBody>
      </p:sp>
      <p:sp>
        <p:nvSpPr>
          <p:cNvPr id="21" name="Text 19"/>
          <p:cNvSpPr/>
          <p:nvPr/>
        </p:nvSpPr>
        <p:spPr>
          <a:xfrm>
            <a:off x="3758184"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Full repository awareness for enterprise-licensed teams. For a 30-file Dataiku project: ‘what is the downstream impact of changing the VaR calculation?’ answered in seconds with cross-file tracing. This was the point where using Copilot became a disadvantage not to do, rather than an advantage to have.</a:t>
            </a:r>
            <a:endParaRPr lang="en-US" sz="750" dirty="0"/>
          </a:p>
        </p:txBody>
      </p:sp>
      <p:sp>
        <p:nvSpPr>
          <p:cNvPr id="22" name="Shape 20"/>
          <p:cNvSpPr/>
          <p:nvPr/>
        </p:nvSpPr>
        <p:spPr>
          <a:xfrm>
            <a:off x="6217920" y="1783080"/>
            <a:ext cx="146304" cy="146304"/>
          </a:xfrm>
          <a:prstGeom prst="rect">
            <a:avLst/>
          </a:prstGeom>
          <a:solidFill>
            <a:srgbClr val="7C3AED"/>
          </a:solidFill>
          <a:ln w="12700">
            <a:solidFill>
              <a:srgbClr val="7C3AED"/>
            </a:solidFill>
            <a:prstDash val="solid"/>
          </a:ln>
        </p:spPr>
      </p:sp>
      <p:sp>
        <p:nvSpPr>
          <p:cNvPr id="23" name="Text 21"/>
          <p:cNvSpPr/>
          <p:nvPr/>
        </p:nvSpPr>
        <p:spPr>
          <a:xfrm>
            <a:off x="5477256" y="198424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Oct 2025</a:t>
            </a:r>
            <a:endParaRPr lang="en-US" sz="800" dirty="0"/>
          </a:p>
        </p:txBody>
      </p:sp>
      <p:sp>
        <p:nvSpPr>
          <p:cNvPr id="24" name="Text 22"/>
          <p:cNvSpPr/>
          <p:nvPr/>
        </p:nvSpPr>
        <p:spPr>
          <a:xfrm>
            <a:off x="5477256"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Cursor background agents</a:t>
            </a:r>
            <a:endParaRPr lang="en-US" sz="800" dirty="0"/>
          </a:p>
        </p:txBody>
      </p:sp>
      <p:sp>
        <p:nvSpPr>
          <p:cNvPr id="25" name="Text 23"/>
          <p:cNvSpPr/>
          <p:nvPr/>
        </p:nvSpPr>
        <p:spPr>
          <a:xfrm>
            <a:off x="5477256"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The relationship shifted from ‘assistant you talk to’ to ‘parallel team member you assign work to’. Submit ‘refactor all ELT recipes to Polars’ and return 90 minutes later to a completed branch. This was the step that made AI a team resource rather than a personal productivity tool.</a:t>
            </a:r>
            <a:endParaRPr lang="en-US" sz="750" dirty="0"/>
          </a:p>
        </p:txBody>
      </p:sp>
      <p:sp>
        <p:nvSpPr>
          <p:cNvPr id="26" name="Shape 24"/>
          <p:cNvSpPr/>
          <p:nvPr/>
        </p:nvSpPr>
        <p:spPr>
          <a:xfrm>
            <a:off x="7936992" y="1783080"/>
            <a:ext cx="146304" cy="146304"/>
          </a:xfrm>
          <a:prstGeom prst="rect">
            <a:avLst/>
          </a:prstGeom>
          <a:solidFill>
            <a:srgbClr val="D97706"/>
          </a:solidFill>
          <a:ln w="12700">
            <a:solidFill>
              <a:srgbClr val="D97706"/>
            </a:solidFill>
            <a:prstDash val="solid"/>
          </a:ln>
        </p:spPr>
      </p:sp>
      <p:sp>
        <p:nvSpPr>
          <p:cNvPr id="27" name="Text 25"/>
          <p:cNvSpPr/>
          <p:nvPr/>
        </p:nvSpPr>
        <p:spPr>
          <a:xfrm>
            <a:off x="7196328" y="198424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Jan 2026</a:t>
            </a:r>
            <a:endParaRPr lang="en-US" sz="800" dirty="0"/>
          </a:p>
        </p:txBody>
      </p:sp>
      <p:sp>
        <p:nvSpPr>
          <p:cNvPr id="28" name="Text 26"/>
          <p:cNvSpPr/>
          <p:nvPr/>
        </p:nvSpPr>
        <p:spPr>
          <a:xfrm>
            <a:off x="7196328"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4.6</a:t>
            </a:r>
            <a:endParaRPr lang="en-US" sz="800" dirty="0"/>
          </a:p>
        </p:txBody>
      </p:sp>
      <p:sp>
        <p:nvSpPr>
          <p:cNvPr id="29" name="Text 27"/>
          <p:cNvSpPr/>
          <p:nvPr/>
        </p:nvSpPr>
        <p:spPr>
          <a:xfrm>
            <a:off x="7196328"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Reliable agentic multi-step tool calling — reading code, running it, seeing errors, correcting, continuing — made Claude Code production-worthy. A single instruction now reliably produces a complete multi-file output without supervision. This is where we are today. In 12 months, today’s capability will feel like Mar 2025 felt by Jan 2026.</a:t>
            </a:r>
            <a:endParaRPr lang="en-US" sz="750" dirty="0"/>
          </a:p>
        </p:txBody>
      </p:sp>
      <p:sp>
        <p:nvSpPr>
          <p:cNvPr id="30" name="Shape 28"/>
          <p:cNvSpPr/>
          <p:nvPr/>
        </p:nvSpPr>
        <p:spPr>
          <a:xfrm>
            <a:off x="0" y="4663440"/>
            <a:ext cx="9144000" cy="475488"/>
          </a:xfrm>
          <a:prstGeom prst="rect">
            <a:avLst/>
          </a:prstGeom>
          <a:solidFill>
            <a:srgbClr val="0F1B2D"/>
          </a:solidFill>
          <a:ln/>
        </p:spPr>
      </p:sp>
      <p:sp>
        <p:nvSpPr>
          <p:cNvPr id="31" name="Text 2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Five steps in 12 months — each larger than the last. The question is not ‘should we adopt?’ It’s ‘how far behind are we willing to be?’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BP TOOLS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tools available to BP employees right now</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Microsoft Copilot</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Embedded in your M365 licence — if you have access to Teams, Outlook, Word, or Excel, Copilot is already available. No IT request required in most cases. The entry point for AI-assisted meeting summaries, document drafting, and data analysis in Excel. The lowest-friction tool to start using today.</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059669"/>
          </a:solidFill>
          <a:ln w="12700">
            <a:solidFill>
              <a:srgbClr val="059669"/>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GitHub Copilot</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BP holds an enterprise licence, making this the most straightforward coding AI to request. Integrates directly into VS Code and JetBrains — the IDEs already in use for Dataiku recipe development. Best for inline code completion, debugging, and documentation generation within your existing IDE environment.</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Cursor</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full VS Code fork with AI deeply integrated at every level — not an add-on but the core of the product. Best-in-class for large, multi-file projects where you need the AI to understand the entire Dataiku project structure, not just the file you have open. Requires individual licence request or T&amp;E expense.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7C3AED"/>
          </a:solidFill>
          <a:ln w="12700">
            <a:solidFill>
              <a:srgbClr val="7C3AED"/>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Studio</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The no-code agent builder in the Microsoft ecosystem. If you can write a paragraph describing what an automated assistant should do, you can build it in Copilot Studio without writing a line of code. FM&amp;I use case: a research monitoring agent that reads new reports from SharePoint and posts summaries to Teams.</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either included in existing BP licences or accessible via IT request — no technical barrier to starting today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ACCESS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Requesting access takes less than 10 minutes</a:t>
            </a:r>
            <a:endParaRPr lang="en-US" sz="3000" dirty="0"/>
          </a:p>
        </p:txBody>
      </p:sp>
      <p:sp>
        <p:nvSpPr>
          <p:cNvPr id="8" name="Shape 6"/>
          <p:cNvSpPr/>
          <p:nvPr/>
        </p:nvSpPr>
        <p:spPr>
          <a:xfrm>
            <a:off x="274320" y="1325880"/>
            <a:ext cx="8595360" cy="658368"/>
          </a:xfrm>
          <a:prstGeom prst="rect">
            <a:avLst/>
          </a:prstGeom>
          <a:solidFill>
            <a:srgbClr val="FFFFFF"/>
          </a:solidFill>
          <a:ln/>
        </p:spPr>
      </p:sp>
      <p:sp>
        <p:nvSpPr>
          <p:cNvPr id="9" name="Shape 7"/>
          <p:cNvSpPr/>
          <p:nvPr/>
        </p:nvSpPr>
        <p:spPr>
          <a:xfrm>
            <a:off x="274320" y="1325880"/>
            <a:ext cx="45720" cy="658368"/>
          </a:xfrm>
          <a:prstGeom prst="rect">
            <a:avLst/>
          </a:prstGeom>
          <a:solidFill>
            <a:srgbClr val="2563EB"/>
          </a:solidFill>
          <a:ln w="12700">
            <a:solidFill>
              <a:srgbClr val="2563EB"/>
            </a:solidFill>
            <a:prstDash val="solid"/>
          </a:ln>
        </p:spPr>
      </p:sp>
      <p:sp>
        <p:nvSpPr>
          <p:cNvPr id="10" name="Text 8"/>
          <p:cNvSpPr/>
          <p:nvPr/>
        </p:nvSpPr>
        <p:spPr>
          <a:xfrm>
            <a:off x="457200" y="1417320"/>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Microsoft Copilot — Already active if you have M365 E3 or E5. Open Word, Excel, or Teams and look for the Copilot button. If not visible, raise a standard IT ticket referencing ‘M365 Copilot activation’. No additional licence cost, no manager approval required for the base tier. Most FM&amp;I team members can start today.</a:t>
            </a:r>
            <a:endParaRPr lang="en-US" sz="900" dirty="0"/>
          </a:p>
        </p:txBody>
      </p:sp>
      <p:sp>
        <p:nvSpPr>
          <p:cNvPr id="11" name="Shape 9"/>
          <p:cNvSpPr/>
          <p:nvPr/>
        </p:nvSpPr>
        <p:spPr>
          <a:xfrm>
            <a:off x="274320" y="2075688"/>
            <a:ext cx="8595360" cy="658368"/>
          </a:xfrm>
          <a:prstGeom prst="rect">
            <a:avLst/>
          </a:prstGeom>
          <a:solidFill>
            <a:srgbClr val="FFFFFF"/>
          </a:solidFill>
          <a:ln/>
        </p:spPr>
      </p:sp>
      <p:sp>
        <p:nvSpPr>
          <p:cNvPr id="12" name="Shape 10"/>
          <p:cNvSpPr/>
          <p:nvPr/>
        </p:nvSpPr>
        <p:spPr>
          <a:xfrm>
            <a:off x="274320" y="2075688"/>
            <a:ext cx="45720" cy="658368"/>
          </a:xfrm>
          <a:prstGeom prst="rect">
            <a:avLst/>
          </a:prstGeom>
          <a:solidFill>
            <a:srgbClr val="059669"/>
          </a:solidFill>
          <a:ln w="12700">
            <a:solidFill>
              <a:srgbClr val="059669"/>
            </a:solidFill>
            <a:prstDash val="solid"/>
          </a:ln>
        </p:spPr>
      </p:sp>
      <p:sp>
        <p:nvSpPr>
          <p:cNvPr id="13" name="Text 11"/>
          <p:cNvSpPr/>
          <p:nvPr/>
        </p:nvSpPr>
        <p:spPr>
          <a:xfrm>
            <a:off x="457200" y="2167128"/>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GitHub Copilot — Request via the BP IT self-service portal under ‘Developer Tools’. Approval typically takes 2-3 business days. Once approved, install the GitHub Copilot extension in VS Code, sign in with your GitHub Enterprise account, and it is immediately active in your existing IDE. Works in VS Code, JetBrains, and GitHub Copilot CLI.</a:t>
            </a:r>
            <a:endParaRPr lang="en-US" sz="900" dirty="0"/>
          </a:p>
        </p:txBody>
      </p:sp>
      <p:sp>
        <p:nvSpPr>
          <p:cNvPr id="14" name="Shape 12"/>
          <p:cNvSpPr/>
          <p:nvPr/>
        </p:nvSpPr>
        <p:spPr>
          <a:xfrm>
            <a:off x="274320" y="2825496"/>
            <a:ext cx="8595360" cy="658368"/>
          </a:xfrm>
          <a:prstGeom prst="rect">
            <a:avLst/>
          </a:prstGeom>
          <a:solidFill>
            <a:srgbClr val="FFFFFF"/>
          </a:solidFill>
          <a:ln/>
        </p:spPr>
      </p:sp>
      <p:sp>
        <p:nvSpPr>
          <p:cNvPr id="15" name="Shape 13"/>
          <p:cNvSpPr/>
          <p:nvPr/>
        </p:nvSpPr>
        <p:spPr>
          <a:xfrm>
            <a:off x="274320" y="2825496"/>
            <a:ext cx="45720" cy="658368"/>
          </a:xfrm>
          <a:prstGeom prst="rect">
            <a:avLst/>
          </a:prstGeom>
          <a:solidFill>
            <a:srgbClr val="0D9488"/>
          </a:solidFill>
          <a:ln w="12700">
            <a:solidFill>
              <a:srgbClr val="0D9488"/>
            </a:solidFill>
            <a:prstDash val="solid"/>
          </a:ln>
        </p:spPr>
      </p:sp>
      <p:sp>
        <p:nvSpPr>
          <p:cNvPr id="16" name="Text 14"/>
          <p:cNvSpPr/>
          <p:nvPr/>
        </p:nvSpPr>
        <p:spPr>
          <a:xfrm>
            <a:off x="457200" y="2916936"/>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Cursor — Not in the standard IT catalogue as of Q1 2026. Two options: (1) raise an IT request with an FM&amp;I pipeline development business justification, or (2) expense as a professional tool via T&amp;E with manager approval — approximately £20/month Pro tier. Once installed, import your VS Code settings and sign in with a Cursor account.</a:t>
            </a:r>
            <a:endParaRPr lang="en-US" sz="900" dirty="0"/>
          </a:p>
        </p:txBody>
      </p:sp>
      <p:sp>
        <p:nvSpPr>
          <p:cNvPr id="17" name="Shape 15"/>
          <p:cNvSpPr/>
          <p:nvPr/>
        </p:nvSpPr>
        <p:spPr>
          <a:xfrm>
            <a:off x="274320" y="3575304"/>
            <a:ext cx="8595360" cy="658368"/>
          </a:xfrm>
          <a:prstGeom prst="rect">
            <a:avLst/>
          </a:prstGeom>
          <a:solidFill>
            <a:srgbClr val="FFFFFF"/>
          </a:solidFill>
          <a:ln/>
        </p:spPr>
      </p:sp>
      <p:sp>
        <p:nvSpPr>
          <p:cNvPr id="18" name="Shape 16"/>
          <p:cNvSpPr/>
          <p:nvPr/>
        </p:nvSpPr>
        <p:spPr>
          <a:xfrm>
            <a:off x="274320" y="3575304"/>
            <a:ext cx="45720" cy="658368"/>
          </a:xfrm>
          <a:prstGeom prst="rect">
            <a:avLst/>
          </a:prstGeom>
          <a:solidFill>
            <a:srgbClr val="7C3AED"/>
          </a:solidFill>
          <a:ln w="12700">
            <a:solidFill>
              <a:srgbClr val="7C3AED"/>
            </a:solidFill>
            <a:prstDash val="solid"/>
          </a:ln>
        </p:spPr>
      </p:sp>
      <p:sp>
        <p:nvSpPr>
          <p:cNvPr id="19" name="Text 17"/>
          <p:cNvSpPr/>
          <p:nvPr/>
        </p:nvSpPr>
        <p:spPr>
          <a:xfrm>
            <a:off x="457200" y="3666744"/>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Copilot Studio — An M365 add-on requiring IT approval and a manager-signed business justification. BP’s intranet has a step-by-step setup guide under ‘Digital Tools &gt; AI &gt; Copilot Studio’. Once provisioned, access via the Copilot Studio portal — no local installation required. Provisioning typically takes 3-5 business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Start with Microsoft Copilot today — it requires zero additional requests if you have an M365 licence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right tool depends on the task — here is the map</a:t>
            </a:r>
            <a:endParaRPr lang="en-US" sz="3000" dirty="0"/>
          </a:p>
        </p:txBody>
      </p:sp>
      <p:sp>
        <p:nvSpPr>
          <p:cNvPr id="8" name="Shape 6"/>
          <p:cNvSpPr/>
          <p:nvPr/>
        </p:nvSpPr>
        <p:spPr>
          <a:xfrm>
            <a:off x="274320" y="1325880"/>
            <a:ext cx="8595360" cy="320040"/>
          </a:xfrm>
          <a:prstGeom prst="rect">
            <a:avLst/>
          </a:prstGeom>
          <a:solidFill>
            <a:srgbClr val="1B2A4A"/>
          </a:solidFill>
          <a:ln w="12700">
            <a:solidFill>
              <a:srgbClr val="1B2A4A"/>
            </a:solidFill>
            <a:prstDash val="solid"/>
          </a:ln>
        </p:spPr>
      </p:sp>
      <p:sp>
        <p:nvSpPr>
          <p:cNvPr id="9" name="Text 7"/>
          <p:cNvSpPr/>
          <p:nvPr/>
        </p:nvSpPr>
        <p:spPr>
          <a:xfrm>
            <a:off x="365760" y="1362456"/>
            <a:ext cx="269748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10" name="Text 8"/>
          <p:cNvSpPr/>
          <p:nvPr/>
        </p:nvSpPr>
        <p:spPr>
          <a:xfrm>
            <a:off x="3200400" y="1362456"/>
            <a:ext cx="20574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Best Tool</a:t>
            </a:r>
            <a:endParaRPr lang="en-US" sz="900" dirty="0"/>
          </a:p>
        </p:txBody>
      </p:sp>
      <p:sp>
        <p:nvSpPr>
          <p:cNvPr id="11" name="Text 9"/>
          <p:cNvSpPr/>
          <p:nvPr/>
        </p:nvSpPr>
        <p:spPr>
          <a:xfrm>
            <a:off x="5394960" y="1362456"/>
            <a:ext cx="34290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Wins</a:t>
            </a:r>
            <a:endParaRPr lang="en-US" sz="900" dirty="0"/>
          </a:p>
        </p:txBody>
      </p:sp>
      <p:sp>
        <p:nvSpPr>
          <p:cNvPr id="12" name="Shape 10"/>
          <p:cNvSpPr/>
          <p:nvPr/>
        </p:nvSpPr>
        <p:spPr>
          <a:xfrm>
            <a:off x="274320" y="1645920"/>
            <a:ext cx="8595360" cy="502920"/>
          </a:xfrm>
          <a:prstGeom prst="rect">
            <a:avLst/>
          </a:prstGeom>
          <a:solidFill>
            <a:srgbClr val="F0F4F8"/>
          </a:solidFill>
          <a:ln w="6350">
            <a:solidFill>
              <a:srgbClr val="E2E8F0"/>
            </a:solidFill>
            <a:prstDash val="solid"/>
          </a:ln>
        </p:spPr>
      </p:sp>
      <p:sp>
        <p:nvSpPr>
          <p:cNvPr id="13" name="Text 11"/>
          <p:cNvSpPr/>
          <p:nvPr/>
        </p:nvSpPr>
        <p:spPr>
          <a:xfrm>
            <a:off x="365760" y="169164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Writing, summarising, emails</a:t>
            </a:r>
            <a:endParaRPr lang="en-US" sz="900" dirty="0"/>
          </a:p>
        </p:txBody>
      </p:sp>
      <p:sp>
        <p:nvSpPr>
          <p:cNvPr id="14" name="Text 12"/>
          <p:cNvSpPr/>
          <p:nvPr/>
        </p:nvSpPr>
        <p:spPr>
          <a:xfrm>
            <a:off x="3200400" y="169164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Microsoft Copilot</a:t>
            </a:r>
            <a:endParaRPr lang="en-US" sz="900" dirty="0"/>
          </a:p>
        </p:txBody>
      </p:sp>
      <p:sp>
        <p:nvSpPr>
          <p:cNvPr id="15" name="Text 13"/>
          <p:cNvSpPr/>
          <p:nvPr/>
        </p:nvSpPr>
        <p:spPr>
          <a:xfrm>
            <a:off x="5394960" y="169164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M365-native, zero context switching. Data stays inside BP’s Microsoft tenant — safest option for internal content.</a:t>
            </a:r>
            <a:endParaRPr lang="en-US" sz="900" dirty="0"/>
          </a:p>
        </p:txBody>
      </p:sp>
      <p:sp>
        <p:nvSpPr>
          <p:cNvPr id="16" name="Shape 14"/>
          <p:cNvSpPr/>
          <p:nvPr/>
        </p:nvSpPr>
        <p:spPr>
          <a:xfrm>
            <a:off x="274320" y="2148840"/>
            <a:ext cx="8595360" cy="502920"/>
          </a:xfrm>
          <a:prstGeom prst="rect">
            <a:avLst/>
          </a:prstGeom>
          <a:solidFill>
            <a:srgbClr val="FFFFFF"/>
          </a:solidFill>
          <a:ln w="6350">
            <a:solidFill>
              <a:srgbClr val="E2E8F0"/>
            </a:solidFill>
            <a:prstDash val="solid"/>
          </a:ln>
        </p:spPr>
      </p:sp>
      <p:sp>
        <p:nvSpPr>
          <p:cNvPr id="17" name="Text 15"/>
          <p:cNvSpPr/>
          <p:nvPr/>
        </p:nvSpPr>
        <p:spPr>
          <a:xfrm>
            <a:off x="365760" y="219456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Debugging Python or SQL in your IDE</a:t>
            </a:r>
            <a:endParaRPr lang="en-US" sz="900" dirty="0"/>
          </a:p>
        </p:txBody>
      </p:sp>
      <p:sp>
        <p:nvSpPr>
          <p:cNvPr id="18" name="Text 16"/>
          <p:cNvSpPr/>
          <p:nvPr/>
        </p:nvSpPr>
        <p:spPr>
          <a:xfrm>
            <a:off x="3200400" y="219456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GitHub Copilot</a:t>
            </a:r>
            <a:endParaRPr lang="en-US" sz="900" dirty="0"/>
          </a:p>
        </p:txBody>
      </p:sp>
      <p:sp>
        <p:nvSpPr>
          <p:cNvPr id="19" name="Text 17"/>
          <p:cNvSpPr/>
          <p:nvPr/>
        </p:nvSpPr>
        <p:spPr>
          <a:xfrm>
            <a:off x="5394960" y="219456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Inline and context-aware in your existing IDE. BP enterprise licence means IT and legal coverage without extra approval.</a:t>
            </a:r>
            <a:endParaRPr lang="en-US" sz="900" dirty="0"/>
          </a:p>
        </p:txBody>
      </p:sp>
      <p:sp>
        <p:nvSpPr>
          <p:cNvPr id="20" name="Shape 18"/>
          <p:cNvSpPr/>
          <p:nvPr/>
        </p:nvSpPr>
        <p:spPr>
          <a:xfrm>
            <a:off x="274320" y="2651760"/>
            <a:ext cx="8595360" cy="502920"/>
          </a:xfrm>
          <a:prstGeom prst="rect">
            <a:avLst/>
          </a:prstGeom>
          <a:solidFill>
            <a:srgbClr val="F0F4F8"/>
          </a:solidFill>
          <a:ln w="6350">
            <a:solidFill>
              <a:srgbClr val="E2E8F0"/>
            </a:solidFill>
            <a:prstDash val="solid"/>
          </a:ln>
        </p:spPr>
      </p:sp>
      <p:sp>
        <p:nvSpPr>
          <p:cNvPr id="21" name="Text 19"/>
          <p:cNvSpPr/>
          <p:nvPr/>
        </p:nvSpPr>
        <p:spPr>
          <a:xfrm>
            <a:off x="365760" y="269748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Building a new model or full app</a:t>
            </a:r>
            <a:endParaRPr lang="en-US" sz="900" dirty="0"/>
          </a:p>
        </p:txBody>
      </p:sp>
      <p:sp>
        <p:nvSpPr>
          <p:cNvPr id="22" name="Text 20"/>
          <p:cNvSpPr/>
          <p:nvPr/>
        </p:nvSpPr>
        <p:spPr>
          <a:xfrm>
            <a:off x="3200400" y="269748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Cursor</a:t>
            </a:r>
            <a:endParaRPr lang="en-US" sz="900" dirty="0"/>
          </a:p>
        </p:txBody>
      </p:sp>
      <p:sp>
        <p:nvSpPr>
          <p:cNvPr id="23" name="Text 21"/>
          <p:cNvSpPr/>
          <p:nvPr/>
        </p:nvSpPr>
        <p:spPr>
          <a:xfrm>
            <a:off x="5394960" y="269748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Full-repository context understands how your 30-file Dataiku project connects. Agent mode handles multi-step builds autonomously.</a:t>
            </a:r>
            <a:endParaRPr lang="en-US" sz="900" dirty="0"/>
          </a:p>
        </p:txBody>
      </p:sp>
      <p:sp>
        <p:nvSpPr>
          <p:cNvPr id="24" name="Shape 22"/>
          <p:cNvSpPr/>
          <p:nvPr/>
        </p:nvSpPr>
        <p:spPr>
          <a:xfrm>
            <a:off x="274320" y="3154680"/>
            <a:ext cx="8595360" cy="502920"/>
          </a:xfrm>
          <a:prstGeom prst="rect">
            <a:avLst/>
          </a:prstGeom>
          <a:solidFill>
            <a:srgbClr val="FFFFFF"/>
          </a:solidFill>
          <a:ln w="6350">
            <a:solidFill>
              <a:srgbClr val="E2E8F0"/>
            </a:solidFill>
            <a:prstDash val="solid"/>
          </a:ln>
        </p:spPr>
      </p:sp>
      <p:sp>
        <p:nvSpPr>
          <p:cNvPr id="25" name="Text 23"/>
          <p:cNvSpPr/>
          <p:nvPr/>
        </p:nvSpPr>
        <p:spPr>
          <a:xfrm>
            <a:off x="365760" y="320040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Automating a document workflow</a:t>
            </a:r>
            <a:endParaRPr lang="en-US" sz="900" dirty="0"/>
          </a:p>
        </p:txBody>
      </p:sp>
      <p:sp>
        <p:nvSpPr>
          <p:cNvPr id="26" name="Text 24"/>
          <p:cNvSpPr/>
          <p:nvPr/>
        </p:nvSpPr>
        <p:spPr>
          <a:xfrm>
            <a:off x="3200400" y="320040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Copilot Studio</a:t>
            </a:r>
            <a:endParaRPr lang="en-US" sz="900" dirty="0"/>
          </a:p>
        </p:txBody>
      </p:sp>
      <p:sp>
        <p:nvSpPr>
          <p:cNvPr id="27" name="Text 25"/>
          <p:cNvSpPr/>
          <p:nvPr/>
        </p:nvSpPr>
        <p:spPr>
          <a:xfrm>
            <a:off x="5394960" y="320040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No-code agent builder connected to M365 data. Build a research summariser without writing Python. Best for non-developer workflows.</a:t>
            </a:r>
            <a:endParaRPr lang="en-US" sz="900" dirty="0"/>
          </a:p>
        </p:txBody>
      </p:sp>
      <p:sp>
        <p:nvSpPr>
          <p:cNvPr id="28" name="Shape 26"/>
          <p:cNvSpPr/>
          <p:nvPr/>
        </p:nvSpPr>
        <p:spPr>
          <a:xfrm>
            <a:off x="274320" y="3657600"/>
            <a:ext cx="8595360" cy="502920"/>
          </a:xfrm>
          <a:prstGeom prst="rect">
            <a:avLst/>
          </a:prstGeom>
          <a:solidFill>
            <a:srgbClr val="F0F4F8"/>
          </a:solidFill>
          <a:ln w="6350">
            <a:solidFill>
              <a:srgbClr val="E2E8F0"/>
            </a:solidFill>
            <a:prstDash val="solid"/>
          </a:ln>
        </p:spPr>
      </p:sp>
      <p:sp>
        <p:nvSpPr>
          <p:cNvPr id="29" name="Text 27"/>
          <p:cNvSpPr/>
          <p:nvPr/>
        </p:nvSpPr>
        <p:spPr>
          <a:xfrm>
            <a:off x="365760" y="370332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Long agentic coding task or overnight audit</a:t>
            </a:r>
            <a:endParaRPr lang="en-US" sz="900" dirty="0"/>
          </a:p>
        </p:txBody>
      </p:sp>
      <p:sp>
        <p:nvSpPr>
          <p:cNvPr id="30" name="Text 28"/>
          <p:cNvSpPr/>
          <p:nvPr/>
        </p:nvSpPr>
        <p:spPr>
          <a:xfrm>
            <a:off x="3200400" y="370332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Claude Code (CLI)</a:t>
            </a:r>
            <a:endParaRPr lang="en-US" sz="900" dirty="0"/>
          </a:p>
        </p:txBody>
      </p:sp>
      <p:sp>
        <p:nvSpPr>
          <p:cNvPr id="31" name="Text 29"/>
          <p:cNvSpPr/>
          <p:nvPr/>
        </p:nvSpPr>
        <p:spPr>
          <a:xfrm>
            <a:off x="5394960" y="370332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Headless operation — runs on a VM overnight without a GUI. Best for full codebase audits, multi-file refactors, CI/CD integration.</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No single tool wins every task — the productivity gain comes from knowing which one to reach for in under 3 seconds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03</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Microsoft Copilot</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M365 integration, Copilot Agents, and the roadmap ahead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M365</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is embedded in every M365 app you already use</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Teams + Outlook</a:t>
            </a:r>
            <a:endParaRPr lang="en-US" sz="10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Teams Copilot transcribes meetings in real time, extracts action items by person and team, and generates a structured follow-up summary within 30 seconds of the call ending. Outlook Copilot drafts replies matching your tone and summarises long email threads. For FM&amp;I: trading strategy calls become structured action logs automatically.</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3B82F6"/>
          </a:solidFill>
          <a:ln w="12700">
            <a:solidFill>
              <a:srgbClr val="3B82F6"/>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Word + PowerPoint</a:t>
            </a:r>
            <a:endParaRPr lang="en-US" sz="10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Word Copilot drafts documents from bullet points, rewrites sections in a different tone, and generates tables from plain text descriptions. PowerPoint Copilot generates entire decks from a Word document or prompt and reformats existing slides. For FM&amp;I: model documentation and management reporting drafted in minutes rather than hours.</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891B2"/>
          </a:solidFill>
          <a:ln w="12700">
            <a:solidFill>
              <a:srgbClr val="0891B2"/>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Excel — the FM&amp;I-relevant capabilities</a:t>
            </a:r>
            <a:endParaRPr lang="en-US" sz="10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Natural language formula generation: describe what you want and Excel writes it. Python in Excel: Copilot-assisted Python runs inside Excel cells for statistical analysis without leaving the spreadsheet. Natural language data insights: ask “what are the three most unusual patterns?” and Copilot detects anomalies and narrates findings. For FM&amp;I: crack spread analysis and scenario outputs interrogated without writing code.</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D9488"/>
          </a:solidFill>
          <a:ln w="12700">
            <a:solidFill>
              <a:srgbClr val="0D9488"/>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OneNote + Loop</a:t>
            </a:r>
            <a:endParaRPr lang="en-US" sz="10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OneNote Copilot summarises freeform notes, generates action plans from meeting capture, and enables cross-notebook search via conversational queries. Microsoft Loop adds AI-assisted shared workspaces for collaborative document updates. For FM&amp;I: morning operational briefs auto-drafted from a structured prompt, and cross-team research notes synthesised across notebooks automatically.</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If you use any M365 app, you already have a Copilot — most people just haven’t turned it on yet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FM&amp;I model review call — structured brief in 3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Summarise this morning’s 50-minute FM&amp;I model review call. Extract: (1) all actions assigned to the analytics team with owner and due date, (2) any model calibration decisions made or deferred, (3) open questions about the crack spread ELT pipeline raised by the trading desk. Format as a structured brief ready to send to the FM&amp;I team channel.</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2563EB"/>
          </a:solidFill>
          <a:ln w="12700">
            <a:solidFill>
              <a:srgbClr val="2563EB"/>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transcribes the full call recording and identifies speaker turns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Extracts analytics team actions with named owners and explicit due dates (e.g. ‘Sarah — update VaR scenario parameters by Thursday’)</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Flags calibration decisions: 3 confirmed, 2 deferred pending new data from the desk</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Lists crack spread ELT pipeline questions raised, grouped by topic</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Formats the output as a structured Teams-ready brief — ready to post in 90 seconds of the call ending</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2563EB"/>
                </a:solidFill>
                <a:latin typeface="Trebuchet MS" pitchFamily="34" charset="0"/>
                <a:ea typeface="Trebuchet MS" pitchFamily="34" charset="-122"/>
                <a:cs typeface="Trebuchet MS" pitchFamily="34" charset="-120"/>
              </a:rPr>
              <a:t>3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call end to structured FM&amp;I brief ready to send</a:t>
            </a:r>
            <a:endParaRPr lang="en-US" sz="900" dirty="0"/>
          </a:p>
        </p:txBody>
      </p:sp>
      <p:sp>
        <p:nvSpPr>
          <p:cNvPr id="19" name="Text 17"/>
          <p:cNvSpPr/>
          <p:nvPr/>
        </p:nvSpPr>
        <p:spPr>
          <a:xfrm>
            <a:off x="5806440" y="329184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45–60 min</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switch to Microsoft Teams / Copilot now] — this is the 45-minute task that currently disappears from every model review call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AGENTS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Agents: build a custom automated assistant in minutes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2563EB"/>
          </a:solidFill>
          <a:ln w="12700">
            <a:solidFill>
              <a:srgbClr val="2563EB"/>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is</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custom AI assistant you define with natural language instructions, data sources, and actions. It lives in Microsoft Teams or Copilot and retains its configuration across all conversations. You describe what it should do and what it should know — no coding required. It can be shared across your team once built.</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2563EB"/>
          </a:solidFill>
          <a:ln w="12700">
            <a:solidFill>
              <a:srgbClr val="2563EB"/>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can access</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Microsoft Graph data (your calendar, emails, Teams messages, with consent), SharePoint document libraries you specify, web content via Bing grounding, and external systems via Power Automate connectors. For FM&amp;I: an agent can read new research reports from a SharePoint library, summarise them, and act on their contents without manual input.</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2563EB"/>
          </a:solidFill>
          <a:ln w="12700">
            <a:solidFill>
              <a:srgbClr val="2563EB"/>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How to build one</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Open Copilot Studio. Define the agent’s name and purpose in plain language. Connect knowledge sources — a SharePoint folder of market reports, a web URL, or uploaded documents. Add Power Automate flows for actions. Test in the Studio test panel and iterate. Publish to Teams. Build time for a useful first version: 30-60 minutes.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2563EB"/>
          </a:solidFill>
          <a:ln w="12700">
            <a:solidFill>
              <a:srgbClr val="2563EB"/>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The self-improvement trick</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After giving the agent its initial instructions, type: “Review your instructions and suggest improvements to make you more effective at this task.” Paste the improved instructions back in. Run this loop 2-3 times. The resulting agent is consistently better than one refined manually and requires no prompt engineering expertise to improve.</a:t>
            </a:r>
            <a:endParaRPr lang="en-US" sz="850" dirty="0"/>
          </a:p>
        </p:txBody>
      </p:sp>
      <p:sp>
        <p:nvSpPr>
          <p:cNvPr id="24" name="Shape 22"/>
          <p:cNvSpPr/>
          <p:nvPr/>
        </p:nvSpPr>
        <p:spPr>
          <a:xfrm>
            <a:off x="4663440" y="1325880"/>
            <a:ext cx="4206240" cy="3154680"/>
          </a:xfrm>
          <a:prstGeom prst="rect">
            <a:avLst/>
          </a:prstGeom>
          <a:solidFill>
            <a:srgbClr val="FFFFFF"/>
          </a:solidFill>
          <a:ln/>
        </p:spPr>
      </p:sp>
      <p:sp>
        <p:nvSpPr>
          <p:cNvPr id="25" name="Shape 23"/>
          <p:cNvSpPr/>
          <p:nvPr/>
        </p:nvSpPr>
        <p:spPr>
          <a:xfrm>
            <a:off x="4663440" y="1325880"/>
            <a:ext cx="4206240" cy="292608"/>
          </a:xfrm>
          <a:prstGeom prst="rect">
            <a:avLst/>
          </a:prstGeom>
          <a:solidFill>
            <a:srgbClr val="3B82F6"/>
          </a:solidFill>
          <a:ln w="12700">
            <a:solidFill>
              <a:srgbClr val="3B82F6"/>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FM&amp;I example: research monitor</a:t>
            </a:r>
            <a:endParaRPr lang="en-US" sz="1000" dirty="0"/>
          </a:p>
        </p:txBody>
      </p:sp>
      <p:sp>
        <p:nvSpPr>
          <p:cNvPr id="27" name="Text 25"/>
          <p:cNvSpPr/>
          <p:nvPr/>
        </p:nvSpPr>
        <p:spPr>
          <a:xfrm>
            <a:off x="4800600" y="1691640"/>
            <a:ext cx="3931920" cy="26517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An agent configured to monitor a SharePoint folder where market research reports are filed. Every time a new PDF is added, the agent reads it and extracts: the commodity covered, key price outlook (bullish/bearish), top 3 risks, and any FM&amp;I-relevant data points.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It posts a structured summary to the FM&amp;I Teams channel within 2 minutes of the file arriving.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Build time: 45 minutes.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Time saved per week: 2-3 hours of manual report reading compressed to a 5-minute review of AI summaries.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Copilot Studio requires no coding — if you can write a paragraph describing what the agent should do, you can build it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in 2026: more autonomy, deeper integration</a:t>
            </a:r>
            <a:endParaRPr lang="en-US" sz="3000" dirty="0"/>
          </a:p>
        </p:txBody>
      </p:sp>
      <p:sp>
        <p:nvSpPr>
          <p:cNvPr id="8" name="Shape 6"/>
          <p:cNvSpPr/>
          <p:nvPr/>
        </p:nvSpPr>
        <p:spPr>
          <a:xfrm>
            <a:off x="274320" y="1709928"/>
            <a:ext cx="8595360" cy="27432"/>
          </a:xfrm>
          <a:prstGeom prst="rect">
            <a:avLst/>
          </a:prstGeom>
          <a:solidFill>
            <a:srgbClr val="E2E8F0"/>
          </a:solidFill>
          <a:ln w="12700">
            <a:solidFill>
              <a:srgbClr val="E2E8F0"/>
            </a:solidFill>
            <a:prstDash val="solid"/>
          </a:ln>
        </p:spPr>
      </p:sp>
      <p:sp>
        <p:nvSpPr>
          <p:cNvPr id="9" name="Shape 7"/>
          <p:cNvSpPr/>
          <p:nvPr/>
        </p:nvSpPr>
        <p:spPr>
          <a:xfrm>
            <a:off x="1275588" y="1645920"/>
            <a:ext cx="146304" cy="146304"/>
          </a:xfrm>
          <a:prstGeom prst="rect">
            <a:avLst/>
          </a:prstGeom>
          <a:solidFill>
            <a:srgbClr val="2563EB"/>
          </a:solidFill>
          <a:ln w="12700">
            <a:solidFill>
              <a:srgbClr val="2563EB"/>
            </a:solidFill>
            <a:prstDash val="solid"/>
          </a:ln>
        </p:spPr>
      </p:sp>
      <p:sp>
        <p:nvSpPr>
          <p:cNvPr id="10" name="Text 8"/>
          <p:cNvSpPr/>
          <p:nvPr/>
        </p:nvSpPr>
        <p:spPr>
          <a:xfrm>
            <a:off x="320040" y="1847088"/>
            <a:ext cx="2057400"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2026</a:t>
            </a:r>
            <a:endParaRPr lang="en-US" sz="800" dirty="0"/>
          </a:p>
        </p:txBody>
      </p:sp>
      <p:sp>
        <p:nvSpPr>
          <p:cNvPr id="11" name="Text 9"/>
          <p:cNvSpPr/>
          <p:nvPr/>
        </p:nvSpPr>
        <p:spPr>
          <a:xfrm>
            <a:off x="32004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Reasoning mode</a:t>
            </a:r>
            <a:endParaRPr lang="en-US" sz="800" dirty="0"/>
          </a:p>
        </p:txBody>
      </p:sp>
      <p:sp>
        <p:nvSpPr>
          <p:cNvPr id="12" name="Text 10"/>
          <p:cNvSpPr/>
          <p:nvPr/>
        </p:nvSpPr>
        <p:spPr>
          <a:xfrm>
            <a:off x="32004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Microsoft integrated OpenAI’s o-series reasoning model into Word and Outlook Copilot. For complex multi-step document tasks — “analyse this model review report and identify all actions requiring compliance sign-off” — reasoning mode produces structurally better outputs than standard Copilot.</a:t>
            </a:r>
            <a:endParaRPr lang="en-US" sz="750" dirty="0"/>
          </a:p>
        </p:txBody>
      </p:sp>
      <p:sp>
        <p:nvSpPr>
          <p:cNvPr id="13" name="Shape 11"/>
          <p:cNvSpPr/>
          <p:nvPr/>
        </p:nvSpPr>
        <p:spPr>
          <a:xfrm>
            <a:off x="3424428" y="1645920"/>
            <a:ext cx="146304" cy="146304"/>
          </a:xfrm>
          <a:prstGeom prst="rect">
            <a:avLst/>
          </a:prstGeom>
          <a:solidFill>
            <a:srgbClr val="0D9488"/>
          </a:solidFill>
          <a:ln w="12700">
            <a:solidFill>
              <a:srgbClr val="0D9488"/>
            </a:solidFill>
            <a:prstDash val="solid"/>
          </a:ln>
        </p:spPr>
      </p:sp>
      <p:sp>
        <p:nvSpPr>
          <p:cNvPr id="14" name="Text 12"/>
          <p:cNvSpPr/>
          <p:nvPr/>
        </p:nvSpPr>
        <p:spPr>
          <a:xfrm>
            <a:off x="2468880" y="1847088"/>
            <a:ext cx="2057400"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2026</a:t>
            </a:r>
            <a:endParaRPr lang="en-US" sz="800" dirty="0"/>
          </a:p>
        </p:txBody>
      </p:sp>
      <p:sp>
        <p:nvSpPr>
          <p:cNvPr id="15" name="Text 13"/>
          <p:cNvSpPr/>
          <p:nvPr/>
        </p:nvSpPr>
        <p:spPr>
          <a:xfrm>
            <a:off x="246888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Power BI Copilot expansion</a:t>
            </a:r>
            <a:endParaRPr lang="en-US" sz="800" dirty="0"/>
          </a:p>
        </p:txBody>
      </p:sp>
      <p:sp>
        <p:nvSpPr>
          <p:cNvPr id="16" name="Text 14"/>
          <p:cNvSpPr/>
          <p:nvPr/>
        </p:nvSpPr>
        <p:spPr>
          <a:xfrm>
            <a:off x="246888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Natural language report generation directly in Power BI Service — describe the analysis you want, Copilot builds the report. For FM&amp;I: trading desk requests for spread analysis become a conversation rather than a development sprint. The highest-value near-term integration for this team.</a:t>
            </a:r>
            <a:endParaRPr lang="en-US" sz="750" dirty="0"/>
          </a:p>
        </p:txBody>
      </p:sp>
      <p:sp>
        <p:nvSpPr>
          <p:cNvPr id="17" name="Shape 15"/>
          <p:cNvSpPr/>
          <p:nvPr/>
        </p:nvSpPr>
        <p:spPr>
          <a:xfrm>
            <a:off x="5573268" y="1645920"/>
            <a:ext cx="146304" cy="146304"/>
          </a:xfrm>
          <a:prstGeom prst="rect">
            <a:avLst/>
          </a:prstGeom>
          <a:solidFill>
            <a:srgbClr val="059669"/>
          </a:solidFill>
          <a:ln w="12700">
            <a:solidFill>
              <a:srgbClr val="059669"/>
            </a:solidFill>
            <a:prstDash val="solid"/>
          </a:ln>
        </p:spPr>
      </p:sp>
      <p:sp>
        <p:nvSpPr>
          <p:cNvPr id="18" name="Text 16"/>
          <p:cNvSpPr/>
          <p:nvPr/>
        </p:nvSpPr>
        <p:spPr>
          <a:xfrm>
            <a:off x="4617720" y="1847088"/>
            <a:ext cx="2057400"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2026</a:t>
            </a:r>
            <a:endParaRPr lang="en-US" sz="800" dirty="0"/>
          </a:p>
        </p:txBody>
      </p:sp>
      <p:sp>
        <p:nvSpPr>
          <p:cNvPr id="19" name="Text 17"/>
          <p:cNvSpPr/>
          <p:nvPr/>
        </p:nvSpPr>
        <p:spPr>
          <a:xfrm>
            <a:off x="461772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1,000+ connector ecosystem</a:t>
            </a:r>
            <a:endParaRPr lang="en-US" sz="800" dirty="0"/>
          </a:p>
        </p:txBody>
      </p:sp>
      <p:sp>
        <p:nvSpPr>
          <p:cNvPr id="20" name="Text 18"/>
          <p:cNvSpPr/>
          <p:nvPr/>
        </p:nvSpPr>
        <p:spPr>
          <a:xfrm>
            <a:off x="461772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Third-party connectors expand Copilot Studio’s reach to 1,000+ external services. For FM&amp;I, this means Copilot agents that can query Bloomberg, pull Dataiku scenario status, or read from commodity pricing APIs — all without custom MCP development.</a:t>
            </a:r>
            <a:endParaRPr lang="en-US" sz="750" dirty="0"/>
          </a:p>
        </p:txBody>
      </p:sp>
      <p:sp>
        <p:nvSpPr>
          <p:cNvPr id="21" name="Shape 19"/>
          <p:cNvSpPr/>
          <p:nvPr/>
        </p:nvSpPr>
        <p:spPr>
          <a:xfrm>
            <a:off x="7722108" y="1645920"/>
            <a:ext cx="146304" cy="146304"/>
          </a:xfrm>
          <a:prstGeom prst="rect">
            <a:avLst/>
          </a:prstGeom>
          <a:solidFill>
            <a:srgbClr val="7C3AED"/>
          </a:solidFill>
          <a:ln w="12700">
            <a:solidFill>
              <a:srgbClr val="7C3AED"/>
            </a:solidFill>
            <a:prstDash val="solid"/>
          </a:ln>
        </p:spPr>
      </p:sp>
      <p:sp>
        <p:nvSpPr>
          <p:cNvPr id="22" name="Text 20"/>
          <p:cNvSpPr/>
          <p:nvPr/>
        </p:nvSpPr>
        <p:spPr>
          <a:xfrm>
            <a:off x="6766560" y="1847088"/>
            <a:ext cx="2057400"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Q4 2026</a:t>
            </a:r>
            <a:endParaRPr lang="en-US" sz="800" dirty="0"/>
          </a:p>
        </p:txBody>
      </p:sp>
      <p:sp>
        <p:nvSpPr>
          <p:cNvPr id="23" name="Text 21"/>
          <p:cNvSpPr/>
          <p:nvPr/>
        </p:nvSpPr>
        <p:spPr>
          <a:xfrm>
            <a:off x="676656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Multi-agent orchestration</a:t>
            </a:r>
            <a:endParaRPr lang="en-US" sz="800" dirty="0"/>
          </a:p>
        </p:txBody>
      </p:sp>
      <p:sp>
        <p:nvSpPr>
          <p:cNvPr id="24" name="Text 22"/>
          <p:cNvSpPr/>
          <p:nvPr/>
        </p:nvSpPr>
        <p:spPr>
          <a:xfrm>
            <a:off x="676656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Copilot agents can spawn and coordinate sub-agents. An orchestrator receives “prepare the monthly model performance pack” and delegates to sub-agents: data collector, analyst, writer, formatter. The orchestrator synthesises results and delivers the finished pack.</a:t>
            </a:r>
            <a:endParaRPr lang="en-US" sz="750" dirty="0"/>
          </a:p>
        </p:txBody>
      </p:sp>
      <p:sp>
        <p:nvSpPr>
          <p:cNvPr id="25" name="Shape 23"/>
          <p:cNvSpPr/>
          <p:nvPr/>
        </p:nvSpPr>
        <p:spPr>
          <a:xfrm>
            <a:off x="274320" y="3337560"/>
            <a:ext cx="8595360" cy="777240"/>
          </a:xfrm>
          <a:prstGeom prst="rect">
            <a:avLst/>
          </a:prstGeom>
          <a:solidFill>
            <a:srgbClr val="DBEAFE"/>
          </a:solidFill>
          <a:ln/>
        </p:spPr>
      </p:sp>
      <p:sp>
        <p:nvSpPr>
          <p:cNvPr id="26" name="Text 24"/>
          <p:cNvSpPr/>
          <p:nvPr/>
        </p:nvSpPr>
        <p:spPr>
          <a:xfrm>
            <a:off x="457200" y="3401568"/>
            <a:ext cx="8229600" cy="658368"/>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BP internal training on the intranet under ‘Digital Tools &gt; AI’ covers M365 Copilot setup, data governance, and Copilot Studio basics in 3 self-paced modules. Estimated 90 minutes total for all three modules.</a:t>
            </a:r>
            <a:endParaRPr lang="en-US" sz="900" dirty="0"/>
          </a:p>
        </p:txBody>
      </p:sp>
      <p:sp>
        <p:nvSpPr>
          <p:cNvPr id="27" name="Shape 25"/>
          <p:cNvSpPr/>
          <p:nvPr/>
        </p:nvSpPr>
        <p:spPr>
          <a:xfrm>
            <a:off x="0" y="4663440"/>
            <a:ext cx="9144000" cy="475488"/>
          </a:xfrm>
          <a:prstGeom prst="rect">
            <a:avLst/>
          </a:prstGeom>
          <a:solidFill>
            <a:srgbClr val="0F1B2D"/>
          </a:solidFill>
          <a:ln/>
        </p:spPr>
      </p:sp>
      <p:sp>
        <p:nvSpPr>
          <p:cNvPr id="28" name="Text 26"/>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Power BI Copilot integration (Q2 2026) is the highest-leverage near-term opportunity for FM&amp;I reporting workflows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04</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GitHub Copilot &amp; Cursor</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Two tools, different strengths — and workflows that go beyond coding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GitHub Copilot vs Cursor: same category, very different strengths</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GitHub Copilot</a:t>
            </a:r>
            <a:endParaRPr lang="en-US" sz="1200" dirty="0"/>
          </a:p>
        </p:txBody>
      </p:sp>
      <p:sp>
        <p:nvSpPr>
          <p:cNvPr id="11" name="Text 9"/>
          <p:cNvSpPr/>
          <p:nvPr/>
        </p:nvSpPr>
        <p:spPr>
          <a:xfrm>
            <a:off x="41148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BP enterprise licence makes this the zero-friction choice — request it, get it in 2 days, use it in the IDE you already have. The @workspace agent indexes your entire Dataiku project and can answer architecture questions across files. Slash commands (/fix, /explain, /test, /doc) cover 80% of daily coding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‘full repo awareness’ means in practice: when debugging a timeout in your gas_hub_prices recipe, Copilot @workspace reads all related recipes, models, and configs. Ask “what upstream changes could be causing this timeout?” and it traces dependencies across 20+ files without being told to look there.</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daily inline work, debugging in your existing IDE, documentation generation, PR review, and any task where BP enterprise licence is the access route.</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292608"/>
          </a:xfrm>
          <a:prstGeom prst="rect">
            <a:avLst/>
          </a:prstGeom>
          <a:solidFill>
            <a:srgbClr val="059669"/>
          </a:solidFill>
          <a:ln w="12700">
            <a:solidFill>
              <a:srgbClr val="059669"/>
            </a:solidFill>
            <a:prstDash val="solid"/>
          </a:ln>
        </p:spPr>
      </p:sp>
      <p:sp>
        <p:nvSpPr>
          <p:cNvPr id="14" name="Text 12"/>
          <p:cNvSpPr/>
          <p:nvPr/>
        </p:nvSpPr>
        <p:spPr>
          <a:xfrm>
            <a:off x="480060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Cursor</a:t>
            </a:r>
            <a:endParaRPr lang="en-US" sz="1200" dirty="0"/>
          </a:p>
        </p:txBody>
      </p:sp>
      <p:sp>
        <p:nvSpPr>
          <p:cNvPr id="15" name="Text 13"/>
          <p:cNvSpPr/>
          <p:nvPr/>
        </p:nvSpPr>
        <p:spPr>
          <a:xfrm>
            <a:off x="480060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full VS Code fork — AI is not an add-on but the core architecture. Semantic codebase indexing means Cursor has not just read the file names but understands how your Dataiku project’s recipes, models, and outputs connect. Full model choice: Claude Sonnet for speed, Opus for deep debugging, Gemini for very large context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background agents mean in practice: type “refactor all ELT aggregation recipes to use Polars for the heavy transforms.” Cursor submits this to a background agent and returns control immediately. Ninety minutes later: the refactor is complete, tests are updated, and a branch is created. This is AI as a parallel team member, not AI as a faster keyboard.</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large multi-file projects, complex builds from scratch, tasks requiring sustained autonomy, and when you want to choose your model per task.</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Use GitHub Copilot for daily inline work in your existing IDE; use Cursor when the task spans multiple files or requires autonomous execution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GITHUB COPILOT</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Dataiku recipe timeout — debugged in 20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This Dataiku recipe is timing out on 500k rows. It runs fine on 10k rows in isolation. Identify the bottleneck and rewrite the aggregation logic using vectorised operations.</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@workspace reads the full recipe and all upstream data sources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the iterrows() anti-pattern on line 47 — O(n) loop over 500k rows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Rewrites using pandas vectorised groupby — reduces from O(n) to O(n log n)</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a docstring explaining the original problem and the optimisation choice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Suggests unit tests for the refactored function with edge cases for empty input and single-row data</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59669"/>
                </a:solidFill>
                <a:latin typeface="Trebuchet MS" pitchFamily="34" charset="0"/>
                <a:ea typeface="Trebuchet MS" pitchFamily="34" charset="-122"/>
                <a:cs typeface="Trebuchet MS" pitchFamily="34" charset="-120"/>
              </a:rPr>
              <a:t>20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timeout to optimised, tested, documented recipe</a:t>
            </a:r>
            <a:endParaRPr lang="en-US" sz="900" dirty="0"/>
          </a:p>
        </p:txBody>
      </p:sp>
      <p:sp>
        <p:nvSpPr>
          <p:cNvPr id="19" name="Text 17"/>
          <p:cNvSpPr/>
          <p:nvPr/>
        </p:nvSpPr>
        <p:spPr>
          <a:xfrm>
            <a:off x="5806440" y="3310128"/>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3–4 hours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VS Code with the demo recipe] — the 3-4 hour debug cycle just became a 20-minute review cycle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CURSOR</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Prompt to working Dash app —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Build a Plotly Dash app showing crack spread evolution for Q1 2025. Read from crack_spreads.csv, add a 30-day rolling average, include a date range picker and commodity selector. Deploy locally on port 8050.</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Cursor reads crack_spreads.csv and understands the column schema and date range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Writes the complete Dash app layout with Plotly chart callbacks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Implements the rolling average with correct NaN handling at the start of the series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date range picker and commodity selector dropdown with proper callback wiring</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Runs the app locally — browser opens automatically to localhost:8050</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240280"/>
            <a:ext cx="2971800" cy="658368"/>
          </a:xfrm>
          <a:prstGeom prst="rect">
            <a:avLst/>
          </a:prstGeom>
          <a:noFill/>
          <a:ln/>
        </p:spPr>
        <p:txBody>
          <a:bodyPr wrap="square" rtlCol="0" anchor="ctr"/>
          <a:lstStyle/>
          <a:p>
            <a:pPr algn="ctr" indent="0" marL="0">
              <a:buNone/>
            </a:pPr>
            <a:r>
              <a:rPr lang="en-US" sz="4800" b="1" dirty="0">
                <a:solidFill>
                  <a:srgbClr val="059669"/>
                </a:solidFill>
                <a:latin typeface="Trebuchet MS" pitchFamily="34" charset="0"/>
                <a:ea typeface="Trebuchet MS" pitchFamily="34" charset="-122"/>
                <a:cs typeface="Trebuchet MS" pitchFamily="34" charset="-120"/>
              </a:rPr>
              <a:t>12 min</a:t>
            </a:r>
            <a:endParaRPr lang="en-US" sz="48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first prompt to app running in browser</a:t>
            </a:r>
            <a:endParaRPr lang="en-US" sz="900" dirty="0"/>
          </a:p>
        </p:txBody>
      </p:sp>
      <p:sp>
        <p:nvSpPr>
          <p:cNvPr id="19" name="Shape 17"/>
          <p:cNvSpPr/>
          <p:nvPr/>
        </p:nvSpPr>
        <p:spPr>
          <a:xfrm>
            <a:off x="5897880" y="3264408"/>
            <a:ext cx="2788920" cy="27432"/>
          </a:xfrm>
          <a:prstGeom prst="rect">
            <a:avLst/>
          </a:prstGeom>
          <a:solidFill>
            <a:srgbClr val="E2E8F0"/>
          </a:solidFill>
          <a:ln w="12700">
            <a:solidFill>
              <a:srgbClr val="E2E8F0"/>
            </a:solidFill>
            <a:prstDash val="solid"/>
          </a:ln>
        </p:spPr>
      </p:sp>
      <p:sp>
        <p:nvSpPr>
          <p:cNvPr id="20" name="Text 18"/>
          <p:cNvSpPr/>
          <p:nvPr/>
        </p:nvSpPr>
        <p:spPr>
          <a:xfrm>
            <a:off x="5806440" y="3319272"/>
            <a:ext cx="2971800" cy="201168"/>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Manual equivalent</a:t>
            </a:r>
            <a:endParaRPr lang="en-US" sz="800" dirty="0"/>
          </a:p>
        </p:txBody>
      </p:sp>
      <p:sp>
        <p:nvSpPr>
          <p:cNvPr id="21" name="Text 19"/>
          <p:cNvSpPr/>
          <p:nvPr/>
        </p:nvSpPr>
        <p:spPr>
          <a:xfrm>
            <a:off x="5806440" y="3529584"/>
            <a:ext cx="2971800" cy="411480"/>
          </a:xfrm>
          <a:prstGeom prst="rect">
            <a:avLst/>
          </a:prstGeom>
          <a:noFill/>
          <a:ln/>
        </p:spPr>
        <p:txBody>
          <a:bodyPr wrap="square" rtlCol="0" anchor="ctr"/>
          <a:lstStyle/>
          <a:p>
            <a:pPr algn="ctr" indent="0" marL="0">
              <a:buNone/>
            </a:pPr>
            <a:r>
              <a:rPr lang="en-US" sz="2200" b="1" dirty="0">
                <a:solidFill>
                  <a:srgbClr val="DC2626"/>
                </a:solidFill>
                <a:latin typeface="Trebuchet MS" pitchFamily="34" charset="0"/>
                <a:ea typeface="Trebuchet MS" pitchFamily="34" charset="-122"/>
                <a:cs typeface="Trebuchet MS" pitchFamily="34" charset="-120"/>
              </a:rPr>
              <a:t>2–3 days</a:t>
            </a:r>
            <a:endParaRPr lang="en-US" sz="2200" dirty="0"/>
          </a:p>
        </p:txBody>
      </p:sp>
      <p:sp>
        <p:nvSpPr>
          <p:cNvPr id="22" name="Text 20"/>
          <p:cNvSpPr/>
          <p:nvPr/>
        </p:nvSpPr>
        <p:spPr>
          <a:xfrm>
            <a:off x="5806440" y="3959352"/>
            <a:ext cx="2971800" cy="201168"/>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That is not a typo.</a:t>
            </a:r>
            <a:endParaRPr lang="en-US" sz="800" dirty="0"/>
          </a:p>
        </p:txBody>
      </p:sp>
      <p:sp>
        <p:nvSpPr>
          <p:cNvPr id="23" name="Shape 21"/>
          <p:cNvSpPr/>
          <p:nvPr/>
        </p:nvSpPr>
        <p:spPr>
          <a:xfrm>
            <a:off x="0" y="4663440"/>
            <a:ext cx="9144000" cy="475488"/>
          </a:xfrm>
          <a:prstGeom prst="rect">
            <a:avLst/>
          </a:prstGeom>
          <a:solidFill>
            <a:srgbClr val="0F1B2D"/>
          </a:solidFill>
          <a:ln/>
        </p:spPr>
      </p:sp>
      <p:sp>
        <p:nvSpPr>
          <p:cNvPr id="24" name="Text 22"/>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run this live now] — this is the ‘hours to minutes’ shift that changes how FM&amp;I responds to desk requests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Three modes: match the mode to the task complexity</a:t>
            </a:r>
            <a:endParaRPr lang="en-US" sz="3000" dirty="0"/>
          </a:p>
        </p:txBody>
      </p:sp>
      <p:sp>
        <p:nvSpPr>
          <p:cNvPr id="8" name="Shape 6"/>
          <p:cNvSpPr/>
          <p:nvPr/>
        </p:nvSpPr>
        <p:spPr>
          <a:xfrm>
            <a:off x="274320" y="1417320"/>
            <a:ext cx="2651760" cy="260604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891B2"/>
          </a:solidFill>
          <a:ln w="12700">
            <a:solidFill>
              <a:srgbClr val="0891B2"/>
            </a:solidFill>
            <a:prstDash val="solid"/>
          </a:ln>
        </p:spPr>
      </p:sp>
      <p:sp>
        <p:nvSpPr>
          <p:cNvPr id="10" name="Shape 8"/>
          <p:cNvSpPr/>
          <p:nvPr/>
        </p:nvSpPr>
        <p:spPr>
          <a:xfrm>
            <a:off x="2304288" y="1508760"/>
            <a:ext cx="548640" cy="201168"/>
          </a:xfrm>
          <a:prstGeom prst="rect">
            <a:avLst/>
          </a:prstGeom>
          <a:solidFill>
            <a:srgbClr val="0891B2"/>
          </a:solidFill>
          <a:ln w="12700">
            <a:solidFill>
              <a:srgbClr val="0891B2"/>
            </a:solidFill>
            <a:prstDash val="solid"/>
          </a:ln>
        </p:spPr>
      </p:sp>
      <p:sp>
        <p:nvSpPr>
          <p:cNvPr id="11" name="Text 9"/>
          <p:cNvSpPr/>
          <p:nvPr/>
        </p:nvSpPr>
        <p:spPr>
          <a:xfrm>
            <a:off x="230428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QUICK</a:t>
            </a:r>
            <a:endParaRPr lang="en-US" sz="700" dirty="0"/>
          </a:p>
        </p:txBody>
      </p:sp>
      <p:sp>
        <p:nvSpPr>
          <p:cNvPr id="12" name="Text 10"/>
          <p:cNvSpPr/>
          <p:nvPr/>
        </p:nvSpPr>
        <p:spPr>
          <a:xfrm>
            <a:off x="41148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Ask</a:t>
            </a:r>
            <a:endParaRPr lang="en-US" sz="1400" dirty="0"/>
          </a:p>
        </p:txBody>
      </p:sp>
      <p:sp>
        <p:nvSpPr>
          <p:cNvPr id="13" name="Text 11"/>
          <p:cNvSpPr/>
          <p:nvPr/>
        </p:nvSpPr>
        <p:spPr>
          <a:xfrm>
            <a:off x="41148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Single-turn question and answer. The AI reads your context but takes no actions. Use Ask mode for: explaining what an unfamiliar function does, getting a second opinion on a data model design, understanding why a Pandas merge is dropping rows, or learning the correct Dataiku API call for triggering a scenario. The mental model: Ask is the colleague you interrupt with a quick question — no need to pick up where you left off, because there is no state.</a:t>
            </a:r>
            <a:endParaRPr lang="en-US" sz="850" dirty="0"/>
          </a:p>
        </p:txBody>
      </p:sp>
      <p:sp>
        <p:nvSpPr>
          <p:cNvPr id="14" name="Shape 12"/>
          <p:cNvSpPr/>
          <p:nvPr/>
        </p:nvSpPr>
        <p:spPr>
          <a:xfrm>
            <a:off x="3108960" y="1417320"/>
            <a:ext cx="2651760" cy="2606040"/>
          </a:xfrm>
          <a:prstGeom prst="rect">
            <a:avLst/>
          </a:prstGeom>
          <a:solidFill>
            <a:srgbClr val="FFFFFF"/>
          </a:solidFill>
          <a:ln/>
        </p:spPr>
      </p:sp>
      <p:sp>
        <p:nvSpPr>
          <p:cNvPr id="15" name="Shape 13"/>
          <p:cNvSpPr/>
          <p:nvPr/>
        </p:nvSpPr>
        <p:spPr>
          <a:xfrm>
            <a:off x="3108960" y="1417320"/>
            <a:ext cx="2651760" cy="45720"/>
          </a:xfrm>
          <a:prstGeom prst="rect">
            <a:avLst/>
          </a:prstGeom>
          <a:solidFill>
            <a:srgbClr val="2563EB"/>
          </a:solidFill>
          <a:ln w="12700">
            <a:solidFill>
              <a:srgbClr val="2563EB"/>
            </a:solidFill>
            <a:prstDash val="solid"/>
          </a:ln>
        </p:spPr>
      </p:sp>
      <p:sp>
        <p:nvSpPr>
          <p:cNvPr id="16" name="Shape 14"/>
          <p:cNvSpPr/>
          <p:nvPr/>
        </p:nvSpPr>
        <p:spPr>
          <a:xfrm>
            <a:off x="5138928" y="1508760"/>
            <a:ext cx="548640" cy="201168"/>
          </a:xfrm>
          <a:prstGeom prst="rect">
            <a:avLst/>
          </a:prstGeom>
          <a:solidFill>
            <a:srgbClr val="2563EB"/>
          </a:solidFill>
          <a:ln w="12700">
            <a:solidFill>
              <a:srgbClr val="2563EB"/>
            </a:solidFill>
            <a:prstDash val="solid"/>
          </a:ln>
        </p:spPr>
      </p:sp>
      <p:sp>
        <p:nvSpPr>
          <p:cNvPr id="17" name="Text 15"/>
          <p:cNvSpPr/>
          <p:nvPr/>
        </p:nvSpPr>
        <p:spPr>
          <a:xfrm>
            <a:off x="513892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COMPLEX</a:t>
            </a:r>
            <a:endParaRPr lang="en-US" sz="700" dirty="0"/>
          </a:p>
        </p:txBody>
      </p:sp>
      <p:sp>
        <p:nvSpPr>
          <p:cNvPr id="18" name="Text 16"/>
          <p:cNvSpPr/>
          <p:nvPr/>
        </p:nvSpPr>
        <p:spPr>
          <a:xfrm>
            <a:off x="324612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Agent</a:t>
            </a:r>
            <a:endParaRPr lang="en-US" sz="1400" dirty="0"/>
          </a:p>
        </p:txBody>
      </p:sp>
      <p:sp>
        <p:nvSpPr>
          <p:cNvPr id="19" name="Text 17"/>
          <p:cNvSpPr/>
          <p:nvPr/>
        </p:nvSpPr>
        <p:spPr>
          <a:xfrm>
            <a:off x="324612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Multi-step autonomous execution. Give a goal, the agent plans and executes across your codebase. Use Agent mode for: implementing a feature that touches 5+ files, debugging a production issue by reading logs and tracing the call stack, writing a comprehensive test suite, or adding docstrings to every function in a recipe. FM&amp;I use case: “add data quality validation to the gas pricing ELT pipeline” — Agent plans the changes across all affected recipes, implements them, runs existing tests.</a:t>
            </a:r>
            <a:endParaRPr lang="en-US" sz="850" dirty="0"/>
          </a:p>
        </p:txBody>
      </p:sp>
      <p:sp>
        <p:nvSpPr>
          <p:cNvPr id="20" name="Shape 18"/>
          <p:cNvSpPr/>
          <p:nvPr/>
        </p:nvSpPr>
        <p:spPr>
          <a:xfrm>
            <a:off x="5943600" y="1417320"/>
            <a:ext cx="2651760" cy="2606040"/>
          </a:xfrm>
          <a:prstGeom prst="rect">
            <a:avLst/>
          </a:prstGeom>
          <a:solidFill>
            <a:srgbClr val="FFFFFF"/>
          </a:solidFill>
          <a:ln/>
        </p:spPr>
      </p:sp>
      <p:sp>
        <p:nvSpPr>
          <p:cNvPr id="21" name="Shape 19"/>
          <p:cNvSpPr/>
          <p:nvPr/>
        </p:nvSpPr>
        <p:spPr>
          <a:xfrm>
            <a:off x="5943600" y="1417320"/>
            <a:ext cx="2651760" cy="45720"/>
          </a:xfrm>
          <a:prstGeom prst="rect">
            <a:avLst/>
          </a:prstGeom>
          <a:solidFill>
            <a:srgbClr val="7C3AED"/>
          </a:solidFill>
          <a:ln w="12700">
            <a:solidFill>
              <a:srgbClr val="7C3AED"/>
            </a:solidFill>
            <a:prstDash val="solid"/>
          </a:ln>
        </p:spPr>
      </p:sp>
      <p:sp>
        <p:nvSpPr>
          <p:cNvPr id="22" name="Shape 20"/>
          <p:cNvSpPr/>
          <p:nvPr/>
        </p:nvSpPr>
        <p:spPr>
          <a:xfrm>
            <a:off x="7973568" y="1508760"/>
            <a:ext cx="548640" cy="201168"/>
          </a:xfrm>
          <a:prstGeom prst="rect">
            <a:avLst/>
          </a:prstGeom>
          <a:solidFill>
            <a:srgbClr val="7C3AED"/>
          </a:solidFill>
          <a:ln w="12700">
            <a:solidFill>
              <a:srgbClr val="7C3AED"/>
            </a:solidFill>
            <a:prstDash val="solid"/>
          </a:ln>
        </p:spPr>
      </p:sp>
      <p:sp>
        <p:nvSpPr>
          <p:cNvPr id="23" name="Text 21"/>
          <p:cNvSpPr/>
          <p:nvPr/>
        </p:nvSpPr>
        <p:spPr>
          <a:xfrm>
            <a:off x="797356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SAFE</a:t>
            </a:r>
            <a:endParaRPr lang="en-US" sz="700" dirty="0"/>
          </a:p>
        </p:txBody>
      </p:sp>
      <p:sp>
        <p:nvSpPr>
          <p:cNvPr id="24" name="Text 22"/>
          <p:cNvSpPr/>
          <p:nvPr/>
        </p:nvSpPr>
        <p:spPr>
          <a:xfrm>
            <a:off x="608076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Plan</a:t>
            </a:r>
            <a:endParaRPr lang="en-US" sz="1400" dirty="0"/>
          </a:p>
        </p:txBody>
      </p:sp>
      <p:sp>
        <p:nvSpPr>
          <p:cNvPr id="25" name="Text 23"/>
          <p:cNvSpPr/>
          <p:nvPr/>
        </p:nvSpPr>
        <p:spPr>
          <a:xfrm>
            <a:off x="608076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AI proposes a complete plan of changes and waits for approval before executing anything. Use Plan mode when: touching a production pipeline, working in an unfamiliar codebase and wanting to understand scope before changes are made, or when a wrong first step could compound into a large rollback. FM&amp;I use case: “migrate the VaR calculation from the legacy module to the new risk framework” — Plan shows every file that changes before writing a single line.</a:t>
            </a:r>
            <a:endParaRPr lang="en-US" sz="850" dirty="0"/>
          </a:p>
        </p:txBody>
      </p:sp>
      <p:sp>
        <p:nvSpPr>
          <p:cNvPr id="26" name="Shape 24"/>
          <p:cNvSpPr/>
          <p:nvPr/>
        </p:nvSpPr>
        <p:spPr>
          <a:xfrm>
            <a:off x="0" y="4663440"/>
            <a:ext cx="9144000" cy="475488"/>
          </a:xfrm>
          <a:prstGeom prst="rect">
            <a:avLst/>
          </a:prstGeom>
          <a:solidFill>
            <a:srgbClr val="0F1B2D"/>
          </a:solidFill>
          <a:ln/>
        </p:spPr>
      </p:sp>
      <p:sp>
        <p:nvSpPr>
          <p:cNvPr id="27" name="Text 2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Ask for questions, Agent for tasks, Plan when the stakes are high — this single habit change 3× the value of either tool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PROMPTING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Better prompts = better output — here’s the formula</a:t>
            </a:r>
            <a:endParaRPr lang="en-US" sz="3000" dirty="0"/>
          </a:p>
        </p:txBody>
      </p:sp>
      <p:sp>
        <p:nvSpPr>
          <p:cNvPr id="8" name="Shape 6"/>
          <p:cNvSpPr/>
          <p:nvPr/>
        </p:nvSpPr>
        <p:spPr>
          <a:xfrm>
            <a:off x="274320" y="1325880"/>
            <a:ext cx="4114800" cy="694944"/>
          </a:xfrm>
          <a:prstGeom prst="rect">
            <a:avLst/>
          </a:prstGeom>
          <a:solidFill>
            <a:srgbClr val="FFFFFF"/>
          </a:solidFill>
          <a:ln/>
        </p:spPr>
      </p:sp>
      <p:sp>
        <p:nvSpPr>
          <p:cNvPr id="9" name="Shape 7"/>
          <p:cNvSpPr/>
          <p:nvPr/>
        </p:nvSpPr>
        <p:spPr>
          <a:xfrm>
            <a:off x="274320" y="1325880"/>
            <a:ext cx="45720" cy="694944"/>
          </a:xfrm>
          <a:prstGeom prst="rect">
            <a:avLst/>
          </a:prstGeom>
          <a:solidFill>
            <a:srgbClr val="059669"/>
          </a:solidFill>
          <a:ln w="12700">
            <a:solidFill>
              <a:srgbClr val="059669"/>
            </a:solidFill>
            <a:prstDash val="solid"/>
          </a:ln>
        </p:spPr>
      </p:sp>
      <p:sp>
        <p:nvSpPr>
          <p:cNvPr id="10" name="Text 8"/>
          <p:cNvSpPr/>
          <p:nvPr/>
        </p:nvSpPr>
        <p:spPr>
          <a:xfrm>
            <a:off x="411480" y="1371600"/>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Be specific about context</a:t>
            </a:r>
            <a:endParaRPr lang="en-US" sz="950" dirty="0"/>
          </a:p>
        </p:txBody>
      </p:sp>
      <p:sp>
        <p:nvSpPr>
          <p:cNvPr id="11" name="Text 9"/>
          <p:cNvSpPr/>
          <p:nvPr/>
        </p:nvSpPr>
        <p:spPr>
          <a:xfrm>
            <a:off x="411480" y="1591056"/>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Include the specific framework, data shape, and expected output format in every prompt. “Optimise this function” produces generic output. “Optimise this Pandas aggregation for a 500k-row gas pricing dataset, targeting a 5× speedup, without changing the output schema” produces a solution you can use. Context specificity is the single highest-leverage prompt improvement.</a:t>
            </a:r>
            <a:endParaRPr lang="en-US" sz="800" dirty="0"/>
          </a:p>
        </p:txBody>
      </p:sp>
      <p:sp>
        <p:nvSpPr>
          <p:cNvPr id="12" name="Shape 10"/>
          <p:cNvSpPr/>
          <p:nvPr/>
        </p:nvSpPr>
        <p:spPr>
          <a:xfrm>
            <a:off x="274320" y="2084832"/>
            <a:ext cx="4114800" cy="694944"/>
          </a:xfrm>
          <a:prstGeom prst="rect">
            <a:avLst/>
          </a:prstGeom>
          <a:solidFill>
            <a:srgbClr val="FFFFFF"/>
          </a:solidFill>
          <a:ln/>
        </p:spPr>
      </p:sp>
      <p:sp>
        <p:nvSpPr>
          <p:cNvPr id="13" name="Shape 11"/>
          <p:cNvSpPr/>
          <p:nvPr/>
        </p:nvSpPr>
        <p:spPr>
          <a:xfrm>
            <a:off x="274320" y="2084832"/>
            <a:ext cx="45720" cy="694944"/>
          </a:xfrm>
          <a:prstGeom prst="rect">
            <a:avLst/>
          </a:prstGeom>
          <a:solidFill>
            <a:srgbClr val="059669"/>
          </a:solidFill>
          <a:ln w="12700">
            <a:solidFill>
              <a:srgbClr val="059669"/>
            </a:solidFill>
            <a:prstDash val="solid"/>
          </a:ln>
        </p:spPr>
      </p:sp>
      <p:sp>
        <p:nvSpPr>
          <p:cNvPr id="14" name="Text 12"/>
          <p:cNvSpPr/>
          <p:nvPr/>
        </p:nvSpPr>
        <p:spPr>
          <a:xfrm>
            <a:off x="411480" y="2130552"/>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State constraints explicitly</a:t>
            </a:r>
            <a:endParaRPr lang="en-US" sz="950" dirty="0"/>
          </a:p>
        </p:txBody>
      </p:sp>
      <p:sp>
        <p:nvSpPr>
          <p:cNvPr id="15" name="Text 13"/>
          <p:cNvSpPr/>
          <p:nvPr/>
        </p:nvSpPr>
        <p:spPr>
          <a:xfrm>
            <a:off x="411480" y="2350008"/>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Enumerate what you cannot change: “use pandas not polars — this runs in a Dataiku Python 3.8 environment,” “output must be a dictionary keyed by hub name not a DataFrame,” “do not modify the function signature — it is called by 12 downstream recipes.” Constraints prevent the AI from producing a technically correct but practically useless solution.</a:t>
            </a:r>
            <a:endParaRPr lang="en-US" sz="800" dirty="0"/>
          </a:p>
        </p:txBody>
      </p:sp>
      <p:sp>
        <p:nvSpPr>
          <p:cNvPr id="16" name="Shape 14"/>
          <p:cNvSpPr/>
          <p:nvPr/>
        </p:nvSpPr>
        <p:spPr>
          <a:xfrm>
            <a:off x="274320" y="2843784"/>
            <a:ext cx="4114800" cy="694944"/>
          </a:xfrm>
          <a:prstGeom prst="rect">
            <a:avLst/>
          </a:prstGeom>
          <a:solidFill>
            <a:srgbClr val="FFFFFF"/>
          </a:solidFill>
          <a:ln/>
        </p:spPr>
      </p:sp>
      <p:sp>
        <p:nvSpPr>
          <p:cNvPr id="17" name="Shape 15"/>
          <p:cNvSpPr/>
          <p:nvPr/>
        </p:nvSpPr>
        <p:spPr>
          <a:xfrm>
            <a:off x="274320" y="2843784"/>
            <a:ext cx="45720" cy="694944"/>
          </a:xfrm>
          <a:prstGeom prst="rect">
            <a:avLst/>
          </a:prstGeom>
          <a:solidFill>
            <a:srgbClr val="059669"/>
          </a:solidFill>
          <a:ln w="12700">
            <a:solidFill>
              <a:srgbClr val="059669"/>
            </a:solidFill>
            <a:prstDash val="solid"/>
          </a:ln>
        </p:spPr>
      </p:sp>
      <p:sp>
        <p:nvSpPr>
          <p:cNvPr id="18" name="Text 16"/>
          <p:cNvSpPr/>
          <p:nvPr/>
        </p:nvSpPr>
        <p:spPr>
          <a:xfrm>
            <a:off x="411480" y="28895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Use the LLM to improve your prompt</a:t>
            </a:r>
            <a:endParaRPr lang="en-US" sz="950" dirty="0"/>
          </a:p>
        </p:txBody>
      </p:sp>
      <p:sp>
        <p:nvSpPr>
          <p:cNvPr id="19" name="Text 17"/>
          <p:cNvSpPr/>
          <p:nvPr/>
        </p:nvSpPr>
        <p:spPr>
          <a:xfrm>
            <a:off x="411480" y="3108960"/>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Type your rough prompt, then ask: “Rewrite this prompt to be clearer and more likely to produce the output I need, without changing the core task.” The improved prompt consistently outperforms your original. This takes 30 seconds and routinely saves 15 minutes of iteration — it is not laziness but using the tool’s strength to improve your tool use.</a:t>
            </a:r>
            <a:endParaRPr lang="en-US" sz="800" dirty="0"/>
          </a:p>
        </p:txBody>
      </p:sp>
      <p:sp>
        <p:nvSpPr>
          <p:cNvPr id="20" name="Shape 18"/>
          <p:cNvSpPr/>
          <p:nvPr/>
        </p:nvSpPr>
        <p:spPr>
          <a:xfrm>
            <a:off x="274320" y="3602736"/>
            <a:ext cx="4114800" cy="694944"/>
          </a:xfrm>
          <a:prstGeom prst="rect">
            <a:avLst/>
          </a:prstGeom>
          <a:solidFill>
            <a:srgbClr val="FFFFFF"/>
          </a:solidFill>
          <a:ln/>
        </p:spPr>
      </p:sp>
      <p:sp>
        <p:nvSpPr>
          <p:cNvPr id="21" name="Shape 19"/>
          <p:cNvSpPr/>
          <p:nvPr/>
        </p:nvSpPr>
        <p:spPr>
          <a:xfrm>
            <a:off x="274320" y="3602736"/>
            <a:ext cx="45720" cy="694944"/>
          </a:xfrm>
          <a:prstGeom prst="rect">
            <a:avLst/>
          </a:prstGeom>
          <a:solidFill>
            <a:srgbClr val="059669"/>
          </a:solidFill>
          <a:ln w="12700">
            <a:solidFill>
              <a:srgbClr val="059669"/>
            </a:solidFill>
            <a:prstDash val="solid"/>
          </a:ln>
        </p:spPr>
      </p:sp>
      <p:sp>
        <p:nvSpPr>
          <p:cNvPr id="22" name="Text 20"/>
          <p:cNvSpPr/>
          <p:nvPr/>
        </p:nvSpPr>
        <p:spPr>
          <a:xfrm>
            <a:off x="411480" y="3648456"/>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your common prompts</a:t>
            </a:r>
            <a:endParaRPr lang="en-US" sz="950" dirty="0"/>
          </a:p>
        </p:txBody>
      </p:sp>
      <p:sp>
        <p:nvSpPr>
          <p:cNvPr id="23" name="Text 21"/>
          <p:cNvSpPr/>
          <p:nvPr/>
        </p:nvSpPr>
        <p:spPr>
          <a:xfrm>
            <a:off x="411480" y="3867912"/>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Store your best prompts in .cursorrules or .github/copilot-instructions.md so they are available as project context on every session. The FM&amp;I template: “Context: [what the pipeline/model does]. Task: [specific action]. Constraints: [language, framework, output format, what cannot change]. Verification: [how to check correctness].”</a:t>
            </a:r>
            <a:endParaRPr lang="en-US" sz="800" dirty="0"/>
          </a:p>
        </p:txBody>
      </p:sp>
      <p:sp>
        <p:nvSpPr>
          <p:cNvPr id="24" name="Shape 22"/>
          <p:cNvSpPr/>
          <p:nvPr/>
        </p:nvSpPr>
        <p:spPr>
          <a:xfrm>
            <a:off x="4663440" y="1325880"/>
            <a:ext cx="4206240" cy="3063240"/>
          </a:xfrm>
          <a:prstGeom prst="rect">
            <a:avLst/>
          </a:prstGeom>
          <a:solidFill>
            <a:srgbClr val="1A1A2E"/>
          </a:solidFill>
          <a:ln w="12700">
            <a:solidFill>
              <a:srgbClr val="1A1A2E"/>
            </a:solidFill>
            <a:prstDash val="solid"/>
          </a:ln>
        </p:spPr>
      </p:sp>
      <p:sp>
        <p:nvSpPr>
          <p:cNvPr id="25" name="Shape 23"/>
          <p:cNvSpPr/>
          <p:nvPr/>
        </p:nvSpPr>
        <p:spPr>
          <a:xfrm>
            <a:off x="4663440" y="1325880"/>
            <a:ext cx="4206240" cy="292608"/>
          </a:xfrm>
          <a:prstGeom prst="rect">
            <a:avLst/>
          </a:prstGeom>
          <a:solidFill>
            <a:srgbClr val="2D3748"/>
          </a:solidFill>
          <a:ln w="12700">
            <a:solidFill>
              <a:srgbClr val="2D3748"/>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prompt template</a:t>
            </a:r>
            <a:endParaRPr lang="en-US" sz="900" dirty="0"/>
          </a:p>
        </p:txBody>
      </p:sp>
      <p:sp>
        <p:nvSpPr>
          <p:cNvPr id="27" name="Text 25"/>
          <p:cNvSpPr/>
          <p:nvPr/>
        </p:nvSpPr>
        <p:spPr>
          <a:xfrm>
            <a:off x="4846320" y="1691640"/>
            <a:ext cx="3840480" cy="2606040"/>
          </a:xfrm>
          <a:prstGeom prst="rect">
            <a:avLst/>
          </a:prstGeom>
          <a:noFill/>
          <a:ln/>
        </p:spPr>
        <p:txBody>
          <a:bodyPr wrap="none" rtlCol="0" anchor="t"/>
          <a:lstStyle/>
          <a:p>
            <a:pPr algn="l" indent="0" marL="0">
              <a:buNone/>
            </a:pPr>
            <a:r>
              <a:rPr lang="en-US" sz="800" dirty="0">
                <a:solidFill>
                  <a:srgbClr val="0D9488"/>
                </a:solidFill>
                <a:latin typeface="Courier New" pitchFamily="34" charset="0"/>
                <a:ea typeface="Courier New" pitchFamily="34" charset="-122"/>
                <a:cs typeface="Courier New" pitchFamily="34" charset="-120"/>
              </a:rPr>
              <a:t>Context:</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pipeline/model does and</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data looks like]</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Task:</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[specific action to perform]</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Constraints:</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Python 3.8 / Dataiku DSS env</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Output format: [schema / type]</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Must not change: [function sig]</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Verification:</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[how to check the output is correct]</a:t>
            </a:r>
            <a:endParaRPr lang="en-US" sz="8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_p-presentation-creator repo is a live example: CLAUDE.md + agents + skills = consistent AI output on every run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Both tools are shipping major capability upgrades in 2026</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GitHub Copilot 2026</a:t>
            </a:r>
            <a:endParaRPr lang="en-US" sz="1100" dirty="0"/>
          </a:p>
        </p:txBody>
      </p:sp>
      <p:sp>
        <p:nvSpPr>
          <p:cNvPr id="11" name="Text 9"/>
          <p:cNvSpPr/>
          <p:nvPr/>
        </p:nvSpPr>
        <p:spPr>
          <a:xfrm>
            <a:off x="411480" y="1709928"/>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Q1:</a:t>
            </a:r>
            <a:endParaRPr lang="en-US" sz="900" dirty="0"/>
          </a:p>
        </p:txBody>
      </p:sp>
      <p:sp>
        <p:nvSpPr>
          <p:cNvPr id="12" name="Text 10"/>
          <p:cNvSpPr/>
          <p:nvPr/>
        </p:nvSpPr>
        <p:spPr>
          <a:xfrm>
            <a:off x="78638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Extensions: tool calling that connects to external services. For FM&amp;I: Copilot chat can query your Dataiku scenario status without leaving VS Code, using MCP-style integration.</a:t>
            </a:r>
            <a:endParaRPr lang="en-US" sz="850" dirty="0"/>
          </a:p>
        </p:txBody>
      </p:sp>
      <p:sp>
        <p:nvSpPr>
          <p:cNvPr id="13" name="Text 11"/>
          <p:cNvSpPr/>
          <p:nvPr/>
        </p:nvSpPr>
        <p:spPr>
          <a:xfrm>
            <a:off x="411480" y="2295144"/>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Q2:</a:t>
            </a:r>
            <a:endParaRPr lang="en-US" sz="900" dirty="0"/>
          </a:p>
        </p:txBody>
      </p:sp>
      <p:sp>
        <p:nvSpPr>
          <p:cNvPr id="14" name="Text 12"/>
          <p:cNvSpPr/>
          <p:nvPr/>
        </p:nvSpPr>
        <p:spPr>
          <a:xfrm>
            <a:off x="78638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CLI GA: natural language terminal commands. Type what you want in English, Copilot CLI writes the shell command. Useful for Dataiku CLI operations and complex git workflows.</a:t>
            </a:r>
            <a:endParaRPr lang="en-US" sz="850" dirty="0"/>
          </a:p>
        </p:txBody>
      </p:sp>
      <p:sp>
        <p:nvSpPr>
          <p:cNvPr id="15" name="Text 13"/>
          <p:cNvSpPr/>
          <p:nvPr/>
        </p:nvSpPr>
        <p:spPr>
          <a:xfrm>
            <a:off x="411480" y="2880360"/>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Q3:</a:t>
            </a:r>
            <a:endParaRPr lang="en-US" sz="900" dirty="0"/>
          </a:p>
        </p:txBody>
      </p:sp>
      <p:sp>
        <p:nvSpPr>
          <p:cNvPr id="16" name="Text 14"/>
          <p:cNvSpPr/>
          <p:nvPr/>
        </p:nvSpPr>
        <p:spPr>
          <a:xfrm>
            <a:off x="78638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Multi-file autonomous edits without per-step approval. Currently, Copilot Edit mode requires review of each change. Q3 enables ‘apply all’ for trusted agent sessions — closer to Cursor’s agent mode.</a:t>
            </a:r>
            <a:endParaRPr lang="en-US" sz="850" dirty="0"/>
          </a:p>
        </p:txBody>
      </p:sp>
      <p:sp>
        <p:nvSpPr>
          <p:cNvPr id="17" name="Text 15"/>
          <p:cNvSpPr/>
          <p:nvPr/>
        </p:nvSpPr>
        <p:spPr>
          <a:xfrm>
            <a:off x="411480" y="3465576"/>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Q4:</a:t>
            </a:r>
            <a:endParaRPr lang="en-US" sz="900" dirty="0"/>
          </a:p>
        </p:txBody>
      </p:sp>
      <p:sp>
        <p:nvSpPr>
          <p:cNvPr id="18" name="Text 16"/>
          <p:cNvSpPr/>
          <p:nvPr/>
        </p:nvSpPr>
        <p:spPr>
          <a:xfrm>
            <a:off x="78638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pre-PR review agent — flags issues in your code before you raise the pull request, reducing review cycle time and catching regressions that would otherwise reach code review.</a:t>
            </a:r>
            <a:endParaRPr lang="en-US" sz="850" dirty="0"/>
          </a:p>
        </p:txBody>
      </p:sp>
      <p:sp>
        <p:nvSpPr>
          <p:cNvPr id="19" name="Shape 17"/>
          <p:cNvSpPr/>
          <p:nvPr/>
        </p:nvSpPr>
        <p:spPr>
          <a:xfrm>
            <a:off x="4663440" y="1325880"/>
            <a:ext cx="4160520" cy="3063240"/>
          </a:xfrm>
          <a:prstGeom prst="rect">
            <a:avLst/>
          </a:prstGeom>
          <a:solidFill>
            <a:srgbClr val="FFFFFF"/>
          </a:solidFill>
          <a:ln/>
        </p:spPr>
      </p:sp>
      <p:sp>
        <p:nvSpPr>
          <p:cNvPr id="20" name="Shape 18"/>
          <p:cNvSpPr/>
          <p:nvPr/>
        </p:nvSpPr>
        <p:spPr>
          <a:xfrm>
            <a:off x="4663440" y="1325880"/>
            <a:ext cx="4160520" cy="292608"/>
          </a:xfrm>
          <a:prstGeom prst="rect">
            <a:avLst/>
          </a:prstGeom>
          <a:solidFill>
            <a:srgbClr val="059669"/>
          </a:solidFill>
          <a:ln w="12700">
            <a:solidFill>
              <a:srgbClr val="059669"/>
            </a:solidFill>
            <a:prstDash val="solid"/>
          </a:ln>
        </p:spPr>
      </p:sp>
      <p:sp>
        <p:nvSpPr>
          <p:cNvPr id="21" name="Text 19"/>
          <p:cNvSpPr/>
          <p:nvPr/>
        </p:nvSpPr>
        <p:spPr>
          <a:xfrm>
            <a:off x="480060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Cursor 2026</a:t>
            </a:r>
            <a:endParaRPr lang="en-US" sz="1100" dirty="0"/>
          </a:p>
        </p:txBody>
      </p:sp>
      <p:sp>
        <p:nvSpPr>
          <p:cNvPr id="22" name="Text 20"/>
          <p:cNvSpPr/>
          <p:nvPr/>
        </p:nvSpPr>
        <p:spPr>
          <a:xfrm>
            <a:off x="4800600" y="1709928"/>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Q1:</a:t>
            </a:r>
            <a:endParaRPr lang="en-US" sz="900" dirty="0"/>
          </a:p>
        </p:txBody>
      </p:sp>
      <p:sp>
        <p:nvSpPr>
          <p:cNvPr id="23" name="Text 21"/>
          <p:cNvSpPr/>
          <p:nvPr/>
        </p:nvSpPr>
        <p:spPr>
          <a:xfrm>
            <a:off x="517550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Teams: shared .cursorrules and agent coordination across the whole team. Every FM&amp;I engineer starts each session with the same project context, conventions, and shared prompt templates — no individual setup required.</a:t>
            </a:r>
            <a:endParaRPr lang="en-US" sz="850" dirty="0"/>
          </a:p>
        </p:txBody>
      </p:sp>
      <p:sp>
        <p:nvSpPr>
          <p:cNvPr id="24" name="Text 22"/>
          <p:cNvSpPr/>
          <p:nvPr/>
        </p:nvSpPr>
        <p:spPr>
          <a:xfrm>
            <a:off x="4800600" y="2295144"/>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Q2:</a:t>
            </a:r>
            <a:endParaRPr lang="en-US" sz="900" dirty="0"/>
          </a:p>
        </p:txBody>
      </p:sp>
      <p:sp>
        <p:nvSpPr>
          <p:cNvPr id="25" name="Text 23"/>
          <p:cNvSpPr/>
          <p:nvPr/>
        </p:nvSpPr>
        <p:spPr>
          <a:xfrm>
            <a:off x="517550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Background agents on cloud: submit long-running tasks and they run even when your laptop is closed. Submit a large-scale ELT refactor overnight and review the completed result in the morning.</a:t>
            </a:r>
            <a:endParaRPr lang="en-US" sz="850" dirty="0"/>
          </a:p>
        </p:txBody>
      </p:sp>
      <p:sp>
        <p:nvSpPr>
          <p:cNvPr id="26" name="Text 24"/>
          <p:cNvSpPr/>
          <p:nvPr/>
        </p:nvSpPr>
        <p:spPr>
          <a:xfrm>
            <a:off x="4800600" y="2880360"/>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Q3:</a:t>
            </a:r>
            <a:endParaRPr lang="en-US" sz="900" dirty="0"/>
          </a:p>
        </p:txBody>
      </p:sp>
      <p:sp>
        <p:nvSpPr>
          <p:cNvPr id="27" name="Text 25"/>
          <p:cNvSpPr/>
          <p:nvPr/>
        </p:nvSpPr>
        <p:spPr>
          <a:xfrm>
            <a:off x="517550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test runner: the agent writes code, immediately runs tests, sees failures, fixes them, and iterates — all in a single autonomous loop. Closes the manual ‘trigger the test run’ step that currently requires human involvement.</a:t>
            </a:r>
            <a:endParaRPr lang="en-US" sz="850" dirty="0"/>
          </a:p>
        </p:txBody>
      </p:sp>
      <p:sp>
        <p:nvSpPr>
          <p:cNvPr id="28" name="Text 26"/>
          <p:cNvSpPr/>
          <p:nvPr/>
        </p:nvSpPr>
        <p:spPr>
          <a:xfrm>
            <a:off x="4800600" y="3465576"/>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Q4:</a:t>
            </a:r>
            <a:endParaRPr lang="en-US" sz="900" dirty="0"/>
          </a:p>
        </p:txBody>
      </p:sp>
      <p:sp>
        <p:nvSpPr>
          <p:cNvPr id="29" name="Text 27"/>
          <p:cNvSpPr/>
          <p:nvPr/>
        </p:nvSpPr>
        <p:spPr>
          <a:xfrm>
            <a:off x="517550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for notebooks: full Jupyter notebook support with agent mode. For FM&amp;I analysts working primarily in Jupyter for model development, this brings the full Cursor agent workflow to notebook-based work.</a:t>
            </a:r>
            <a:endParaRPr lang="en-US" sz="850" dirty="0"/>
          </a:p>
        </p:txBody>
      </p:sp>
      <p:sp>
        <p:nvSpPr>
          <p:cNvPr id="30" name="Shape 28"/>
          <p:cNvSpPr/>
          <p:nvPr/>
        </p:nvSpPr>
        <p:spPr>
          <a:xfrm>
            <a:off x="0" y="4663440"/>
            <a:ext cx="9144000" cy="475488"/>
          </a:xfrm>
          <a:prstGeom prst="rect">
            <a:avLst/>
          </a:prstGeom>
          <a:solidFill>
            <a:srgbClr val="0F1B2D"/>
          </a:solidFill>
          <a:ln/>
        </p:spPr>
      </p:sp>
      <p:sp>
        <p:nvSpPr>
          <p:cNvPr id="31" name="Text 2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Cursor’s cloud background agents (Q2) + GitHub Copilot’s extension ecosystem (Q1) are the two most relevant near-term features for FM&amp;I</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7C3AED"/>
                </a:solidFill>
                <a:latin typeface="Trebuchet MS" pitchFamily="34" charset="0"/>
                <a:ea typeface="Trebuchet MS" pitchFamily="34" charset="-122"/>
                <a:cs typeface="Trebuchet MS" pitchFamily="34" charset="-120"/>
              </a:rPr>
              <a:t>05</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Model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12 months of capability jumps — and how to choose the right model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models you knew a year ago are not the models available today</a:t>
            </a:r>
            <a:endParaRPr lang="en-US" sz="3000" dirty="0"/>
          </a:p>
        </p:txBody>
      </p:sp>
      <p:sp>
        <p:nvSpPr>
          <p:cNvPr id="8" name="Shape 6"/>
          <p:cNvSpPr/>
          <p:nvPr/>
        </p:nvSpPr>
        <p:spPr>
          <a:xfrm>
            <a:off x="274320" y="1664208"/>
            <a:ext cx="8595360" cy="27432"/>
          </a:xfrm>
          <a:prstGeom prst="rect">
            <a:avLst/>
          </a:prstGeom>
          <a:solidFill>
            <a:srgbClr val="E2E8F0"/>
          </a:solidFill>
          <a:ln w="12700">
            <a:solidFill>
              <a:srgbClr val="E2E8F0"/>
            </a:solidFill>
            <a:prstDash val="solid"/>
          </a:ln>
        </p:spPr>
      </p:sp>
      <p:sp>
        <p:nvSpPr>
          <p:cNvPr id="9" name="Shape 7"/>
          <p:cNvSpPr/>
          <p:nvPr/>
        </p:nvSpPr>
        <p:spPr>
          <a:xfrm>
            <a:off x="1060704" y="1600200"/>
            <a:ext cx="146304" cy="146304"/>
          </a:xfrm>
          <a:prstGeom prst="rect">
            <a:avLst/>
          </a:prstGeom>
          <a:solidFill>
            <a:srgbClr val="2563EB"/>
          </a:solidFill>
          <a:ln w="12700">
            <a:solidFill>
              <a:srgbClr val="2563EB"/>
            </a:solidFill>
            <a:prstDash val="solid"/>
          </a:ln>
        </p:spPr>
      </p:sp>
      <p:sp>
        <p:nvSpPr>
          <p:cNvPr id="10" name="Text 8"/>
          <p:cNvSpPr/>
          <p:nvPr/>
        </p:nvSpPr>
        <p:spPr>
          <a:xfrm>
            <a:off x="320040" y="180136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2025</a:t>
            </a:r>
            <a:endParaRPr lang="en-US" sz="800" dirty="0"/>
          </a:p>
        </p:txBody>
      </p:sp>
      <p:sp>
        <p:nvSpPr>
          <p:cNvPr id="11" name="Text 9"/>
          <p:cNvSpPr/>
          <p:nvPr/>
        </p:nvSpPr>
        <p:spPr>
          <a:xfrm>
            <a:off x="320040"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3.5 + GPT-4o</a:t>
            </a:r>
            <a:endParaRPr lang="en-US" sz="800" dirty="0"/>
          </a:p>
        </p:txBody>
      </p:sp>
      <p:sp>
        <p:nvSpPr>
          <p:cNvPr id="12" name="Text 10"/>
          <p:cNvSpPr/>
          <p:nvPr/>
        </p:nvSpPr>
        <p:spPr>
          <a:xfrm>
            <a:off x="320040"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Claude 3.5 Sonnet became the de-facto coding standard — the first model where test generation, documentation, and refactoring reached production quality. GPT-4o’s improved tool use made agentic workflows reliable for professional use. The inflection point for FM&amp;I engineering.</a:t>
            </a:r>
            <a:endParaRPr lang="en-US" sz="750" dirty="0"/>
          </a:p>
        </p:txBody>
      </p:sp>
      <p:sp>
        <p:nvSpPr>
          <p:cNvPr id="13" name="Shape 11"/>
          <p:cNvSpPr/>
          <p:nvPr/>
        </p:nvSpPr>
        <p:spPr>
          <a:xfrm>
            <a:off x="2779776" y="1600200"/>
            <a:ext cx="146304" cy="146304"/>
          </a:xfrm>
          <a:prstGeom prst="rect">
            <a:avLst/>
          </a:prstGeom>
          <a:solidFill>
            <a:srgbClr val="0D9488"/>
          </a:solidFill>
          <a:ln w="12700">
            <a:solidFill>
              <a:srgbClr val="0D9488"/>
            </a:solidFill>
            <a:prstDash val="solid"/>
          </a:ln>
        </p:spPr>
      </p:sp>
      <p:sp>
        <p:nvSpPr>
          <p:cNvPr id="14" name="Text 12"/>
          <p:cNvSpPr/>
          <p:nvPr/>
        </p:nvSpPr>
        <p:spPr>
          <a:xfrm>
            <a:off x="2039112" y="180136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2025</a:t>
            </a:r>
            <a:endParaRPr lang="en-US" sz="800" dirty="0"/>
          </a:p>
        </p:txBody>
      </p:sp>
      <p:sp>
        <p:nvSpPr>
          <p:cNvPr id="15" name="Text 13"/>
          <p:cNvSpPr/>
          <p:nvPr/>
        </p:nvSpPr>
        <p:spPr>
          <a:xfrm>
            <a:off x="2039112"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Gemini 2.0 + Claude 3.7</a:t>
            </a:r>
            <a:endParaRPr lang="en-US" sz="800" dirty="0"/>
          </a:p>
        </p:txBody>
      </p:sp>
      <p:sp>
        <p:nvSpPr>
          <p:cNvPr id="16" name="Text 14"/>
          <p:cNvSpPr/>
          <p:nvPr/>
        </p:nvSpPr>
        <p:spPr>
          <a:xfrm>
            <a:off x="2039112"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Gemini 2.0 made 1M context windows practically usable — entire large Dataiku projects in one context. Claude 3.7 added extended thinking: visible reasoning chains for complex multi-step problems. Both moved the frontier for what was possible in a single AI session.</a:t>
            </a:r>
            <a:endParaRPr lang="en-US" sz="750" dirty="0"/>
          </a:p>
        </p:txBody>
      </p:sp>
      <p:sp>
        <p:nvSpPr>
          <p:cNvPr id="17" name="Shape 15"/>
          <p:cNvSpPr/>
          <p:nvPr/>
        </p:nvSpPr>
        <p:spPr>
          <a:xfrm>
            <a:off x="4498848" y="1600200"/>
            <a:ext cx="146304" cy="146304"/>
          </a:xfrm>
          <a:prstGeom prst="rect">
            <a:avLst/>
          </a:prstGeom>
          <a:solidFill>
            <a:srgbClr val="059669"/>
          </a:solidFill>
          <a:ln w="12700">
            <a:solidFill>
              <a:srgbClr val="059669"/>
            </a:solidFill>
            <a:prstDash val="solid"/>
          </a:ln>
        </p:spPr>
      </p:sp>
      <p:sp>
        <p:nvSpPr>
          <p:cNvPr id="18" name="Text 16"/>
          <p:cNvSpPr/>
          <p:nvPr/>
        </p:nvSpPr>
        <p:spPr>
          <a:xfrm>
            <a:off x="3758184" y="180136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2025</a:t>
            </a:r>
            <a:endParaRPr lang="en-US" sz="800" dirty="0"/>
          </a:p>
        </p:txBody>
      </p:sp>
      <p:sp>
        <p:nvSpPr>
          <p:cNvPr id="19" name="Text 17"/>
          <p:cNvSpPr/>
          <p:nvPr/>
        </p:nvSpPr>
        <p:spPr>
          <a:xfrm>
            <a:off x="3758184"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o3 + Llama 3.3</a:t>
            </a:r>
            <a:endParaRPr lang="en-US" sz="800" dirty="0"/>
          </a:p>
        </p:txBody>
      </p:sp>
      <p:sp>
        <p:nvSpPr>
          <p:cNvPr id="20" name="Text 18"/>
          <p:cNvSpPr/>
          <p:nvPr/>
        </p:nvSpPr>
        <p:spPr>
          <a:xfrm>
            <a:off x="3758184"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OpenAI’s o3 reasoning model achieved step-change performance on mathematical problems — relevant for statistical methodology questions. Llama 3.3 70B narrowed the open-source quality gap, making local-model workflows genuinely viable for data-sensitive use cases.</a:t>
            </a:r>
            <a:endParaRPr lang="en-US" sz="750" dirty="0"/>
          </a:p>
        </p:txBody>
      </p:sp>
      <p:sp>
        <p:nvSpPr>
          <p:cNvPr id="21" name="Shape 19"/>
          <p:cNvSpPr/>
          <p:nvPr/>
        </p:nvSpPr>
        <p:spPr>
          <a:xfrm>
            <a:off x="6217920" y="1600200"/>
            <a:ext cx="146304" cy="146304"/>
          </a:xfrm>
          <a:prstGeom prst="rect">
            <a:avLst/>
          </a:prstGeom>
          <a:solidFill>
            <a:srgbClr val="D97706"/>
          </a:solidFill>
          <a:ln w="12700">
            <a:solidFill>
              <a:srgbClr val="D97706"/>
            </a:solidFill>
            <a:prstDash val="solid"/>
          </a:ln>
        </p:spPr>
      </p:sp>
      <p:sp>
        <p:nvSpPr>
          <p:cNvPr id="22" name="Text 20"/>
          <p:cNvSpPr/>
          <p:nvPr/>
        </p:nvSpPr>
        <p:spPr>
          <a:xfrm>
            <a:off x="5477256" y="180136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Q4 2025</a:t>
            </a:r>
            <a:endParaRPr lang="en-US" sz="800" dirty="0"/>
          </a:p>
        </p:txBody>
      </p:sp>
      <p:sp>
        <p:nvSpPr>
          <p:cNvPr id="23" name="Text 21"/>
          <p:cNvSpPr/>
          <p:nvPr/>
        </p:nvSpPr>
        <p:spPr>
          <a:xfrm>
            <a:off x="5477256"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Sonnet 4.6</a:t>
            </a:r>
            <a:endParaRPr lang="en-US" sz="800" dirty="0"/>
          </a:p>
        </p:txBody>
      </p:sp>
      <p:sp>
        <p:nvSpPr>
          <p:cNvPr id="24" name="Text 22"/>
          <p:cNvSpPr/>
          <p:nvPr/>
        </p:nvSpPr>
        <p:spPr>
          <a:xfrm>
            <a:off x="5477256"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Current production standard. Coding and instruction-following improvements made it the best daily-driver for FM&amp;I pipeline development — fast enough for interactive sessions, accurate enough for complex transformations, cost-effective for high-frequency use.</a:t>
            </a:r>
            <a:endParaRPr lang="en-US" sz="750" dirty="0"/>
          </a:p>
        </p:txBody>
      </p:sp>
      <p:sp>
        <p:nvSpPr>
          <p:cNvPr id="25" name="Shape 23"/>
          <p:cNvSpPr/>
          <p:nvPr/>
        </p:nvSpPr>
        <p:spPr>
          <a:xfrm>
            <a:off x="7936992" y="1600200"/>
            <a:ext cx="146304" cy="146304"/>
          </a:xfrm>
          <a:prstGeom prst="rect">
            <a:avLst/>
          </a:prstGeom>
          <a:solidFill>
            <a:srgbClr val="7C3AED"/>
          </a:solidFill>
          <a:ln w="12700">
            <a:solidFill>
              <a:srgbClr val="7C3AED"/>
            </a:solidFill>
            <a:prstDash val="solid"/>
          </a:ln>
        </p:spPr>
      </p:sp>
      <p:sp>
        <p:nvSpPr>
          <p:cNvPr id="26" name="Text 24"/>
          <p:cNvSpPr/>
          <p:nvPr/>
        </p:nvSpPr>
        <p:spPr>
          <a:xfrm>
            <a:off x="7196328" y="180136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Q1 2026</a:t>
            </a:r>
            <a:endParaRPr lang="en-US" sz="800" dirty="0"/>
          </a:p>
        </p:txBody>
      </p:sp>
      <p:sp>
        <p:nvSpPr>
          <p:cNvPr id="27" name="Text 25"/>
          <p:cNvSpPr/>
          <p:nvPr/>
        </p:nvSpPr>
        <p:spPr>
          <a:xfrm>
            <a:off x="7196328"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Opus 4.6</a:t>
            </a:r>
            <a:endParaRPr lang="en-US" sz="800" dirty="0"/>
          </a:p>
        </p:txBody>
      </p:sp>
      <p:sp>
        <p:nvSpPr>
          <p:cNvPr id="28" name="Text 26"/>
          <p:cNvSpPr/>
          <p:nvPr/>
        </p:nvSpPr>
        <p:spPr>
          <a:xfrm>
            <a:off x="7196328"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Frontier reasoning with extended thinking and multimodal improvements. Extended thinking mode enables complex statistical model debugging — the kind where you trace through 5 interacting components — with visible reasoning steps. The first model for architecture-level FM&amp;I problems.</a:t>
            </a:r>
            <a:endParaRPr lang="en-US" sz="750" dirty="0"/>
          </a:p>
        </p:txBody>
      </p:sp>
      <p:sp>
        <p:nvSpPr>
          <p:cNvPr id="29" name="Shape 27"/>
          <p:cNvSpPr/>
          <p:nvPr/>
        </p:nvSpPr>
        <p:spPr>
          <a:xfrm>
            <a:off x="0" y="4663440"/>
            <a:ext cx="9144000" cy="475488"/>
          </a:xfrm>
          <a:prstGeom prst="rect">
            <a:avLst/>
          </a:prstGeom>
          <a:solidFill>
            <a:srgbClr val="0F1B2D"/>
          </a:solidFill>
          <a:ln/>
        </p:spPr>
      </p:sp>
      <p:sp>
        <p:nvSpPr>
          <p:cNvPr id="30" name="Text 2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Quality improved 10× in 12 months — the model you tried 12 months ago is not the one you should evaluate today</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Different models excel at different tasks — here is the map</a:t>
            </a:r>
            <a:endParaRPr lang="en-US" sz="3000" dirty="0"/>
          </a:p>
        </p:txBody>
      </p:sp>
      <p:sp>
        <p:nvSpPr>
          <p:cNvPr id="8" name="Shape 6"/>
          <p:cNvSpPr/>
          <p:nvPr/>
        </p:nvSpPr>
        <p:spPr>
          <a:xfrm>
            <a:off x="274320" y="1325880"/>
            <a:ext cx="4023360" cy="1572768"/>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Sonnet 4.6</a:t>
            </a:r>
            <a:endParaRPr lang="en-US" sz="1000" dirty="0"/>
          </a:p>
        </p:txBody>
      </p:sp>
      <p:sp>
        <p:nvSpPr>
          <p:cNvPr id="11" name="Text 9"/>
          <p:cNvSpPr/>
          <p:nvPr/>
        </p:nvSpPr>
        <p:spPr>
          <a:xfrm>
            <a:off x="41148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daily driver for 80% of FM&amp;I coding work. Fast enough for interactive sessions, accurate enough for complex pandas/polars transformations, and at ~$3/M tokens — cost-effective for high-frequency use. Use Sonnet when: building or debugging Dataiku recipes, writing documentation and docstrings, generating test suites, interactive Q&amp;A about your codebase. The sensible default — upgrade only when Sonnet’s output isn’t good enough.</a:t>
            </a:r>
            <a:endParaRPr lang="en-US" sz="850" dirty="0"/>
          </a:p>
        </p:txBody>
      </p:sp>
      <p:sp>
        <p:nvSpPr>
          <p:cNvPr id="12" name="Shape 10"/>
          <p:cNvSpPr/>
          <p:nvPr/>
        </p:nvSpPr>
        <p:spPr>
          <a:xfrm>
            <a:off x="4663440" y="1325880"/>
            <a:ext cx="4023360" cy="1572768"/>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Opus 4.6</a:t>
            </a:r>
            <a:endParaRPr lang="en-US" sz="1000" dirty="0"/>
          </a:p>
        </p:txBody>
      </p:sp>
      <p:sp>
        <p:nvSpPr>
          <p:cNvPr id="15" name="Text 13"/>
          <p:cNvSpPr/>
          <p:nvPr/>
        </p:nvSpPr>
        <p:spPr>
          <a:xfrm>
            <a:off x="480060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Best for problems requiring sustained multi-step reasoning — debugging non-obvious model bugs that require tracing through 5 interacting components, designing a new pipeline architecture from scratch, or synthesising a large body of research to inform a modelling decision. Use Opus when: Sonnet has tried and failed, the problem is genuinely complex, or the stakes are high enough that maximum quality matters more than speed or cost.</a:t>
            </a:r>
            <a:endParaRPr lang="en-US" sz="850" dirty="0"/>
          </a:p>
        </p:txBody>
      </p:sp>
      <p:sp>
        <p:nvSpPr>
          <p:cNvPr id="16" name="Shape 14"/>
          <p:cNvSpPr/>
          <p:nvPr/>
        </p:nvSpPr>
        <p:spPr>
          <a:xfrm>
            <a:off x="274320" y="3017520"/>
            <a:ext cx="4023360" cy="1572768"/>
          </a:xfrm>
          <a:prstGeom prst="rect">
            <a:avLst/>
          </a:prstGeom>
          <a:solidFill>
            <a:srgbClr val="FFFFFF"/>
          </a:solidFill>
          <a:ln/>
        </p:spPr>
      </p:sp>
      <p:sp>
        <p:nvSpPr>
          <p:cNvPr id="17" name="Shape 15"/>
          <p:cNvSpPr/>
          <p:nvPr/>
        </p:nvSpPr>
        <p:spPr>
          <a:xfrm>
            <a:off x="274320" y="3017520"/>
            <a:ext cx="4023360" cy="45720"/>
          </a:xfrm>
          <a:prstGeom prst="rect">
            <a:avLst/>
          </a:prstGeom>
          <a:solidFill>
            <a:srgbClr val="2563EB"/>
          </a:solidFill>
          <a:ln w="12700">
            <a:solidFill>
              <a:srgbClr val="2563EB"/>
            </a:solidFill>
            <a:prstDash val="solid"/>
          </a:ln>
        </p:spPr>
      </p:sp>
      <p:sp>
        <p:nvSpPr>
          <p:cNvPr id="18" name="Text 16"/>
          <p:cNvSpPr/>
          <p:nvPr/>
        </p:nvSpPr>
        <p:spPr>
          <a:xfrm>
            <a:off x="41148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GPT-4o / o3</a:t>
            </a:r>
            <a:endParaRPr lang="en-US" sz="1000" dirty="0"/>
          </a:p>
        </p:txBody>
      </p:sp>
      <p:sp>
        <p:nvSpPr>
          <p:cNvPr id="19" name="Text 17"/>
          <p:cNvSpPr/>
          <p:nvPr/>
        </p:nvSpPr>
        <p:spPr>
          <a:xfrm>
            <a:off x="41148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GPT-4o is strong for multimodal tasks — understanding charts, processing uploaded CSV files via Code Interpreter, and image-based analysis. o3 is purpose-built for mathematical and logical reasoning: use it for complex statistical methodology questions, calibration problems, or anything requiring rigorous numerical reasoning. For FM&amp;I: o3 for half-life estimator methodology questions; GPT-4o for processing uploaded market data files in ChatGPT’s analysis sandbox.</a:t>
            </a:r>
            <a:endParaRPr lang="en-US" sz="850" dirty="0"/>
          </a:p>
        </p:txBody>
      </p:sp>
      <p:sp>
        <p:nvSpPr>
          <p:cNvPr id="20" name="Shape 18"/>
          <p:cNvSpPr/>
          <p:nvPr/>
        </p:nvSpPr>
        <p:spPr>
          <a:xfrm>
            <a:off x="4663440" y="3017520"/>
            <a:ext cx="4023360" cy="1572768"/>
          </a:xfrm>
          <a:prstGeom prst="rect">
            <a:avLst/>
          </a:prstGeom>
          <a:solidFill>
            <a:srgbClr val="FFFFFF"/>
          </a:solidFill>
          <a:ln/>
        </p:spPr>
      </p:sp>
      <p:sp>
        <p:nvSpPr>
          <p:cNvPr id="21" name="Shape 19"/>
          <p:cNvSpPr/>
          <p:nvPr/>
        </p:nvSpPr>
        <p:spPr>
          <a:xfrm>
            <a:off x="4663440" y="3017520"/>
            <a:ext cx="4023360" cy="45720"/>
          </a:xfrm>
          <a:prstGeom prst="rect">
            <a:avLst/>
          </a:prstGeom>
          <a:solidFill>
            <a:srgbClr val="059669"/>
          </a:solidFill>
          <a:ln w="12700">
            <a:solidFill>
              <a:srgbClr val="059669"/>
            </a:solidFill>
            <a:prstDash val="solid"/>
          </a:ln>
        </p:spPr>
      </p:sp>
      <p:sp>
        <p:nvSpPr>
          <p:cNvPr id="22" name="Text 20"/>
          <p:cNvSpPr/>
          <p:nvPr/>
        </p:nvSpPr>
        <p:spPr>
          <a:xfrm>
            <a:off x="480060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Ollama (local models)</a:t>
            </a:r>
            <a:endParaRPr lang="en-US" sz="1000" dirty="0"/>
          </a:p>
        </p:txBody>
      </p:sp>
      <p:sp>
        <p:nvSpPr>
          <p:cNvPr id="23" name="Text 21"/>
          <p:cNvSpPr/>
          <p:nvPr/>
        </p:nvSpPr>
        <p:spPr>
          <a:xfrm>
            <a:off x="480060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only safe option for any input containing proprietary data. Ollama runs Llama 3.3, Mistral, or Phi-4 on your local machine — zero data leaves BP infrastructure. Use Ollama when: the code contains actual model parameters, calibrated coefficients, or position-adjacent data in comments or variable names. Quality is meaningfully below Claude Sonnet but infinitely better than not using AI for data-sensitive work.</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Claude Sonnet for 80% of FM&amp;I tasks — use Opus for complexity, o3 for maths, Ollama for data-sensitive work</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DECISION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 simple decision framework for model selection</a:t>
            </a:r>
            <a:endParaRPr lang="en-US" sz="3000" dirty="0"/>
          </a:p>
        </p:txBody>
      </p:sp>
      <p:sp>
        <p:nvSpPr>
          <p:cNvPr id="8" name="Shape 6"/>
          <p:cNvSpPr/>
          <p:nvPr/>
        </p:nvSpPr>
        <p:spPr>
          <a:xfrm>
            <a:off x="274320" y="1325880"/>
            <a:ext cx="5760720" cy="841248"/>
          </a:xfrm>
          <a:prstGeom prst="rect">
            <a:avLst/>
          </a:prstGeom>
          <a:solidFill>
            <a:srgbClr val="FFFFFF"/>
          </a:solidFill>
          <a:ln/>
        </p:spPr>
      </p:sp>
      <p:sp>
        <p:nvSpPr>
          <p:cNvPr id="9" name="Shape 7"/>
          <p:cNvSpPr/>
          <p:nvPr/>
        </p:nvSpPr>
        <p:spPr>
          <a:xfrm>
            <a:off x="274320" y="1325880"/>
            <a:ext cx="45720" cy="841248"/>
          </a:xfrm>
          <a:prstGeom prst="rect">
            <a:avLst/>
          </a:prstGeom>
          <a:solidFill>
            <a:srgbClr val="7C3AED"/>
          </a:solidFill>
          <a:ln w="12700">
            <a:solidFill>
              <a:srgbClr val="7C3AED"/>
            </a:solidFill>
            <a:prstDash val="solid"/>
          </a:ln>
        </p:spPr>
      </p:sp>
      <p:sp>
        <p:nvSpPr>
          <p:cNvPr id="10" name="Text 8"/>
          <p:cNvSpPr/>
          <p:nvPr/>
        </p:nvSpPr>
        <p:spPr>
          <a:xfrm>
            <a:off x="411480" y="1371600"/>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Q1: Does the task involve sensitive or proprietary data (positions, model parameters, live prices)?</a:t>
            </a:r>
            <a:endParaRPr lang="en-US" sz="850" dirty="0"/>
          </a:p>
        </p:txBody>
      </p:sp>
      <p:sp>
        <p:nvSpPr>
          <p:cNvPr id="11" name="Text 9"/>
          <p:cNvSpPr/>
          <p:nvPr/>
        </p:nvSpPr>
        <p:spPr>
          <a:xfrm>
            <a:off x="411480" y="1728216"/>
            <a:ext cx="685800" cy="329184"/>
          </a:xfrm>
          <a:prstGeom prst="rect">
            <a:avLst/>
          </a:prstGeom>
          <a:noFill/>
          <a:ln/>
        </p:spPr>
        <p:txBody>
          <a:bodyPr wrap="square" rtlCol="0" anchor="t"/>
          <a:lstStyle/>
          <a:p>
            <a:pPr algn="l" indent="0" marL="0">
              <a:buNone/>
            </a:pPr>
            <a:r>
              <a:rPr lang="en-US" sz="850" b="1" dirty="0">
                <a:solidFill>
                  <a:srgbClr val="D97706"/>
                </a:solidFill>
                <a:latin typeface="Calibri" pitchFamily="34" charset="0"/>
                <a:ea typeface="Calibri" pitchFamily="34" charset="-122"/>
                <a:cs typeface="Calibri" pitchFamily="34" charset="-120"/>
              </a:rPr>
              <a:t>Yes →</a:t>
            </a:r>
            <a:endParaRPr lang="en-US" sz="850" dirty="0"/>
          </a:p>
        </p:txBody>
      </p:sp>
      <p:sp>
        <p:nvSpPr>
          <p:cNvPr id="12" name="Text 10"/>
          <p:cNvSpPr/>
          <p:nvPr/>
        </p:nvSpPr>
        <p:spPr>
          <a:xfrm>
            <a:off x="1097280" y="1728216"/>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Ollama local model. Non-negotiable. No cloud model should receive proprietary FM&amp;I data.</a:t>
            </a:r>
            <a:endParaRPr lang="en-US" sz="850" dirty="0"/>
          </a:p>
        </p:txBody>
      </p:sp>
      <p:sp>
        <p:nvSpPr>
          <p:cNvPr id="13" name="Text 11"/>
          <p:cNvSpPr/>
          <p:nvPr/>
        </p:nvSpPr>
        <p:spPr>
          <a:xfrm>
            <a:off x="3177540" y="1728216"/>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14" name="Text 12"/>
          <p:cNvSpPr/>
          <p:nvPr/>
        </p:nvSpPr>
        <p:spPr>
          <a:xfrm>
            <a:off x="3863340" y="1728216"/>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Proceed to Q2</a:t>
            </a:r>
            <a:endParaRPr lang="en-US" sz="850" dirty="0"/>
          </a:p>
        </p:txBody>
      </p:sp>
      <p:sp>
        <p:nvSpPr>
          <p:cNvPr id="15" name="Shape 13"/>
          <p:cNvSpPr/>
          <p:nvPr/>
        </p:nvSpPr>
        <p:spPr>
          <a:xfrm>
            <a:off x="274320" y="2258568"/>
            <a:ext cx="5760720" cy="841248"/>
          </a:xfrm>
          <a:prstGeom prst="rect">
            <a:avLst/>
          </a:prstGeom>
          <a:solidFill>
            <a:srgbClr val="FFFFFF"/>
          </a:solidFill>
          <a:ln/>
        </p:spPr>
      </p:sp>
      <p:sp>
        <p:nvSpPr>
          <p:cNvPr id="16" name="Shape 14"/>
          <p:cNvSpPr/>
          <p:nvPr/>
        </p:nvSpPr>
        <p:spPr>
          <a:xfrm>
            <a:off x="274320" y="2258568"/>
            <a:ext cx="45720" cy="841248"/>
          </a:xfrm>
          <a:prstGeom prst="rect">
            <a:avLst/>
          </a:prstGeom>
          <a:solidFill>
            <a:srgbClr val="7C3AED"/>
          </a:solidFill>
          <a:ln w="12700">
            <a:solidFill>
              <a:srgbClr val="7C3AED"/>
            </a:solidFill>
            <a:prstDash val="solid"/>
          </a:ln>
        </p:spPr>
      </p:sp>
      <p:sp>
        <p:nvSpPr>
          <p:cNvPr id="17" name="Text 15"/>
          <p:cNvSpPr/>
          <p:nvPr/>
        </p:nvSpPr>
        <p:spPr>
          <a:xfrm>
            <a:off x="411480" y="2304288"/>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Q2: Is this an interactive coding task or a batch/agentic workflow running unattended?</a:t>
            </a:r>
            <a:endParaRPr lang="en-US" sz="850" dirty="0"/>
          </a:p>
        </p:txBody>
      </p:sp>
      <p:sp>
        <p:nvSpPr>
          <p:cNvPr id="18" name="Text 16"/>
          <p:cNvSpPr/>
          <p:nvPr/>
        </p:nvSpPr>
        <p:spPr>
          <a:xfrm>
            <a:off x="411480" y="2660904"/>
            <a:ext cx="685800" cy="329184"/>
          </a:xfrm>
          <a:prstGeom prst="rect">
            <a:avLst/>
          </a:prstGeom>
          <a:noFill/>
          <a:ln/>
        </p:spPr>
        <p:txBody>
          <a:bodyPr wrap="square" rtlCol="0" anchor="t"/>
          <a:lstStyle/>
          <a:p>
            <a:pPr algn="l" indent="0" marL="0">
              <a:buNone/>
            </a:pPr>
            <a:r>
              <a:rPr lang="en-US" sz="850" b="1" dirty="0">
                <a:solidFill>
                  <a:srgbClr val="0891B2"/>
                </a:solidFill>
                <a:latin typeface="Calibri" pitchFamily="34" charset="0"/>
                <a:ea typeface="Calibri" pitchFamily="34" charset="-122"/>
                <a:cs typeface="Calibri" pitchFamily="34" charset="-120"/>
              </a:rPr>
              <a:t>Interactive →</a:t>
            </a:r>
            <a:endParaRPr lang="en-US" sz="850" dirty="0"/>
          </a:p>
        </p:txBody>
      </p:sp>
      <p:sp>
        <p:nvSpPr>
          <p:cNvPr id="19" name="Text 17"/>
          <p:cNvSpPr/>
          <p:nvPr/>
        </p:nvSpPr>
        <p:spPr>
          <a:xfrm>
            <a:off x="1097280" y="2660904"/>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Claude Sonnet 4.6. Speed matters; Sonnet is 3-5× faster than Opus for interactive sessions.</a:t>
            </a:r>
            <a:endParaRPr lang="en-US" sz="850" dirty="0"/>
          </a:p>
        </p:txBody>
      </p:sp>
      <p:sp>
        <p:nvSpPr>
          <p:cNvPr id="20" name="Text 18"/>
          <p:cNvSpPr/>
          <p:nvPr/>
        </p:nvSpPr>
        <p:spPr>
          <a:xfrm>
            <a:off x="3177540" y="2660904"/>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Batch →</a:t>
            </a:r>
            <a:endParaRPr lang="en-US" sz="850" dirty="0"/>
          </a:p>
        </p:txBody>
      </p:sp>
      <p:sp>
        <p:nvSpPr>
          <p:cNvPr id="21" name="Text 19"/>
          <p:cNvSpPr/>
          <p:nvPr/>
        </p:nvSpPr>
        <p:spPr>
          <a:xfrm>
            <a:off x="3863340" y="2660904"/>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Opus or o3. Running while you sleep: optimise for quality over latency.</a:t>
            </a:r>
            <a:endParaRPr lang="en-US" sz="850" dirty="0"/>
          </a:p>
        </p:txBody>
      </p:sp>
      <p:sp>
        <p:nvSpPr>
          <p:cNvPr id="22" name="Shape 20"/>
          <p:cNvSpPr/>
          <p:nvPr/>
        </p:nvSpPr>
        <p:spPr>
          <a:xfrm>
            <a:off x="274320" y="3191256"/>
            <a:ext cx="5760720" cy="841248"/>
          </a:xfrm>
          <a:prstGeom prst="rect">
            <a:avLst/>
          </a:prstGeom>
          <a:solidFill>
            <a:srgbClr val="FFFFFF"/>
          </a:solidFill>
          <a:ln/>
        </p:spPr>
      </p:sp>
      <p:sp>
        <p:nvSpPr>
          <p:cNvPr id="23" name="Shape 21"/>
          <p:cNvSpPr/>
          <p:nvPr/>
        </p:nvSpPr>
        <p:spPr>
          <a:xfrm>
            <a:off x="274320" y="3191256"/>
            <a:ext cx="45720" cy="841248"/>
          </a:xfrm>
          <a:prstGeom prst="rect">
            <a:avLst/>
          </a:prstGeom>
          <a:solidFill>
            <a:srgbClr val="7C3AED"/>
          </a:solidFill>
          <a:ln w="12700">
            <a:solidFill>
              <a:srgbClr val="7C3AED"/>
            </a:solidFill>
            <a:prstDash val="solid"/>
          </a:ln>
        </p:spPr>
      </p:sp>
      <p:sp>
        <p:nvSpPr>
          <p:cNvPr id="24" name="Text 22"/>
          <p:cNvSpPr/>
          <p:nvPr/>
        </p:nvSpPr>
        <p:spPr>
          <a:xfrm>
            <a:off x="411480" y="3236976"/>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Q3: Does the task require deep mathematical or statistical reasoning (calibration, complex methodology)?</a:t>
            </a:r>
            <a:endParaRPr lang="en-US" sz="850" dirty="0"/>
          </a:p>
        </p:txBody>
      </p:sp>
      <p:sp>
        <p:nvSpPr>
          <p:cNvPr id="25" name="Text 23"/>
          <p:cNvSpPr/>
          <p:nvPr/>
        </p:nvSpPr>
        <p:spPr>
          <a:xfrm>
            <a:off x="411480" y="3593592"/>
            <a:ext cx="685800" cy="329184"/>
          </a:xfrm>
          <a:prstGeom prst="rect">
            <a:avLst/>
          </a:prstGeom>
          <a:noFill/>
          <a:ln/>
        </p:spPr>
        <p:txBody>
          <a:bodyPr wrap="square" rtlCol="0" anchor="t"/>
          <a:lstStyle/>
          <a:p>
            <a:pPr algn="l" indent="0" marL="0">
              <a:buNone/>
            </a:pPr>
            <a:r>
              <a:rPr lang="en-US" sz="850" b="1" dirty="0">
                <a:solidFill>
                  <a:srgbClr val="0D9488"/>
                </a:solidFill>
                <a:latin typeface="Calibri" pitchFamily="34" charset="0"/>
                <a:ea typeface="Calibri" pitchFamily="34" charset="-122"/>
                <a:cs typeface="Calibri" pitchFamily="34" charset="-120"/>
              </a:rPr>
              <a:t>Yes →</a:t>
            </a:r>
            <a:endParaRPr lang="en-US" sz="850" dirty="0"/>
          </a:p>
        </p:txBody>
      </p:sp>
      <p:sp>
        <p:nvSpPr>
          <p:cNvPr id="26" name="Text 24"/>
          <p:cNvSpPr/>
          <p:nvPr/>
        </p:nvSpPr>
        <p:spPr>
          <a:xfrm>
            <a:off x="1097280" y="3593592"/>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o3 (OpenAI reasoning model). Outperforms all other models on complex mathematical problems.</a:t>
            </a:r>
            <a:endParaRPr lang="en-US" sz="850" dirty="0"/>
          </a:p>
        </p:txBody>
      </p:sp>
      <p:sp>
        <p:nvSpPr>
          <p:cNvPr id="27" name="Text 25"/>
          <p:cNvSpPr/>
          <p:nvPr/>
        </p:nvSpPr>
        <p:spPr>
          <a:xfrm>
            <a:off x="3177540" y="3593592"/>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28" name="Text 26"/>
          <p:cNvSpPr/>
          <p:nvPr/>
        </p:nvSpPr>
        <p:spPr>
          <a:xfrm>
            <a:off x="3863340" y="3593592"/>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Sonnet 4.6. Default and correct for most FM&amp;I coding and analysis tasks.</a:t>
            </a:r>
            <a:endParaRPr lang="en-US" sz="850" dirty="0"/>
          </a:p>
        </p:txBody>
      </p:sp>
      <p:sp>
        <p:nvSpPr>
          <p:cNvPr id="29" name="Shape 27"/>
          <p:cNvSpPr/>
          <p:nvPr/>
        </p:nvSpPr>
        <p:spPr>
          <a:xfrm>
            <a:off x="6217920" y="1325880"/>
            <a:ext cx="2651760" cy="3017520"/>
          </a:xfrm>
          <a:prstGeom prst="rect">
            <a:avLst/>
          </a:prstGeom>
          <a:solidFill>
            <a:srgbClr val="DBEAFE"/>
          </a:solidFill>
          <a:ln/>
        </p:spPr>
      </p:sp>
      <p:sp>
        <p:nvSpPr>
          <p:cNvPr id="30" name="Text 28"/>
          <p:cNvSpPr/>
          <p:nvPr/>
        </p:nvSpPr>
        <p:spPr>
          <a:xfrm>
            <a:off x="6355080" y="1417320"/>
            <a:ext cx="2377440" cy="32004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Approximate cost per 1M tokens (Q1 2026)</a:t>
            </a:r>
            <a:endParaRPr lang="en-US" sz="850" dirty="0"/>
          </a:p>
        </p:txBody>
      </p:sp>
      <p:sp>
        <p:nvSpPr>
          <p:cNvPr id="31" name="Text 29"/>
          <p:cNvSpPr/>
          <p:nvPr/>
        </p:nvSpPr>
        <p:spPr>
          <a:xfrm>
            <a:off x="6355080" y="1828800"/>
            <a:ext cx="2377440" cy="2286000"/>
          </a:xfrm>
          <a:prstGeom prst="rect">
            <a:avLst/>
          </a:prstGeom>
          <a:noFill/>
          <a:ln/>
        </p:spPr>
        <p:txBody>
          <a:bodyPr wrap="none" rtlCol="0" anchor="t"/>
          <a:lstStyle/>
          <a:p>
            <a:pPr algn="l" indent="0" marL="0">
              <a:buNone/>
            </a:pPr>
            <a:r>
              <a:rPr lang="en-US" sz="900" dirty="0">
                <a:solidFill>
                  <a:srgbClr val="1E293B"/>
                </a:solidFill>
                <a:latin typeface="Courier New" pitchFamily="34" charset="0"/>
                <a:ea typeface="Courier New" pitchFamily="34" charset="-122"/>
                <a:cs typeface="Courier New" pitchFamily="34" charset="-120"/>
              </a:rPr>
              <a:t>Opus 4.6:     $15 / $75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Sonnet 4.6:    $3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GPT-4o:        $5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o3:           $10 / $40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Gemini 2.5:  $3.50 / $10.50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Ollama local:  $0 / $0</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Sonnet for daily FM&amp;I work — only upgrade to Opus when the task genuinely demands multi-step reasoning over large context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D97706"/>
                </a:solidFill>
                <a:latin typeface="Trebuchet MS" pitchFamily="34" charset="0"/>
                <a:ea typeface="Trebuchet MS" pitchFamily="34" charset="-122"/>
                <a:cs typeface="Trebuchet MS" pitchFamily="34" charset="-120"/>
              </a:rPr>
              <a:t>06</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Ethics &amp; Compliance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 data can go in, what can’t, and the 5 rules for safe use in FM&amp;I</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data boundary is the most important thing in this session</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59669"/>
          </a:solidFill>
          <a:ln w="12700">
            <a:solidFill>
              <a:srgbClr val="059669"/>
            </a:solidFill>
            <a:prstDash val="solid"/>
          </a:ln>
        </p:spPr>
      </p:sp>
      <p:sp>
        <p:nvSpPr>
          <p:cNvPr id="10" name="Text 8"/>
          <p:cNvSpPr/>
          <p:nvPr/>
        </p:nvSpPr>
        <p:spPr>
          <a:xfrm>
            <a:off x="411480" y="1417320"/>
            <a:ext cx="3886200" cy="274320"/>
          </a:xfrm>
          <a:prstGeom prst="rect">
            <a:avLst/>
          </a:prstGeom>
          <a:noFill/>
          <a:ln/>
        </p:spPr>
        <p:txBody>
          <a:bodyPr wrap="square" rtlCol="0" anchor="t"/>
          <a:lstStyle/>
          <a:p>
            <a:pPr algn="l" indent="0" marL="0">
              <a:buNone/>
            </a:pPr>
            <a:r>
              <a:rPr lang="en-US" sz="1100" b="1" dirty="0">
                <a:solidFill>
                  <a:srgbClr val="059669"/>
                </a:solidFill>
                <a:latin typeface="Trebuchet MS" pitchFamily="34" charset="0"/>
                <a:ea typeface="Trebuchet MS" pitchFamily="34" charset="-122"/>
                <a:cs typeface="Trebuchet MS" pitchFamily="34" charset="-120"/>
              </a:rPr>
              <a:t>✓ SAFE TO USE</a:t>
            </a:r>
            <a:endParaRPr lang="en-US" sz="1100" dirty="0"/>
          </a:p>
        </p:txBody>
      </p:sp>
      <p:sp>
        <p:nvSpPr>
          <p:cNvPr id="11" name="Text 9"/>
          <p:cNvSpPr/>
          <p:nvPr/>
        </p:nvSpPr>
        <p:spPr>
          <a:xfrm>
            <a:off x="41148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Open-source code and generic scripts — code structure and patterns are not proprietary. Asking “how do I optimise this type of loop?” is safe because the technique is separable from the data.</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Anonymised sample data — replace specific hub names, volumes, and prices with generic placeholders before pasting. Structure is safe; real values may not be.</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Public research and academic papers — already public. Summarise, extract, and synthesise freely.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Internal documentation (non-sensitive) — meeting notes, process documents, architecture diagrams that do not contain market-sensitive information or proprietary model details.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Code logic without real values — the structure of your half-life estimator is safer than a version containing calibrated coefficients for a live book.</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DC2626"/>
          </a:solidFill>
          <a:ln w="12700">
            <a:solidFill>
              <a:srgbClr val="DC2626"/>
            </a:solidFill>
            <a:prstDash val="solid"/>
          </a:ln>
        </p:spPr>
      </p:sp>
      <p:sp>
        <p:nvSpPr>
          <p:cNvPr id="14" name="Text 12"/>
          <p:cNvSpPr/>
          <p:nvPr/>
        </p:nvSpPr>
        <p:spPr>
          <a:xfrm>
            <a:off x="4800600" y="1417320"/>
            <a:ext cx="3886200" cy="274320"/>
          </a:xfrm>
          <a:prstGeom prst="rect">
            <a:avLst/>
          </a:prstGeom>
          <a:noFill/>
          <a:ln/>
        </p:spPr>
        <p:txBody>
          <a:bodyPr wrap="square" rtlCol="0" anchor="t"/>
          <a:lstStyle/>
          <a:p>
            <a:pPr algn="l" indent="0" marL="0">
              <a:buNone/>
            </a:pPr>
            <a:r>
              <a:rPr lang="en-US" sz="1100" b="1" dirty="0">
                <a:solidFill>
                  <a:srgbClr val="DC2626"/>
                </a:solidFill>
                <a:latin typeface="Trebuchet MS" pitchFamily="34" charset="0"/>
                <a:ea typeface="Trebuchet MS" pitchFamily="34" charset="-122"/>
                <a:cs typeface="Trebuchet MS" pitchFamily="34" charset="-120"/>
              </a:rPr>
              <a:t>✗ NEVER INPUT</a:t>
            </a:r>
            <a:endParaRPr lang="en-US" sz="1100" dirty="0"/>
          </a:p>
        </p:txBody>
      </p:sp>
      <p:sp>
        <p:nvSpPr>
          <p:cNvPr id="15" name="Text 13"/>
          <p:cNvSpPr/>
          <p:nvPr/>
        </p:nvSpPr>
        <p:spPr>
          <a:xfrm>
            <a:off x="480060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Live trading positions — MIFID II / REMIT territory. Positions submitted to an external AI tool constitute a data security event and potentially a regulatory breach.</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Counterparty names or deal terms — commercially sensitive under NDA and potentially market-sensitive. Even anonymised, patterns in deal terms can be reverse-engineered.</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Proprietary model parameters — calibrated coefficients represent years of analytical work and competitive advantage. They must not leave BP’s infrastructure under any circumstances.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Unpublished price forecasts — qualify as inside information under MAR if they reflect material non-public analysis. External submission is a regulatory risk.</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Anything marked CONFIDENTIAL or RESTRICTED — BP’s data classification applies when pasting content into AI tools, exactly as it does when sharing via email.</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Rule of thumb: if you wouldn’t paste it into a public Slack channel, do not paste it into an AI tool you don’t control</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Five rules cover 95% of situations — memorise these</a:t>
            </a:r>
            <a:endParaRPr lang="en-US" sz="3000" dirty="0"/>
          </a:p>
        </p:txBody>
      </p:sp>
      <p:sp>
        <p:nvSpPr>
          <p:cNvPr id="8" name="Shape 6"/>
          <p:cNvSpPr/>
          <p:nvPr/>
        </p:nvSpPr>
        <p:spPr>
          <a:xfrm>
            <a:off x="274320" y="1325880"/>
            <a:ext cx="8595360" cy="566928"/>
          </a:xfrm>
          <a:prstGeom prst="rect">
            <a:avLst/>
          </a:prstGeom>
          <a:solidFill>
            <a:srgbClr val="FFFFFF"/>
          </a:solidFill>
          <a:ln/>
        </p:spPr>
      </p:sp>
      <p:sp>
        <p:nvSpPr>
          <p:cNvPr id="9" name="Shape 7"/>
          <p:cNvSpPr/>
          <p:nvPr/>
        </p:nvSpPr>
        <p:spPr>
          <a:xfrm>
            <a:off x="274320" y="1325880"/>
            <a:ext cx="45720" cy="566928"/>
          </a:xfrm>
          <a:prstGeom prst="rect">
            <a:avLst/>
          </a:prstGeom>
          <a:solidFill>
            <a:srgbClr val="D97706"/>
          </a:solidFill>
          <a:ln w="12700">
            <a:solidFill>
              <a:srgbClr val="D97706"/>
            </a:solidFill>
            <a:prstDash val="solid"/>
          </a:ln>
        </p:spPr>
      </p:sp>
      <p:sp>
        <p:nvSpPr>
          <p:cNvPr id="10" name="Text 8"/>
          <p:cNvSpPr/>
          <p:nvPr/>
        </p:nvSpPr>
        <p:spPr>
          <a:xfrm>
            <a:off x="411480" y="138074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1</a:t>
            </a:r>
            <a:endParaRPr lang="en-US" sz="900" dirty="0"/>
          </a:p>
        </p:txBody>
      </p:sp>
      <p:sp>
        <p:nvSpPr>
          <p:cNvPr id="11" name="Text 9"/>
          <p:cNvSpPr/>
          <p:nvPr/>
        </p:nvSpPr>
        <p:spPr>
          <a:xfrm>
            <a:off x="1143000" y="138074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Anonymise before you paste — Replace position sizes, counterparty names, and model outputs with generic placeholders before sharing with any AI tool outside the Microsoft tenant. “Hub_A: [volume] TWh at [price]” is always safer than the real values. The anonymisation habit protects you from accidental disclosure even when you’re moving fast.</a:t>
            </a:r>
            <a:endParaRPr lang="en-US" sz="900" dirty="0"/>
          </a:p>
        </p:txBody>
      </p:sp>
      <p:sp>
        <p:nvSpPr>
          <p:cNvPr id="12" name="Shape 10"/>
          <p:cNvSpPr/>
          <p:nvPr/>
        </p:nvSpPr>
        <p:spPr>
          <a:xfrm>
            <a:off x="274320" y="1965960"/>
            <a:ext cx="8595360" cy="566928"/>
          </a:xfrm>
          <a:prstGeom prst="rect">
            <a:avLst/>
          </a:prstGeom>
          <a:solidFill>
            <a:srgbClr val="FFFFFF"/>
          </a:solidFill>
          <a:ln/>
        </p:spPr>
      </p:sp>
      <p:sp>
        <p:nvSpPr>
          <p:cNvPr id="13" name="Shape 11"/>
          <p:cNvSpPr/>
          <p:nvPr/>
        </p:nvSpPr>
        <p:spPr>
          <a:xfrm>
            <a:off x="274320" y="1965960"/>
            <a:ext cx="45720" cy="566928"/>
          </a:xfrm>
          <a:prstGeom prst="rect">
            <a:avLst/>
          </a:prstGeom>
          <a:solidFill>
            <a:srgbClr val="D97706"/>
          </a:solidFill>
          <a:ln w="12700">
            <a:solidFill>
              <a:srgbClr val="D97706"/>
            </a:solidFill>
            <a:prstDash val="solid"/>
          </a:ln>
        </p:spPr>
      </p:sp>
      <p:sp>
        <p:nvSpPr>
          <p:cNvPr id="14" name="Text 12"/>
          <p:cNvSpPr/>
          <p:nvPr/>
        </p:nvSpPr>
        <p:spPr>
          <a:xfrm>
            <a:off x="411480" y="202082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2</a:t>
            </a:r>
            <a:endParaRPr lang="en-US" sz="900" dirty="0"/>
          </a:p>
        </p:txBody>
      </p:sp>
      <p:sp>
        <p:nvSpPr>
          <p:cNvPr id="15" name="Text 13"/>
          <p:cNvSpPr/>
          <p:nvPr/>
        </p:nvSpPr>
        <p:spPr>
          <a:xfrm>
            <a:off x="1143000" y="202082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 Copilot is safer for internal content — Microsoft’s enterprise agreement covers BP data. When Copilot processes your internal Teams messages or SharePoint documents, data stays within BP’s Microsoft tenant and is not used to train Microsoft’s models. External tools (Cursor, Claude.ai, ChatGPT) are governed by individual terms of service that do not carry the same contractual protection.</a:t>
            </a:r>
            <a:endParaRPr lang="en-US" sz="900" dirty="0"/>
          </a:p>
        </p:txBody>
      </p:sp>
      <p:sp>
        <p:nvSpPr>
          <p:cNvPr id="16" name="Shape 14"/>
          <p:cNvSpPr/>
          <p:nvPr/>
        </p:nvSpPr>
        <p:spPr>
          <a:xfrm>
            <a:off x="274320" y="2606040"/>
            <a:ext cx="8595360" cy="566928"/>
          </a:xfrm>
          <a:prstGeom prst="rect">
            <a:avLst/>
          </a:prstGeom>
          <a:solidFill>
            <a:srgbClr val="FFFFFF"/>
          </a:solidFill>
          <a:ln/>
        </p:spPr>
      </p:sp>
      <p:sp>
        <p:nvSpPr>
          <p:cNvPr id="17" name="Shape 15"/>
          <p:cNvSpPr/>
          <p:nvPr/>
        </p:nvSpPr>
        <p:spPr>
          <a:xfrm>
            <a:off x="274320" y="2606040"/>
            <a:ext cx="45720" cy="566928"/>
          </a:xfrm>
          <a:prstGeom prst="rect">
            <a:avLst/>
          </a:prstGeom>
          <a:solidFill>
            <a:srgbClr val="D97706"/>
          </a:solidFill>
          <a:ln w="12700">
            <a:solidFill>
              <a:srgbClr val="D97706"/>
            </a:solidFill>
            <a:prstDash val="solid"/>
          </a:ln>
        </p:spPr>
      </p:sp>
      <p:sp>
        <p:nvSpPr>
          <p:cNvPr id="18" name="Text 16"/>
          <p:cNvSpPr/>
          <p:nvPr/>
        </p:nvSpPr>
        <p:spPr>
          <a:xfrm>
            <a:off x="411480" y="266090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3</a:t>
            </a:r>
            <a:endParaRPr lang="en-US" sz="900" dirty="0"/>
          </a:p>
        </p:txBody>
      </p:sp>
      <p:sp>
        <p:nvSpPr>
          <p:cNvPr id="19" name="Text 17"/>
          <p:cNvSpPr/>
          <p:nvPr/>
        </p:nvSpPr>
        <p:spPr>
          <a:xfrm>
            <a:off x="1143000" y="266090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Code does not equal data — but check — Pasting code logic is generally safe. Pasting the data the code runs on may not be. The distinction matters when code contains embedded real values: a function that hardcodes actual calibration parameters as defaults is sending proprietary data when you paste it. Extract the logic without the values before submitting to external tools.</a:t>
            </a:r>
            <a:endParaRPr lang="en-US" sz="900" dirty="0"/>
          </a:p>
        </p:txBody>
      </p:sp>
      <p:sp>
        <p:nvSpPr>
          <p:cNvPr id="20" name="Shape 18"/>
          <p:cNvSpPr/>
          <p:nvPr/>
        </p:nvSpPr>
        <p:spPr>
          <a:xfrm>
            <a:off x="274320" y="3246120"/>
            <a:ext cx="8595360" cy="566928"/>
          </a:xfrm>
          <a:prstGeom prst="rect">
            <a:avLst/>
          </a:prstGeom>
          <a:solidFill>
            <a:srgbClr val="FFFFFF"/>
          </a:solidFill>
          <a:ln/>
        </p:spPr>
      </p:sp>
      <p:sp>
        <p:nvSpPr>
          <p:cNvPr id="21" name="Shape 19"/>
          <p:cNvSpPr/>
          <p:nvPr/>
        </p:nvSpPr>
        <p:spPr>
          <a:xfrm>
            <a:off x="274320" y="3246120"/>
            <a:ext cx="45720" cy="566928"/>
          </a:xfrm>
          <a:prstGeom prst="rect">
            <a:avLst/>
          </a:prstGeom>
          <a:solidFill>
            <a:srgbClr val="D97706"/>
          </a:solidFill>
          <a:ln w="12700">
            <a:solidFill>
              <a:srgbClr val="D97706"/>
            </a:solidFill>
            <a:prstDash val="solid"/>
          </a:ln>
        </p:spPr>
      </p:sp>
      <p:sp>
        <p:nvSpPr>
          <p:cNvPr id="22" name="Text 20"/>
          <p:cNvSpPr/>
          <p:nvPr/>
        </p:nvSpPr>
        <p:spPr>
          <a:xfrm>
            <a:off x="411480" y="330098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4</a:t>
            </a:r>
            <a:endParaRPr lang="en-US" sz="900" dirty="0"/>
          </a:p>
        </p:txBody>
      </p:sp>
      <p:sp>
        <p:nvSpPr>
          <p:cNvPr id="23" name="Text 21"/>
          <p:cNvSpPr/>
          <p:nvPr/>
        </p:nvSpPr>
        <p:spPr>
          <a:xfrm>
            <a:off x="1143000" y="330098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Check before you use, not after — If you are unsure whether a specific use case is compliant — a new type of data, a new tool, a non-standard workflow — contact the Digital Centre of Excellence before using the tool, not after. The after-the-fact disclosure conversation is significantly harder than a 10-minute pre-approval check.</a:t>
            </a:r>
            <a:endParaRPr lang="en-US" sz="900" dirty="0"/>
          </a:p>
        </p:txBody>
      </p:sp>
      <p:sp>
        <p:nvSpPr>
          <p:cNvPr id="24" name="Shape 22"/>
          <p:cNvSpPr/>
          <p:nvPr/>
        </p:nvSpPr>
        <p:spPr>
          <a:xfrm>
            <a:off x="274320" y="3886200"/>
            <a:ext cx="8595360" cy="566928"/>
          </a:xfrm>
          <a:prstGeom prst="rect">
            <a:avLst/>
          </a:prstGeom>
          <a:solidFill>
            <a:srgbClr val="FFFFFF"/>
          </a:solidFill>
          <a:ln/>
        </p:spPr>
      </p:sp>
      <p:sp>
        <p:nvSpPr>
          <p:cNvPr id="25" name="Shape 23"/>
          <p:cNvSpPr/>
          <p:nvPr/>
        </p:nvSpPr>
        <p:spPr>
          <a:xfrm>
            <a:off x="274320" y="3886200"/>
            <a:ext cx="45720" cy="566928"/>
          </a:xfrm>
          <a:prstGeom prst="rect">
            <a:avLst/>
          </a:prstGeom>
          <a:solidFill>
            <a:srgbClr val="D97706"/>
          </a:solidFill>
          <a:ln w="12700">
            <a:solidFill>
              <a:srgbClr val="D97706"/>
            </a:solidFill>
            <a:prstDash val="solid"/>
          </a:ln>
        </p:spPr>
      </p:sp>
      <p:sp>
        <p:nvSpPr>
          <p:cNvPr id="26" name="Text 24"/>
          <p:cNvSpPr/>
          <p:nvPr/>
        </p:nvSpPr>
        <p:spPr>
          <a:xfrm>
            <a:off x="411480" y="394106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5</a:t>
            </a:r>
            <a:endParaRPr lang="en-US" sz="900" dirty="0"/>
          </a:p>
        </p:txBody>
      </p:sp>
      <p:sp>
        <p:nvSpPr>
          <p:cNvPr id="27" name="Text 25"/>
          <p:cNvSpPr/>
          <p:nvPr/>
        </p:nvSpPr>
        <p:spPr>
          <a:xfrm>
            <a:off x="1143000" y="394106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You own the output — always — AI-generated code or analysis must be reviewed and validated by you before it is used in any commercial decision or shared with the trading desk. The AI is not self-validating. When a fundamental model gives a bad signal and the desk acts on it, the analyst who produced that model owns that outcome — regardless of whether AI wrote the code.</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BP AI guidance: intranet → ‘Digital Tools’ → ‘AI Governance’ — Digital Centre of Excellence for front-office questions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HANDLING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Not all AI tools handle your data the same way</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Microsoft Copilot (M365)</a:t>
            </a:r>
            <a:endParaRPr lang="en-US" sz="1100" dirty="0"/>
          </a:p>
        </p:txBody>
      </p:sp>
      <p:sp>
        <p:nvSpPr>
          <p:cNvPr id="11" name="Text 9"/>
          <p:cNvSpPr/>
          <p:nvPr/>
        </p:nvSpPr>
        <p:spPr>
          <a:xfrm>
            <a:off x="41148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stays within BP’s Microsoft tenant. Microsoft’s enterprise data processing agreement means your inputs are not used to train Microsoft’s models, IT administrators can access audit logs, and BP’s data classification framework applies. The tool to use most freely for FM&amp;I operational content — meeting notes, internal reports, process documentation.</a:t>
            </a:r>
            <a:endParaRPr lang="en-US" sz="850" dirty="0"/>
          </a:p>
        </p:txBody>
      </p:sp>
      <p:sp>
        <p:nvSpPr>
          <p:cNvPr id="12" name="Text 10"/>
          <p:cNvSpPr/>
          <p:nvPr/>
        </p:nvSpPr>
        <p:spPr>
          <a:xfrm>
            <a:off x="411480" y="2624328"/>
            <a:ext cx="3886200" cy="164592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stays within BP’s Microsoft tenant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enterprise data processing agreement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Not used to train Microsoft’s models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Audit logs available to IT administrators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Appropriate for internal BP content (non-market-sensitive)</a:t>
            </a:r>
            <a:endParaRPr lang="en-US" sz="850" dirty="0"/>
          </a:p>
        </p:txBody>
      </p:sp>
      <p:sp>
        <p:nvSpPr>
          <p:cNvPr id="13" name="Shape 11"/>
          <p:cNvSpPr/>
          <p:nvPr/>
        </p:nvSpPr>
        <p:spPr>
          <a:xfrm>
            <a:off x="4663440" y="1325880"/>
            <a:ext cx="4160520" cy="3063240"/>
          </a:xfrm>
          <a:prstGeom prst="rect">
            <a:avLst/>
          </a:prstGeom>
          <a:solidFill>
            <a:srgbClr val="FFFFFF"/>
          </a:solidFill>
          <a:ln/>
        </p:spPr>
      </p:sp>
      <p:sp>
        <p:nvSpPr>
          <p:cNvPr id="14" name="Shape 12"/>
          <p:cNvSpPr/>
          <p:nvPr/>
        </p:nvSpPr>
        <p:spPr>
          <a:xfrm>
            <a:off x="4663440" y="1325880"/>
            <a:ext cx="4160520" cy="292608"/>
          </a:xfrm>
          <a:prstGeom prst="rect">
            <a:avLst/>
          </a:prstGeom>
          <a:solidFill>
            <a:srgbClr val="D97706"/>
          </a:solidFill>
          <a:ln w="12700">
            <a:solidFill>
              <a:srgbClr val="D97706"/>
            </a:solidFill>
            <a:prstDash val="solid"/>
          </a:ln>
        </p:spPr>
      </p:sp>
      <p:sp>
        <p:nvSpPr>
          <p:cNvPr id="15" name="Text 13"/>
          <p:cNvSpPr/>
          <p:nvPr/>
        </p:nvSpPr>
        <p:spPr>
          <a:xfrm>
            <a:off x="4800600" y="1325880"/>
            <a:ext cx="388620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External Tools (Cursor, Claude.ai, ChatGPT)</a:t>
            </a:r>
            <a:endParaRPr lang="en-US" sz="1000" dirty="0"/>
          </a:p>
        </p:txBody>
      </p:sp>
      <p:sp>
        <p:nvSpPr>
          <p:cNvPr id="16" name="Text 14"/>
          <p:cNvSpPr/>
          <p:nvPr/>
        </p:nvSpPr>
        <p:spPr>
          <a:xfrm>
            <a:off x="480060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is sent to third-party servers governed by individual terms of service — not BP’s enterprise agreements. Training data opt-out varies by tool and subscription plan. For FM&amp;I: use external tools only for code logic, generic patterns, and publicly available information. Any internal data carries a compliance risk with these tools.</a:t>
            </a:r>
            <a:endParaRPr lang="en-US" sz="850" dirty="0"/>
          </a:p>
        </p:txBody>
      </p:sp>
      <p:sp>
        <p:nvSpPr>
          <p:cNvPr id="17" name="Text 15"/>
          <p:cNvSpPr/>
          <p:nvPr/>
        </p:nvSpPr>
        <p:spPr>
          <a:xfrm>
            <a:off x="4800600" y="2624328"/>
            <a:ext cx="3886200" cy="100584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sent to third-party servers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individual terms of service only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Training data opt-out varies by tool and plan</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 BP enterprise data processing agreement by default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Use for code logic and public information only</a:t>
            </a:r>
            <a:endParaRPr lang="en-US" sz="850" dirty="0"/>
          </a:p>
        </p:txBody>
      </p:sp>
      <p:sp>
        <p:nvSpPr>
          <p:cNvPr id="18" name="Text 16"/>
          <p:cNvSpPr/>
          <p:nvPr/>
        </p:nvSpPr>
        <p:spPr>
          <a:xfrm>
            <a:off x="4800600" y="3703320"/>
            <a:ext cx="3886200" cy="548640"/>
          </a:xfrm>
          <a:prstGeom prst="rect">
            <a:avLst/>
          </a:prstGeom>
          <a:noFill/>
          <a:ln/>
        </p:spPr>
        <p:txBody>
          <a:bodyPr wrap="square" rtlCol="0" anchor="t"/>
          <a:lstStyle/>
          <a:p>
            <a:pPr algn="l" indent="0" marL="0">
              <a:buNone/>
            </a:pPr>
            <a:r>
              <a:rPr lang="en-US" sz="800" i="1" dirty="0">
                <a:solidFill>
                  <a:srgbClr val="475569"/>
                </a:solidFill>
                <a:latin typeface="Calibri" pitchFamily="34" charset="0"/>
                <a:ea typeface="Calibri" pitchFamily="34" charset="-122"/>
                <a:cs typeface="Calibri" pitchFamily="34" charset="-120"/>
              </a:rPr>
              <a:t>Note: API-based access (e.g. via Claude API key) has stronger data handling terms — check current BP guidance for API use status before building API-based workflows.</a:t>
            </a:r>
            <a:endParaRPr lang="en-US" sz="8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M365 Copilot for anything involving internal BP content; external tools for code logic and public information only</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D9488"/>
                </a:solidFill>
                <a:latin typeface="Trebuchet MS" pitchFamily="34" charset="0"/>
                <a:ea typeface="Trebuchet MS" pitchFamily="34" charset="-122"/>
                <a:cs typeface="Trebuchet MS" pitchFamily="34" charset="-120"/>
              </a:rPr>
              <a:t>07</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Extended Concepts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Claude Code, agentic AI, MCP, tool calling, agent skills, and what’s next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Claude Code: a CLI agent that works at the repository level, not the file level</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D9488"/>
          </a:solidFill>
          <a:ln w="12700">
            <a:solidFill>
              <a:srgbClr val="0D9488"/>
            </a:solidFill>
            <a:prstDash val="solid"/>
          </a:ln>
        </p:spPr>
      </p:sp>
      <p:sp>
        <p:nvSpPr>
          <p:cNvPr id="10" name="Text 8"/>
          <p:cNvSpPr/>
          <p:nvPr/>
        </p:nvSpPr>
        <p:spPr>
          <a:xfrm>
            <a:off x="41148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What it is and why it’s different</a:t>
            </a:r>
            <a:endParaRPr lang="en-US" sz="1000" dirty="0"/>
          </a:p>
        </p:txBody>
      </p:sp>
      <p:sp>
        <p:nvSpPr>
          <p:cNvPr id="11" name="Text 9"/>
          <p:cNvSpPr/>
          <p:nvPr/>
        </p:nvSpPr>
        <p:spPr>
          <a:xfrm>
            <a:off x="411480" y="1737360"/>
            <a:ext cx="3886200" cy="25146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Code is a terminal-based AI agent — not a plugin, not a chat window, but a separate process that runs in your project directory and can read, write, and execute across your entire codebase autonomously.</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The key differentiator from GitHub Copilot and Cursor: it operates at repository level, not file level. When you give it a goal, it figures out which files to touch, in what order, and how to verify the result.</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Three things you can do with Claude Code that you literally cannot do in IDE tools:</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Run it overnight on a cloud VM — no GUI required, no user at the keyboard</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Invoke it from a CI/CD pipeline as an automated step</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Script it via the Claude SDK as one agent in a larger orchestration system</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Code vs IDE tools — practical comparison</a:t>
            </a:r>
            <a:endParaRPr lang="en-US" sz="1000" dirty="0"/>
          </a:p>
        </p:txBody>
      </p:sp>
      <p:sp>
        <p:nvSpPr>
          <p:cNvPr id="15" name="Shape 13"/>
          <p:cNvSpPr/>
          <p:nvPr/>
        </p:nvSpPr>
        <p:spPr>
          <a:xfrm>
            <a:off x="4663440" y="1728216"/>
            <a:ext cx="4160520" cy="256032"/>
          </a:xfrm>
          <a:prstGeom prst="rect">
            <a:avLst/>
          </a:prstGeom>
          <a:solidFill>
            <a:srgbClr val="1B2A4A"/>
          </a:solidFill>
          <a:ln w="12700">
            <a:solidFill>
              <a:srgbClr val="1B2A4A"/>
            </a:solidFill>
            <a:prstDash val="solid"/>
          </a:ln>
        </p:spPr>
      </p:sp>
      <p:sp>
        <p:nvSpPr>
          <p:cNvPr id="16" name="Text 14"/>
          <p:cNvSpPr/>
          <p:nvPr/>
        </p:nvSpPr>
        <p:spPr>
          <a:xfrm>
            <a:off x="4736592" y="1728216"/>
            <a:ext cx="137160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17" name="Text 15"/>
          <p:cNvSpPr/>
          <p:nvPr/>
        </p:nvSpPr>
        <p:spPr>
          <a:xfrm>
            <a:off x="6144768" y="1728216"/>
            <a:ext cx="118872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Copilot/Cursor</a:t>
            </a:r>
            <a:endParaRPr lang="en-US" sz="800" dirty="0"/>
          </a:p>
        </p:txBody>
      </p:sp>
      <p:sp>
        <p:nvSpPr>
          <p:cNvPr id="18" name="Text 16"/>
          <p:cNvSpPr/>
          <p:nvPr/>
        </p:nvSpPr>
        <p:spPr>
          <a:xfrm>
            <a:off x="7388352" y="1728216"/>
            <a:ext cx="1371600" cy="256032"/>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Claude Code</a:t>
            </a:r>
            <a:endParaRPr lang="en-US" sz="800" dirty="0"/>
          </a:p>
        </p:txBody>
      </p:sp>
      <p:sp>
        <p:nvSpPr>
          <p:cNvPr id="19" name="Shape 17"/>
          <p:cNvSpPr/>
          <p:nvPr/>
        </p:nvSpPr>
        <p:spPr>
          <a:xfrm>
            <a:off x="4663440" y="1984248"/>
            <a:ext cx="4160520" cy="402336"/>
          </a:xfrm>
          <a:prstGeom prst="rect">
            <a:avLst/>
          </a:prstGeom>
          <a:solidFill>
            <a:srgbClr val="F0F4F8"/>
          </a:solidFill>
          <a:ln w="6350">
            <a:solidFill>
              <a:srgbClr val="E2E8F0"/>
            </a:solidFill>
            <a:prstDash val="solid"/>
          </a:ln>
        </p:spPr>
      </p:sp>
      <p:sp>
        <p:nvSpPr>
          <p:cNvPr id="20" name="Text 18"/>
          <p:cNvSpPr/>
          <p:nvPr/>
        </p:nvSpPr>
        <p:spPr>
          <a:xfrm>
            <a:off x="4736592" y="2020824"/>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Scope</a:t>
            </a:r>
            <a:endParaRPr lang="en-US" sz="800" dirty="0"/>
          </a:p>
        </p:txBody>
      </p:sp>
      <p:sp>
        <p:nvSpPr>
          <p:cNvPr id="21" name="Text 19"/>
          <p:cNvSpPr/>
          <p:nvPr/>
        </p:nvSpPr>
        <p:spPr>
          <a:xfrm>
            <a:off x="6144768" y="2020824"/>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Current or open files</a:t>
            </a:r>
            <a:endParaRPr lang="en-US" sz="800" dirty="0"/>
          </a:p>
        </p:txBody>
      </p:sp>
      <p:sp>
        <p:nvSpPr>
          <p:cNvPr id="22" name="Text 20"/>
          <p:cNvSpPr/>
          <p:nvPr/>
        </p:nvSpPr>
        <p:spPr>
          <a:xfrm>
            <a:off x="7388352" y="2020824"/>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Entire repository</a:t>
            </a:r>
            <a:endParaRPr lang="en-US" sz="800" dirty="0"/>
          </a:p>
        </p:txBody>
      </p:sp>
      <p:sp>
        <p:nvSpPr>
          <p:cNvPr id="23" name="Shape 21"/>
          <p:cNvSpPr/>
          <p:nvPr/>
        </p:nvSpPr>
        <p:spPr>
          <a:xfrm>
            <a:off x="4663440" y="2386584"/>
            <a:ext cx="4160520" cy="402336"/>
          </a:xfrm>
          <a:prstGeom prst="rect">
            <a:avLst/>
          </a:prstGeom>
          <a:solidFill>
            <a:srgbClr val="FFFFFF"/>
          </a:solidFill>
          <a:ln w="6350">
            <a:solidFill>
              <a:srgbClr val="E2E8F0"/>
            </a:solidFill>
            <a:prstDash val="solid"/>
          </a:ln>
        </p:spPr>
      </p:sp>
      <p:sp>
        <p:nvSpPr>
          <p:cNvPr id="24" name="Text 22"/>
          <p:cNvSpPr/>
          <p:nvPr/>
        </p:nvSpPr>
        <p:spPr>
          <a:xfrm>
            <a:off x="4736592" y="2423160"/>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Autonomy</a:t>
            </a:r>
            <a:endParaRPr lang="en-US" sz="800" dirty="0"/>
          </a:p>
        </p:txBody>
      </p:sp>
      <p:sp>
        <p:nvSpPr>
          <p:cNvPr id="25" name="Text 23"/>
          <p:cNvSpPr/>
          <p:nvPr/>
        </p:nvSpPr>
        <p:spPr>
          <a:xfrm>
            <a:off x="6144768" y="2423160"/>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Suggestion-based</a:t>
            </a:r>
            <a:endParaRPr lang="en-US" sz="800" dirty="0"/>
          </a:p>
        </p:txBody>
      </p:sp>
      <p:sp>
        <p:nvSpPr>
          <p:cNvPr id="26" name="Text 24"/>
          <p:cNvSpPr/>
          <p:nvPr/>
        </p:nvSpPr>
        <p:spPr>
          <a:xfrm>
            <a:off x="7388352" y="2423160"/>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Goal-based, verifies</a:t>
            </a:r>
            <a:endParaRPr lang="en-US" sz="800" dirty="0"/>
          </a:p>
        </p:txBody>
      </p:sp>
      <p:sp>
        <p:nvSpPr>
          <p:cNvPr id="27" name="Shape 25"/>
          <p:cNvSpPr/>
          <p:nvPr/>
        </p:nvSpPr>
        <p:spPr>
          <a:xfrm>
            <a:off x="4663440" y="2788920"/>
            <a:ext cx="4160520" cy="402336"/>
          </a:xfrm>
          <a:prstGeom prst="rect">
            <a:avLst/>
          </a:prstGeom>
          <a:solidFill>
            <a:srgbClr val="F0F4F8"/>
          </a:solidFill>
          <a:ln w="6350">
            <a:solidFill>
              <a:srgbClr val="E2E8F0"/>
            </a:solidFill>
            <a:prstDash val="solid"/>
          </a:ln>
        </p:spPr>
      </p:sp>
      <p:sp>
        <p:nvSpPr>
          <p:cNvPr id="28" name="Text 26"/>
          <p:cNvSpPr/>
          <p:nvPr/>
        </p:nvSpPr>
        <p:spPr>
          <a:xfrm>
            <a:off x="4736592" y="2825496"/>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Runtime</a:t>
            </a:r>
            <a:endParaRPr lang="en-US" sz="800" dirty="0"/>
          </a:p>
        </p:txBody>
      </p:sp>
      <p:sp>
        <p:nvSpPr>
          <p:cNvPr id="29" name="Text 27"/>
          <p:cNvSpPr/>
          <p:nvPr/>
        </p:nvSpPr>
        <p:spPr>
          <a:xfrm>
            <a:off x="6144768" y="2825496"/>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IDE open, user watching</a:t>
            </a:r>
            <a:endParaRPr lang="en-US" sz="800" dirty="0"/>
          </a:p>
        </p:txBody>
      </p:sp>
      <p:sp>
        <p:nvSpPr>
          <p:cNvPr id="30" name="Text 28"/>
          <p:cNvSpPr/>
          <p:nvPr/>
        </p:nvSpPr>
        <p:spPr>
          <a:xfrm>
            <a:off x="7388352" y="2825496"/>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Headless, runs alone</a:t>
            </a:r>
            <a:endParaRPr lang="en-US" sz="800" dirty="0"/>
          </a:p>
        </p:txBody>
      </p:sp>
      <p:sp>
        <p:nvSpPr>
          <p:cNvPr id="31" name="Shape 29"/>
          <p:cNvSpPr/>
          <p:nvPr/>
        </p:nvSpPr>
        <p:spPr>
          <a:xfrm>
            <a:off x="4663440" y="3191256"/>
            <a:ext cx="4160520" cy="402336"/>
          </a:xfrm>
          <a:prstGeom prst="rect">
            <a:avLst/>
          </a:prstGeom>
          <a:solidFill>
            <a:srgbClr val="FFFFFF"/>
          </a:solidFill>
          <a:ln w="6350">
            <a:solidFill>
              <a:srgbClr val="E2E8F0"/>
            </a:solidFill>
            <a:prstDash val="solid"/>
          </a:ln>
        </p:spPr>
      </p:sp>
      <p:sp>
        <p:nvSpPr>
          <p:cNvPr id="32" name="Text 30"/>
          <p:cNvSpPr/>
          <p:nvPr/>
        </p:nvSpPr>
        <p:spPr>
          <a:xfrm>
            <a:off x="4736592" y="3227832"/>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Overnight</a:t>
            </a:r>
            <a:endParaRPr lang="en-US" sz="800" dirty="0"/>
          </a:p>
        </p:txBody>
      </p:sp>
      <p:sp>
        <p:nvSpPr>
          <p:cNvPr id="33" name="Text 31"/>
          <p:cNvSpPr/>
          <p:nvPr/>
        </p:nvSpPr>
        <p:spPr>
          <a:xfrm>
            <a:off x="6144768" y="3227832"/>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possible</a:t>
            </a:r>
            <a:endParaRPr lang="en-US" sz="800" dirty="0"/>
          </a:p>
        </p:txBody>
      </p:sp>
      <p:sp>
        <p:nvSpPr>
          <p:cNvPr id="34" name="Text 32"/>
          <p:cNvSpPr/>
          <p:nvPr/>
        </p:nvSpPr>
        <p:spPr>
          <a:xfrm>
            <a:off x="7388352" y="3227832"/>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run on VM</a:t>
            </a:r>
            <a:endParaRPr lang="en-US" sz="800" dirty="0"/>
          </a:p>
        </p:txBody>
      </p:sp>
      <p:sp>
        <p:nvSpPr>
          <p:cNvPr id="35" name="Shape 33"/>
          <p:cNvSpPr/>
          <p:nvPr/>
        </p:nvSpPr>
        <p:spPr>
          <a:xfrm>
            <a:off x="4663440" y="3593592"/>
            <a:ext cx="4160520" cy="402336"/>
          </a:xfrm>
          <a:prstGeom prst="rect">
            <a:avLst/>
          </a:prstGeom>
          <a:solidFill>
            <a:srgbClr val="F0F4F8"/>
          </a:solidFill>
          <a:ln w="6350">
            <a:solidFill>
              <a:srgbClr val="E2E8F0"/>
            </a:solidFill>
            <a:prstDash val="solid"/>
          </a:ln>
        </p:spPr>
      </p:sp>
      <p:sp>
        <p:nvSpPr>
          <p:cNvPr id="36" name="Text 34"/>
          <p:cNvSpPr/>
          <p:nvPr/>
        </p:nvSpPr>
        <p:spPr>
          <a:xfrm>
            <a:off x="4736592" y="3630168"/>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CI/CD</a:t>
            </a:r>
            <a:endParaRPr lang="en-US" sz="800" dirty="0"/>
          </a:p>
        </p:txBody>
      </p:sp>
      <p:sp>
        <p:nvSpPr>
          <p:cNvPr id="37" name="Text 35"/>
          <p:cNvSpPr/>
          <p:nvPr/>
        </p:nvSpPr>
        <p:spPr>
          <a:xfrm>
            <a:off x="6144768" y="3630168"/>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applicable</a:t>
            </a:r>
            <a:endParaRPr lang="en-US" sz="800" dirty="0"/>
          </a:p>
        </p:txBody>
      </p:sp>
      <p:sp>
        <p:nvSpPr>
          <p:cNvPr id="38" name="Text 36"/>
          <p:cNvSpPr/>
          <p:nvPr/>
        </p:nvSpPr>
        <p:spPr>
          <a:xfrm>
            <a:off x="7388352" y="3630168"/>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scriptable</a:t>
            </a:r>
            <a:endParaRPr lang="en-US" sz="800" dirty="0"/>
          </a:p>
        </p:txBody>
      </p:sp>
      <p:sp>
        <p:nvSpPr>
          <p:cNvPr id="39" name="Shape 37"/>
          <p:cNvSpPr/>
          <p:nvPr/>
        </p:nvSpPr>
        <p:spPr>
          <a:xfrm>
            <a:off x="0" y="4663440"/>
            <a:ext cx="9144000" cy="475488"/>
          </a:xfrm>
          <a:prstGeom prst="rect">
            <a:avLst/>
          </a:prstGeom>
          <a:solidFill>
            <a:srgbClr val="0F1B2D"/>
          </a:solidFill>
          <a:ln/>
        </p:spPr>
      </p:sp>
      <p:sp>
        <p:nvSpPr>
          <p:cNvPr id="40" name="Text 3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Claude Code unlocks workflows that take 10 minutes to describe and 2 hours to build autonomously — while you do something else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Full pipeline audit — autonomous,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Audit our Brent futures fundamental model: find all hardcoded magic numbers and replace with named constants, write NumPy docstrings for every undocumented function, generate a pytest test suite for the ELT pipeline, and create a MODEL.md covering inputs, outputs, calibration approach, and known limitations.</a:t>
            </a:r>
            <a:endParaRPr lang="en-US" sz="85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D9488"/>
          </a:solidFill>
          <a:ln w="12700">
            <a:solidFill>
              <a:srgbClr val="0D9488"/>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Claude reads every file in the repository — recipes, models, tests, configs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23 magic numbers across 8 files, extracts them to a constants.py module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Writes NumPy-format docstrings for 47 undocumented functions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Generates 156 unit tests for the ELT pipeline covering normal cases and edge cases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Creates MODEL.md with sections: Overview, Data Sources, Calibration Approach, Known Limitations, Changelog</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12 min</a:t>
            </a:r>
            <a:endParaRPr lang="en-US" sz="3600" dirty="0"/>
          </a:p>
        </p:txBody>
      </p:sp>
      <p:sp>
        <p:nvSpPr>
          <p:cNvPr id="18" name="Text 16"/>
          <p:cNvSpPr/>
          <p:nvPr/>
        </p:nvSpPr>
        <p:spPr>
          <a:xfrm>
            <a:off x="5806440" y="2926080"/>
            <a:ext cx="2971800" cy="34747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full codebase audit + test suite + documentation generated</a:t>
            </a:r>
            <a:endParaRPr lang="en-US" sz="900" dirty="0"/>
          </a:p>
        </p:txBody>
      </p:sp>
      <p:sp>
        <p:nvSpPr>
          <p:cNvPr id="19" name="Text 17"/>
          <p:cNvSpPr/>
          <p:nvPr/>
        </p:nvSpPr>
        <p:spPr>
          <a:xfrm>
            <a:off x="5806440" y="333756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2–3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terminal and run ‘claude’ in the demo repo] — every model team has a codebase that needs exactly this audit</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AGENTIC AI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shift that happened in 2025: from answering questions to completing tasks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changed</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 2024, AI tools answered questions. In 2025, they started completing multi-step tasks — reading files, running code, calling APIs, fixing errors, and reporting back — without human intervention at each step. Enabled by three simultaneous advances: reliable tool calling, context windows large enough to hold task state, and infrastructure mature enough to manage agent orchestration.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Why it matters for FM&amp;I</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agent can check Dataiku scenario status every morning, flag failed jobs, generate a diagnostic report comparing actual vs expected outputs, and post the results to the FM&amp;I Teams channel — all triggered by a scheduled cron job with no human in the execution loop. The analyst sets the rules and reviews the output. The agent does the daily monitoring.</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works reliably today</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Well-defined, deterministic tasks where the steps are clear and success criteria are checkable: code generation, file operations, test running, report formatting, API calls. Agents are reliable when errors are detectable and recoverable — a failing test gives the agent clear feedback to correct on. Start with these tasks before moving to open-ended reasoning chains.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is still unreliable</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Reasoning chains longer than 10-15 steps accumulate errors — each step has a small failure probability that compounds. Tasks requiring accurate real-world knowledge are risky because hallucination grows with knowledge specificity. Tasks with ambiguous success criteria are unreliable because the agent may believe it has finished when it has not. Design in clear success criteria.</a:t>
            </a:r>
            <a:endParaRPr lang="en-US" sz="850" dirty="0"/>
          </a:p>
        </p:txBody>
      </p:sp>
      <p:sp>
        <p:nvSpPr>
          <p:cNvPr id="24" name="Shape 22"/>
          <p:cNvSpPr/>
          <p:nvPr/>
        </p:nvSpPr>
        <p:spPr>
          <a:xfrm>
            <a:off x="4663440" y="1325880"/>
            <a:ext cx="4206240" cy="3063240"/>
          </a:xfrm>
          <a:prstGeom prst="rect">
            <a:avLst/>
          </a:prstGeom>
          <a:solidFill>
            <a:srgbClr val="1A1A2E"/>
          </a:solidFill>
          <a:ln/>
        </p:spPr>
      </p:sp>
      <p:sp>
        <p:nvSpPr>
          <p:cNvPr id="25" name="Shape 23"/>
          <p:cNvSpPr/>
          <p:nvPr/>
        </p:nvSpPr>
        <p:spPr>
          <a:xfrm>
            <a:off x="4663440" y="1325880"/>
            <a:ext cx="4206240" cy="274320"/>
          </a:xfrm>
          <a:prstGeom prst="rect">
            <a:avLst/>
          </a:prstGeom>
          <a:solidFill>
            <a:srgbClr val="2D3748"/>
          </a:solidFill>
          <a:ln w="12700">
            <a:solidFill>
              <a:srgbClr val="2D3748"/>
            </a:solidFill>
            <a:prstDash val="solid"/>
          </a:ln>
        </p:spPr>
      </p:sp>
      <p:sp>
        <p:nvSpPr>
          <p:cNvPr id="26" name="Text 24"/>
          <p:cNvSpPr/>
          <p:nvPr/>
        </p:nvSpPr>
        <p:spPr>
          <a:xfrm>
            <a:off x="4754880" y="1325880"/>
            <a:ext cx="402336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agent — morning pipeline monitor</a:t>
            </a:r>
            <a:endParaRPr lang="en-US" sz="900" dirty="0"/>
          </a:p>
        </p:txBody>
      </p:sp>
      <p:sp>
        <p:nvSpPr>
          <p:cNvPr id="27" name="Text 25"/>
          <p:cNvSpPr/>
          <p:nvPr/>
        </p:nvSpPr>
        <p:spPr>
          <a:xfrm>
            <a:off x="4754880" y="1664208"/>
            <a:ext cx="3977640" cy="2606040"/>
          </a:xfrm>
          <a:prstGeom prst="rect">
            <a:avLst/>
          </a:prstGeom>
          <a:noFill/>
          <a:ln/>
        </p:spPr>
        <p:txBody>
          <a:bodyPr wrap="squar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TRIGGER: Daily cron at 06:00 UTC</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1: Pull Dataiku scenario run logs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for all FM&amp;I projects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2: Compare actual run times vs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expected schedule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3: Flag any failures or &gt;2hr delays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4: Cross-reference with expected</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data volumes (anomaly check)</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5: Generate diagnostic summary</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with error logs for failures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6: Post to Teams #fmi-ops channel</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OUTPUT: Morning brief ready by 06:15</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Reliable agentic workflows start with well-defined, deterministic tasks — the FM&amp;I pipeline monitor is the perfect first agent project</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MCP</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CALLING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Tool calling and MCP: how AI agents connect to your data and systems</a:t>
            </a:r>
            <a:endParaRPr lang="en-US" sz="3000" dirty="0"/>
          </a:p>
        </p:txBody>
      </p:sp>
      <p:sp>
        <p:nvSpPr>
          <p:cNvPr id="8" name="Shape 6"/>
          <p:cNvSpPr/>
          <p:nvPr/>
        </p:nvSpPr>
        <p:spPr>
          <a:xfrm>
            <a:off x="274320" y="1325880"/>
            <a:ext cx="4160520" cy="10058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891B2"/>
          </a:solidFill>
          <a:ln w="12700">
            <a:solidFill>
              <a:srgbClr val="0891B2"/>
            </a:solidFill>
            <a:prstDash val="solid"/>
          </a:ln>
        </p:spPr>
      </p:sp>
      <p:sp>
        <p:nvSpPr>
          <p:cNvPr id="10" name="Text 8"/>
          <p:cNvSpPr/>
          <p:nvPr/>
        </p:nvSpPr>
        <p:spPr>
          <a:xfrm>
            <a:off x="41148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Tool Calling</a:t>
            </a:r>
            <a:endParaRPr lang="en-US" sz="1000" dirty="0"/>
          </a:p>
        </p:txBody>
      </p:sp>
      <p:sp>
        <p:nvSpPr>
          <p:cNvPr id="11" name="Text 9"/>
          <p:cNvSpPr/>
          <p:nvPr/>
        </p:nvSpPr>
        <p:spPr>
          <a:xfrm>
            <a:off x="41148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ability for an LLM to invoke external functions, APIs, and services as part of generating a response. Instead of just outputting text, the model outputs structured instructions to call a function, receives the result, and incorporates it into the next reasoning step. This is what makes agentic workflows possible: the AI can take actions, not just describe them.</a:t>
            </a:r>
            <a:endParaRPr lang="en-US" sz="850" dirty="0"/>
          </a:p>
        </p:txBody>
      </p:sp>
      <p:sp>
        <p:nvSpPr>
          <p:cNvPr id="12" name="Shape 10"/>
          <p:cNvSpPr/>
          <p:nvPr/>
        </p:nvSpPr>
        <p:spPr>
          <a:xfrm>
            <a:off x="4663440" y="1325880"/>
            <a:ext cx="4160520" cy="10058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MCP (Model Context Protocol)</a:t>
            </a:r>
            <a:endParaRPr lang="en-US" sz="1000" dirty="0"/>
          </a:p>
        </p:txBody>
      </p:sp>
      <p:sp>
        <p:nvSpPr>
          <p:cNvPr id="15" name="Text 13"/>
          <p:cNvSpPr/>
          <p:nvPr/>
        </p:nvSpPr>
        <p:spPr>
          <a:xfrm>
            <a:off x="480060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open standard developed by Anthropic (November 2024) that defines a common interface between AI models and external tools. Think of it as USB for AI integrations — any MCP-compliant client (Cursor, Claude Code) can connect to any MCP-compliant server. One MCP server built for Dataiku can be used by every AI tool your team uses, with no bespoke integration work per tool.</a:t>
            </a:r>
            <a:endParaRPr lang="en-US" sz="850" dirty="0"/>
          </a:p>
        </p:txBody>
      </p:sp>
      <p:sp>
        <p:nvSpPr>
          <p:cNvPr id="16" name="Shape 14"/>
          <p:cNvSpPr/>
          <p:nvPr/>
        </p:nvSpPr>
        <p:spPr>
          <a:xfrm>
            <a:off x="274320" y="2423160"/>
            <a:ext cx="8595360" cy="256032"/>
          </a:xfrm>
          <a:prstGeom prst="rect">
            <a:avLst/>
          </a:prstGeom>
          <a:solidFill>
            <a:srgbClr val="1E293B"/>
          </a:solidFill>
          <a:ln w="12700">
            <a:solidFill>
              <a:srgbClr val="1E293B"/>
            </a:solidFill>
            <a:prstDash val="solid"/>
          </a:ln>
        </p:spPr>
      </p:sp>
      <p:sp>
        <p:nvSpPr>
          <p:cNvPr id="17" name="Text 15"/>
          <p:cNvSpPr/>
          <p:nvPr/>
        </p:nvSpPr>
        <p:spPr>
          <a:xfrm>
            <a:off x="365760" y="2423160"/>
            <a:ext cx="8412480" cy="256032"/>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MCP for Dataiku — a step-by-step workflow:</a:t>
            </a:r>
            <a:endParaRPr lang="en-US" sz="900" dirty="0"/>
          </a:p>
        </p:txBody>
      </p:sp>
      <p:sp>
        <p:nvSpPr>
          <p:cNvPr id="18" name="Shape 16"/>
          <p:cNvSpPr/>
          <p:nvPr/>
        </p:nvSpPr>
        <p:spPr>
          <a:xfrm>
            <a:off x="274320" y="2706624"/>
            <a:ext cx="8595360" cy="347472"/>
          </a:xfrm>
          <a:prstGeom prst="rect">
            <a:avLst/>
          </a:prstGeom>
          <a:solidFill>
            <a:srgbClr val="1A1A2E"/>
          </a:solidFill>
          <a:ln w="12700">
            <a:solidFill>
              <a:srgbClr val="1A1A2E"/>
            </a:solidFill>
            <a:prstDash val="solid"/>
          </a:ln>
        </p:spPr>
      </p:sp>
      <p:sp>
        <p:nvSpPr>
          <p:cNvPr id="19" name="Text 17"/>
          <p:cNvSpPr/>
          <p:nvPr/>
        </p:nvSpPr>
        <p:spPr>
          <a:xfrm>
            <a:off x="411480" y="2724912"/>
            <a:ext cx="8321040" cy="310896"/>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"The gas_hub_prices recipe failed overnight. Get the last error log, read the recipe code, and propose a fix."</a:t>
            </a:r>
            <a:endParaRPr lang="en-US" sz="850" dirty="0"/>
          </a:p>
        </p:txBody>
      </p:sp>
      <p:sp>
        <p:nvSpPr>
          <p:cNvPr id="20" name="Shape 18"/>
          <p:cNvSpPr/>
          <p:nvPr/>
        </p:nvSpPr>
        <p:spPr>
          <a:xfrm>
            <a:off x="274320" y="3145536"/>
            <a:ext cx="2743200" cy="1234440"/>
          </a:xfrm>
          <a:prstGeom prst="rect">
            <a:avLst/>
          </a:prstGeom>
          <a:solidFill>
            <a:srgbClr val="FFFFFF"/>
          </a:solidFill>
          <a:ln/>
        </p:spPr>
      </p:sp>
      <p:sp>
        <p:nvSpPr>
          <p:cNvPr id="21" name="Shape 19"/>
          <p:cNvSpPr/>
          <p:nvPr/>
        </p:nvSpPr>
        <p:spPr>
          <a:xfrm>
            <a:off x="274320" y="3145536"/>
            <a:ext cx="2743200" cy="45720"/>
          </a:xfrm>
          <a:prstGeom prst="rect">
            <a:avLst/>
          </a:prstGeom>
          <a:solidFill>
            <a:srgbClr val="0D9488"/>
          </a:solidFill>
          <a:ln w="12700">
            <a:solidFill>
              <a:srgbClr val="0D9488"/>
            </a:solidFill>
            <a:prstDash val="solid"/>
          </a:ln>
        </p:spPr>
      </p:sp>
      <p:sp>
        <p:nvSpPr>
          <p:cNvPr id="22" name="Text 20"/>
          <p:cNvSpPr/>
          <p:nvPr/>
        </p:nvSpPr>
        <p:spPr>
          <a:xfrm>
            <a:off x="38404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Dataiku</a:t>
            </a:r>
            <a:endParaRPr lang="en-US" sz="950" dirty="0"/>
          </a:p>
        </p:txBody>
      </p:sp>
      <p:sp>
        <p:nvSpPr>
          <p:cNvPr id="23" name="Text 21"/>
          <p:cNvSpPr/>
          <p:nvPr/>
        </p:nvSpPr>
        <p:spPr>
          <a:xfrm>
            <a:off x="38404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Read pipeline status, trigger scenarios, query job logs, and write recipe fixes — all from within Cursor or Claude Code. A Cursor session with Dataiku MCP can diagnose a failed overnight run and propose a fix without the engineer opening the Dataiku UI. Community server already exists on GitHub: search mcp-server-dataiku.</a:t>
            </a:r>
            <a:endParaRPr lang="en-US" sz="800" dirty="0"/>
          </a:p>
        </p:txBody>
      </p:sp>
      <p:sp>
        <p:nvSpPr>
          <p:cNvPr id="24" name="Shape 22"/>
          <p:cNvSpPr/>
          <p:nvPr/>
        </p:nvSpPr>
        <p:spPr>
          <a:xfrm>
            <a:off x="3291840" y="3145536"/>
            <a:ext cx="2743200" cy="1234440"/>
          </a:xfrm>
          <a:prstGeom prst="rect">
            <a:avLst/>
          </a:prstGeom>
          <a:solidFill>
            <a:srgbClr val="FFFFFF"/>
          </a:solidFill>
          <a:ln/>
        </p:spPr>
      </p:sp>
      <p:sp>
        <p:nvSpPr>
          <p:cNvPr id="25" name="Shape 23"/>
          <p:cNvSpPr/>
          <p:nvPr/>
        </p:nvSpPr>
        <p:spPr>
          <a:xfrm>
            <a:off x="3291840" y="3145536"/>
            <a:ext cx="2743200" cy="45720"/>
          </a:xfrm>
          <a:prstGeom prst="rect">
            <a:avLst/>
          </a:prstGeom>
          <a:solidFill>
            <a:srgbClr val="0D9488"/>
          </a:solidFill>
          <a:ln w="12700">
            <a:solidFill>
              <a:srgbClr val="0D9488"/>
            </a:solidFill>
            <a:prstDash val="solid"/>
          </a:ln>
        </p:spPr>
      </p:sp>
      <p:sp>
        <p:nvSpPr>
          <p:cNvPr id="26" name="Text 24"/>
          <p:cNvSpPr/>
          <p:nvPr/>
        </p:nvSpPr>
        <p:spPr>
          <a:xfrm>
            <a:off x="340156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databases</a:t>
            </a:r>
            <a:endParaRPr lang="en-US" sz="950" dirty="0"/>
          </a:p>
        </p:txBody>
      </p:sp>
      <p:sp>
        <p:nvSpPr>
          <p:cNvPr id="27" name="Text 25"/>
          <p:cNvSpPr/>
          <p:nvPr/>
        </p:nvSpPr>
        <p:spPr>
          <a:xfrm>
            <a:off x="340156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Query your production database schema, run read-only analytical queries, and get schema documentation — all from your AI tool. The MCP enforces read-only access and you review every query before it runs. No copy-paste of query results into AI context required, eliminating the manual data extraction step.</a:t>
            </a:r>
            <a:endParaRPr lang="en-US" sz="800" dirty="0"/>
          </a:p>
        </p:txBody>
      </p:sp>
      <p:sp>
        <p:nvSpPr>
          <p:cNvPr id="28" name="Shape 26"/>
          <p:cNvSpPr/>
          <p:nvPr/>
        </p:nvSpPr>
        <p:spPr>
          <a:xfrm>
            <a:off x="6309360" y="3145536"/>
            <a:ext cx="2743200" cy="1234440"/>
          </a:xfrm>
          <a:prstGeom prst="rect">
            <a:avLst/>
          </a:prstGeom>
          <a:solidFill>
            <a:srgbClr val="FFFFFF"/>
          </a:solidFill>
          <a:ln/>
        </p:spPr>
      </p:sp>
      <p:sp>
        <p:nvSpPr>
          <p:cNvPr id="29" name="Shape 27"/>
          <p:cNvSpPr/>
          <p:nvPr/>
        </p:nvSpPr>
        <p:spPr>
          <a:xfrm>
            <a:off x="6309360" y="3145536"/>
            <a:ext cx="2743200" cy="45720"/>
          </a:xfrm>
          <a:prstGeom prst="rect">
            <a:avLst/>
          </a:prstGeom>
          <a:solidFill>
            <a:srgbClr val="0D9488"/>
          </a:solidFill>
          <a:ln w="12700">
            <a:solidFill>
              <a:srgbClr val="0D9488"/>
            </a:solidFill>
            <a:prstDash val="solid"/>
          </a:ln>
        </p:spPr>
      </p:sp>
      <p:sp>
        <p:nvSpPr>
          <p:cNvPr id="30" name="Text 28"/>
          <p:cNvSpPr/>
          <p:nvPr/>
        </p:nvSpPr>
        <p:spPr>
          <a:xfrm>
            <a:off x="641908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market data</a:t>
            </a:r>
            <a:endParaRPr lang="en-US" sz="950" dirty="0"/>
          </a:p>
        </p:txBody>
      </p:sp>
      <p:sp>
        <p:nvSpPr>
          <p:cNvPr id="31" name="Text 29"/>
          <p:cNvSpPr/>
          <p:nvPr/>
        </p:nvSpPr>
        <p:spPr>
          <a:xfrm>
            <a:off x="641908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Emerging MCP servers for financial data APIs allow AI tools to pull market data directly into their context. Ask “what does the ICE Brent forward curve look like this morning?” and Claude retrieves the data via MCP and responds with analysis — no manual download, no copy-paste into a chat window.</a:t>
            </a:r>
            <a:endParaRPr lang="en-US" sz="8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MCP turns isolated AI tools into connected agents — Cursor + Dataiku MCP can diagnose a failed pipeline without leaving the IDE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CONCEPTS</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ADVANCED</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Agent skills, context management, and hooks — the power user layer</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2563EB"/>
          </a:solidFill>
          <a:ln w="12700">
            <a:solidFill>
              <a:srgbClr val="2563EB"/>
            </a:solidFill>
            <a:prstDash val="solid"/>
          </a:ln>
        </p:spPr>
      </p:sp>
      <p:sp>
        <p:nvSpPr>
          <p:cNvPr id="10" name="Text 8"/>
          <p:cNvSpPr/>
          <p:nvPr/>
        </p:nvSpPr>
        <p:spPr>
          <a:xfrm>
            <a:off x="41148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Agent Skills</a:t>
            </a:r>
            <a:endParaRPr lang="en-US" sz="1100" dirty="0"/>
          </a:p>
        </p:txBody>
      </p:sp>
      <p:sp>
        <p:nvSpPr>
          <p:cNvPr id="11" name="Text 9"/>
          <p:cNvSpPr/>
          <p:nvPr/>
        </p:nvSpPr>
        <p:spPr>
          <a:xfrm>
            <a:off x="41148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Reusable, packaged workflows invoked by a single slash command. Store in .claude/skills/ as markdown files. The FM&amp;I use case: /data-quality-report triggers a 10-step profiling process that produces the same structured output every time — row count, column profiles, null analysis, outlier detection, recommended actions — regardless of which analyst runs it. Build once, use consistently across the team.</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Skill file skeleton:</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Skill: data-quality-report</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Trigger: /data-quality-report [dataset]</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Instructions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1. Profile: row count, column dtypes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2. Per column: null %, unique vals, min/max</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3. Flag: &gt;10% nulls, single unique val</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4. Output: markdown table + JSON + actions</a:t>
            </a:r>
            <a:endParaRPr lang="en-US" sz="8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D97706"/>
          </a:solidFill>
          <a:ln w="12700">
            <a:solidFill>
              <a:srgbClr val="D97706"/>
            </a:solidFill>
            <a:prstDash val="solid"/>
          </a:ln>
        </p:spPr>
      </p:sp>
      <p:sp>
        <p:nvSpPr>
          <p:cNvPr id="14" name="Text 12"/>
          <p:cNvSpPr/>
          <p:nvPr/>
        </p:nvSpPr>
        <p:spPr>
          <a:xfrm>
            <a:off x="324612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Context &amp; Tokens</a:t>
            </a:r>
            <a:endParaRPr lang="en-US" sz="1100" dirty="0"/>
          </a:p>
        </p:txBody>
      </p:sp>
      <p:sp>
        <p:nvSpPr>
          <p:cNvPr id="15" name="Text 13"/>
          <p:cNvSpPr/>
          <p:nvPr/>
        </p:nvSpPr>
        <p:spPr>
          <a:xfrm>
            <a:off x="324612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Quality degrades as context fills with irrelevant noise. Every token costs money — Claude Opus at $15/M input tokens means a 500-file codebase in context is expensive. Practical rules: use .cursorignore to exclude node_modules, __pycache__, and build outputs; start fresh conversations for unrelated tasks; compress long conversation histories before complex tasks by asking the AI to summarise what has been decided. Context discipline is as important as prompt quality.</a:t>
            </a:r>
            <a:endParaRPr lang="en-US" sz="8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D9488"/>
          </a:solidFill>
          <a:ln w="12700">
            <a:solidFill>
              <a:srgbClr val="0D9488"/>
            </a:solidFill>
            <a:prstDash val="solid"/>
          </a:ln>
        </p:spPr>
      </p:sp>
      <p:sp>
        <p:nvSpPr>
          <p:cNvPr id="18" name="Text 16"/>
          <p:cNvSpPr/>
          <p:nvPr/>
        </p:nvSpPr>
        <p:spPr>
          <a:xfrm>
            <a:off x="608076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Hooks &amp; Automation</a:t>
            </a:r>
            <a:endParaRPr lang="en-US" sz="1100" dirty="0"/>
          </a:p>
        </p:txBody>
      </p:sp>
      <p:sp>
        <p:nvSpPr>
          <p:cNvPr id="19" name="Text 17"/>
          <p:cNvSpPr/>
          <p:nvPr/>
        </p:nvSpPr>
        <p:spPr>
          <a:xfrm>
            <a:off x="608076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Claude Code hooks fire shell commands before or after tool calls, enabling automated workflows without manual triggering. Examples: a post-write hook that runs black formatting after every file edit; a post-session hook that commits all changes to git with an AI-generated commit message and posts a summary to the team Slack channel; a pre-tool hook that validates the proposed edit against your .cursorrules before applying it. Hooks transform Claude Code from a tool you use to a tool that works for you.</a:t>
            </a:r>
            <a:endParaRPr lang="en-US" sz="8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Agent skills + hooks = repeatable, automated workflows — the difference between a tool you use and a tool that works for you</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08</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Personal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Four real projects — what was built, how, and what it demonstrates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USE CASES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real projects — what each one demonstrates about the tools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Code + Remotion: AI-generated video presentations</a:t>
            </a:r>
            <a:endParaRPr lang="en-US" sz="950" dirty="0"/>
          </a:p>
        </p:txBody>
      </p:sp>
      <p:sp>
        <p:nvSpPr>
          <p:cNvPr id="11" name="Text 9"/>
          <p:cNvSpPr/>
          <p:nvPr/>
        </p:nvSpPr>
        <p:spPr>
          <a:xfrm>
            <a:off x="41148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Problem: converting weekly model performance numbers into a stakeholder briefing consumed 2+ hours of formatting and design work. Solution: Claude Code generates a React component for each slide, Remotion renders them as video frames, and the entire briefing is produced programmatically from a structured data source in a single command. What it demonstrates: AI can own the full creative and production workflow, not just assist with it. The same pattern applies to any FM&amp;I output that currently involves manual formatting.</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2563EB"/>
          </a:solidFill>
          <a:ln w="12700">
            <a:solidFill>
              <a:srgbClr val="2563EB"/>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OpenClaw: domain-specific AI expertise</a:t>
            </a:r>
            <a:endParaRPr lang="en-US" sz="950" dirty="0"/>
          </a:p>
        </p:txBody>
      </p:sp>
      <p:sp>
        <p:nvSpPr>
          <p:cNvPr id="15" name="Text 13"/>
          <p:cNvSpPr/>
          <p:nvPr/>
        </p:nvSpPr>
        <p:spPr>
          <a:xfrm>
            <a:off x="480060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AI-powered chess analysis tool that connects an LLM to a structured position database and gives it tools to query positions, evaluate moves, and explain reasoning chains. The chess application is incidental — what OpenClaw demonstrates is the pattern: connect an LLM to a domain-specific knowledge base with well-defined tool access, and the model becomes a domain expert. The identical pattern applies to connecting a model to a commodity pricing database or a Dataiku recipe catalogue.</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7C3AED"/>
          </a:solidFill>
          <a:ln w="12700">
            <a:solidFill>
              <a:srgbClr val="7C3AED"/>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Remote: overnight VM workflows</a:t>
            </a:r>
            <a:endParaRPr lang="en-US" sz="950" dirty="0"/>
          </a:p>
        </p:txBody>
      </p:sp>
      <p:sp>
        <p:nvSpPr>
          <p:cNvPr id="19" name="Text 17"/>
          <p:cNvSpPr/>
          <p:nvPr/>
        </p:nvSpPr>
        <p:spPr>
          <a:xfrm>
            <a:off x="41148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SSH-based workflow for running Claude Code autonomously on a remote cloud VM. Write the instruction, start the session over SSH, close the connection, and return the next morning to completed work. A full codebase refactor now runs autonomously overnight at a cost of approximately £5-15 in API tokens. What it demonstrates: the “AI as parallel team member” concept at its fullest. The engineer’s job shifts from executing to directing and reviewing.</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59669"/>
          </a:solidFill>
          <a:ln w="12700">
            <a:solidFill>
              <a:srgbClr val="059669"/>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Project: this presentation as a live example</a:t>
            </a:r>
            <a:endParaRPr lang="en-US" sz="950" dirty="0"/>
          </a:p>
        </p:txBody>
      </p:sp>
      <p:sp>
        <p:nvSpPr>
          <p:cNvPr id="23" name="Text 21"/>
          <p:cNvSpPr/>
          <p:nvPr/>
        </p:nvSpPr>
        <p:spPr>
          <a:xfrm>
            <a:off x="480060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presentation was built using the template project pattern. CLAUDE.md defines the project. .claude/agents/ contains 5 specialist agents — Research Lead, Content Architect, and three Section Builders. Each reads all prior outputs. The entire content and all code was generated in one agent-team session from a high-level brief. What it demonstrates: team-scale agentic workflows where each “team member” is a specialised AI agent. Apply to FM&amp;I Dataiku projects for consistent AI assistance across every recipe.</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Every one of these was built in hours, not days — the template project pattern is directly applicable to FM&amp;I Dataiku projects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TEMPLATE PROJECT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template project: make AI consistent across your whole team</a:t>
            </a:r>
            <a:endParaRPr lang="en-US" sz="3000" dirty="0"/>
          </a:p>
        </p:txBody>
      </p:sp>
      <p:sp>
        <p:nvSpPr>
          <p:cNvPr id="8" name="Shape 6"/>
          <p:cNvSpPr/>
          <p:nvPr/>
        </p:nvSpPr>
        <p:spPr>
          <a:xfrm>
            <a:off x="274320" y="1325880"/>
            <a:ext cx="4114800" cy="3063240"/>
          </a:xfrm>
          <a:prstGeom prst="rect">
            <a:avLst/>
          </a:prstGeom>
          <a:solidFill>
            <a:srgbClr val="1A1A2E"/>
          </a:solidFill>
          <a:ln/>
        </p:spPr>
      </p:sp>
      <p:sp>
        <p:nvSpPr>
          <p:cNvPr id="9" name="Shape 7"/>
          <p:cNvSpPr/>
          <p:nvPr/>
        </p:nvSpPr>
        <p:spPr>
          <a:xfrm>
            <a:off x="274320" y="1325880"/>
            <a:ext cx="4114800" cy="274320"/>
          </a:xfrm>
          <a:prstGeom prst="rect">
            <a:avLst/>
          </a:prstGeom>
          <a:solidFill>
            <a:srgbClr val="2D3748"/>
          </a:solidFill>
          <a:ln w="12700">
            <a:solidFill>
              <a:srgbClr val="2D3748"/>
            </a:solidFill>
            <a:prstDash val="solid"/>
          </a:ln>
        </p:spPr>
      </p:sp>
      <p:sp>
        <p:nvSpPr>
          <p:cNvPr id="10" name="Text 8"/>
          <p:cNvSpPr/>
          <p:nvPr/>
        </p:nvSpPr>
        <p:spPr>
          <a:xfrm>
            <a:off x="411480" y="1325880"/>
            <a:ext cx="384048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Project structure</a:t>
            </a:r>
            <a:endParaRPr lang="en-US" sz="900" dirty="0"/>
          </a:p>
        </p:txBody>
      </p:sp>
      <p:sp>
        <p:nvSpPr>
          <p:cNvPr id="11" name="Text 9"/>
          <p:cNvSpPr/>
          <p:nvPr/>
        </p:nvSpPr>
        <p:spPr>
          <a:xfrm>
            <a:off x="411480" y="1664208"/>
            <a:ext cx="3840480" cy="2606040"/>
          </a:xfrm>
          <a:prstGeom prst="rect">
            <a:avLst/>
          </a:prstGeom>
          <a:noFill/>
          <a:ln/>
        </p:spPr>
        <p:txBody>
          <a:bodyPr wrap="non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your-project/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CLAUDE.md          ← project context &amp; rules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agents/        ← specialist sub-agents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commands/      ← slash commands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skills/        ← reusable workflows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.cursorrules       ← Cursor equivalent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.github/</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copilot-instructions.md</a:t>
            </a:r>
            <a:endParaRPr lang="en-US" sz="850" dirty="0"/>
          </a:p>
        </p:txBody>
      </p:sp>
      <p:sp>
        <p:nvSpPr>
          <p:cNvPr id="12" name="Shape 10"/>
          <p:cNvSpPr/>
          <p:nvPr/>
        </p:nvSpPr>
        <p:spPr>
          <a:xfrm>
            <a:off x="4663440" y="1325880"/>
            <a:ext cx="4206240" cy="822960"/>
          </a:xfrm>
          <a:prstGeom prst="rect">
            <a:avLst/>
          </a:prstGeom>
          <a:solidFill>
            <a:srgbClr val="FFFFFF"/>
          </a:solidFill>
          <a:ln/>
        </p:spPr>
      </p:sp>
      <p:sp>
        <p:nvSpPr>
          <p:cNvPr id="13" name="Shape 11"/>
          <p:cNvSpPr/>
          <p:nvPr/>
        </p:nvSpPr>
        <p:spPr>
          <a:xfrm>
            <a:off x="4663440" y="1325880"/>
            <a:ext cx="45720" cy="822960"/>
          </a:xfrm>
          <a:prstGeom prst="rect">
            <a:avLst/>
          </a:prstGeom>
          <a:solidFill>
            <a:srgbClr val="2563EB"/>
          </a:solidFill>
          <a:ln w="12700">
            <a:solidFill>
              <a:srgbClr val="2563EB"/>
            </a:solidFill>
            <a:prstDash val="solid"/>
          </a:ln>
        </p:spPr>
      </p:sp>
      <p:sp>
        <p:nvSpPr>
          <p:cNvPr id="14" name="Text 12"/>
          <p:cNvSpPr/>
          <p:nvPr/>
        </p:nvSpPr>
        <p:spPr>
          <a:xfrm>
            <a:off x="4800600" y="13807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CLAUDE.md / .cursorrules</a:t>
            </a:r>
            <a:endParaRPr lang="en-US" sz="950" dirty="0"/>
          </a:p>
        </p:txBody>
      </p:sp>
      <p:sp>
        <p:nvSpPr>
          <p:cNvPr id="15" name="Text 13"/>
          <p:cNvSpPr/>
          <p:nvPr/>
        </p:nvSpPr>
        <p:spPr>
          <a:xfrm>
            <a:off x="4800600" y="16093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Persistent instructions to the AI about your project’s architecture, conventions, and forbidden patterns. Every session starts with the same full context — no re-explaining your stack, no AI forgetting that your Dataiku environment requires Python 3.8. This single file eliminates 20-30% of the correction overhead in typical AI-assisted development.</a:t>
            </a:r>
            <a:endParaRPr lang="en-US" sz="850" dirty="0"/>
          </a:p>
        </p:txBody>
      </p:sp>
      <p:sp>
        <p:nvSpPr>
          <p:cNvPr id="16" name="Shape 14"/>
          <p:cNvSpPr/>
          <p:nvPr/>
        </p:nvSpPr>
        <p:spPr>
          <a:xfrm>
            <a:off x="4663440" y="2240280"/>
            <a:ext cx="4206240" cy="822960"/>
          </a:xfrm>
          <a:prstGeom prst="rect">
            <a:avLst/>
          </a:prstGeom>
          <a:solidFill>
            <a:srgbClr val="FFFFFF"/>
          </a:solidFill>
          <a:ln/>
        </p:spPr>
      </p:sp>
      <p:sp>
        <p:nvSpPr>
          <p:cNvPr id="17" name="Shape 15"/>
          <p:cNvSpPr/>
          <p:nvPr/>
        </p:nvSpPr>
        <p:spPr>
          <a:xfrm>
            <a:off x="4663440" y="2240280"/>
            <a:ext cx="45720" cy="822960"/>
          </a:xfrm>
          <a:prstGeom prst="rect">
            <a:avLst/>
          </a:prstGeom>
          <a:solidFill>
            <a:srgbClr val="2563EB"/>
          </a:solidFill>
          <a:ln w="12700">
            <a:solidFill>
              <a:srgbClr val="2563EB"/>
            </a:solidFill>
            <a:prstDash val="solid"/>
          </a:ln>
        </p:spPr>
      </p:sp>
      <p:sp>
        <p:nvSpPr>
          <p:cNvPr id="18" name="Text 16"/>
          <p:cNvSpPr/>
          <p:nvPr/>
        </p:nvSpPr>
        <p:spPr>
          <a:xfrm>
            <a:off x="4800600" y="22951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Agents directory</a:t>
            </a:r>
            <a:endParaRPr lang="en-US" sz="950" dirty="0"/>
          </a:p>
        </p:txBody>
      </p:sp>
      <p:sp>
        <p:nvSpPr>
          <p:cNvPr id="19" name="Text 17"/>
          <p:cNvSpPr/>
          <p:nvPr/>
        </p:nvSpPr>
        <p:spPr>
          <a:xfrm>
            <a:off x="4800600" y="25237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Specialist sub-agents defined as markdown files — a ‘debugger’ agent, a ‘test-writer’ agent, a ‘documentation’ agent. Each has a specific scope, instructions, and output format. Invoked with /agent debugger. Rather than one general-purpose AI doing everything, you get focused specialists doing one thing very well.</a:t>
            </a:r>
            <a:endParaRPr lang="en-US" sz="850" dirty="0"/>
          </a:p>
        </p:txBody>
      </p:sp>
      <p:sp>
        <p:nvSpPr>
          <p:cNvPr id="20" name="Shape 18"/>
          <p:cNvSpPr/>
          <p:nvPr/>
        </p:nvSpPr>
        <p:spPr>
          <a:xfrm>
            <a:off x="4663440" y="3154680"/>
            <a:ext cx="4206240" cy="822960"/>
          </a:xfrm>
          <a:prstGeom prst="rect">
            <a:avLst/>
          </a:prstGeom>
          <a:solidFill>
            <a:srgbClr val="FFFFFF"/>
          </a:solidFill>
          <a:ln/>
        </p:spPr>
      </p:sp>
      <p:sp>
        <p:nvSpPr>
          <p:cNvPr id="21" name="Shape 19"/>
          <p:cNvSpPr/>
          <p:nvPr/>
        </p:nvSpPr>
        <p:spPr>
          <a:xfrm>
            <a:off x="4663440" y="3154680"/>
            <a:ext cx="45720" cy="822960"/>
          </a:xfrm>
          <a:prstGeom prst="rect">
            <a:avLst/>
          </a:prstGeom>
          <a:solidFill>
            <a:srgbClr val="2563EB"/>
          </a:solidFill>
          <a:ln w="12700">
            <a:solidFill>
              <a:srgbClr val="2563EB"/>
            </a:solidFill>
            <a:prstDash val="solid"/>
          </a:ln>
        </p:spPr>
      </p:sp>
      <p:sp>
        <p:nvSpPr>
          <p:cNvPr id="22" name="Text 20"/>
          <p:cNvSpPr/>
          <p:nvPr/>
        </p:nvSpPr>
        <p:spPr>
          <a:xfrm>
            <a:off x="4800600" y="32095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Skills directory</a:t>
            </a:r>
            <a:endParaRPr lang="en-US" sz="950" dirty="0"/>
          </a:p>
        </p:txBody>
      </p:sp>
      <p:sp>
        <p:nvSpPr>
          <p:cNvPr id="23" name="Text 21"/>
          <p:cNvSpPr/>
          <p:nvPr/>
        </p:nvSpPr>
        <p:spPr>
          <a:xfrm>
            <a:off x="4800600" y="34381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Reusable workflows packaged as slash commands. /data-quality-report runs the same 10-step profiling process every time, in the same format, regardless of which team member runs it or what dataset they point it at. Build once, use consistently across the team. Quality becomes predictable, not dependent on who wrote the prompt.</a:t>
            </a:r>
            <a:endParaRPr lang="en-US" sz="850" dirty="0"/>
          </a:p>
        </p:txBody>
      </p:sp>
      <p:sp>
        <p:nvSpPr>
          <p:cNvPr id="24" name="Shape 22"/>
          <p:cNvSpPr/>
          <p:nvPr/>
        </p:nvSpPr>
        <p:spPr>
          <a:xfrm>
            <a:off x="4663440" y="4069080"/>
            <a:ext cx="4206240" cy="822960"/>
          </a:xfrm>
          <a:prstGeom prst="rect">
            <a:avLst/>
          </a:prstGeom>
          <a:solidFill>
            <a:srgbClr val="FFFFFF"/>
          </a:solidFill>
          <a:ln/>
        </p:spPr>
      </p:sp>
      <p:sp>
        <p:nvSpPr>
          <p:cNvPr id="25" name="Shape 23"/>
          <p:cNvSpPr/>
          <p:nvPr/>
        </p:nvSpPr>
        <p:spPr>
          <a:xfrm>
            <a:off x="4663440" y="4069080"/>
            <a:ext cx="45720" cy="822960"/>
          </a:xfrm>
          <a:prstGeom prst="rect">
            <a:avLst/>
          </a:prstGeom>
          <a:solidFill>
            <a:srgbClr val="2563EB"/>
          </a:solidFill>
          <a:ln w="12700">
            <a:solidFill>
              <a:srgbClr val="2563EB"/>
            </a:solidFill>
            <a:prstDash val="solid"/>
          </a:ln>
        </p:spPr>
      </p:sp>
      <p:sp>
        <p:nvSpPr>
          <p:cNvPr id="26" name="Text 24"/>
          <p:cNvSpPr/>
          <p:nvPr/>
        </p:nvSpPr>
        <p:spPr>
          <a:xfrm>
            <a:off x="4800600" y="41239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For FM&amp;I projects</a:t>
            </a:r>
            <a:endParaRPr lang="en-US" sz="950" dirty="0"/>
          </a:p>
        </p:txBody>
      </p:sp>
      <p:sp>
        <p:nvSpPr>
          <p:cNvPr id="27" name="Text 25"/>
          <p:cNvSpPr/>
          <p:nvPr/>
        </p:nvSpPr>
        <p:spPr>
          <a:xfrm>
            <a:off x="4800600" y="43525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Dataiku project template with CLAUDE.md describing your pipeline patterns, recipe conventions, data schema standards, and quality gates. Every new recipe — by any team member using GitHub Copilot, Cursor, or Claude Code — starts with the same complete project context. AI assistance becomes useful on day one rather than requiring weeks of customisation per engineer.</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Set this up once and every AI tool — Cursor, GitHub Copilot, Claude Code — becomes immediately useful to any team member</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09</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Business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Commercial opportunities for FM&amp;I — and how to prepare for Innovation Day</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PLATFORMS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AI-enhanced platforms directly relevant to FM&amp;I workflows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for Power BI</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Natural language queries over your existing FM&amp;I dashboards — no SQL required. Ask “show me crack spread volatility versus the same period last year, filtered to ICE Brent” and the report builds itself. For FM&amp;I, this transforms the trading desk interaction model: traders query the data directly rather than submitting a request to the analytics team. Available now in Power BI Premium, which BP already has access to.</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Plotly Studio</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AI-assisted interactive visualisation builder where you describe the chart you need and Plotly Studio generates the Dash code. For FM&amp;I’s ad hoc analysis output, this compresses the visual delivery step from “write the Dash code” (30-90 minutes) to “describe what I want and review the output” (5 minutes). Particularly relevant for the crack spread and time spread visualisations that the trading desk requests frequently.</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Dataiku LLM Mesh</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Dataiku’s native LLM integration, currently in limited preview for enterprise accounts. AI-assisted code generation directly in recipe editors, natural language to SQL in dataset views, and AI-powered pipeline debugging that reads the full recipe chain before suggesting fixes. When it reaches GA, it will be the most integrated AI tool for FM&amp;I Dataiku work — the AI understands the full Dataiku data model, not just the Python code.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D97706"/>
          </a:solidFill>
          <a:ln w="12700">
            <a:solidFill>
              <a:srgbClr val="D97706"/>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MCP for Dataiku</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Connect Cursor or Claude Code to your live Dataiku instance via an MCP server. Read scenario status, trigger runs, query job logs, and push recipe fixes — all from your AI tool without opening the Dataiku UI. The community MCP server already exists (search: mcp-server-dataiku on GitHub). The FM&amp;I team could deploy and test this in a half-day. This is the highest-leverage near-term experiment available.</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available or in preview today — Dataiku MCP integration is the highest-leverage near-term experiment for FM&amp;I</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IDEAS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16 commercial ideas for the Innovation Day board — your starting point</a:t>
            </a:r>
            <a:endParaRPr lang="en-US" sz="3000" dirty="0"/>
          </a:p>
        </p:txBody>
      </p:sp>
      <p:sp>
        <p:nvSpPr>
          <p:cNvPr id="8" name="Shape 6"/>
          <p:cNvSpPr/>
          <p:nvPr/>
        </p:nvSpPr>
        <p:spPr>
          <a:xfrm>
            <a:off x="274320" y="1325880"/>
            <a:ext cx="8595360" cy="3063240"/>
          </a:xfrm>
          <a:prstGeom prst="rect">
            <a:avLst/>
          </a:prstGeom>
          <a:solidFill>
            <a:srgbClr val="FFFFFF"/>
          </a:solidFill>
          <a:ln/>
        </p:spPr>
      </p:sp>
      <p:sp>
        <p:nvSpPr>
          <p:cNvPr id="9" name="Shape 7"/>
          <p:cNvSpPr/>
          <p:nvPr/>
        </p:nvSpPr>
        <p:spPr>
          <a:xfrm>
            <a:off x="4590288" y="1325880"/>
            <a:ext cx="36576" cy="3063240"/>
          </a:xfrm>
          <a:prstGeom prst="rect">
            <a:avLst/>
          </a:prstGeom>
          <a:solidFill>
            <a:srgbClr val="E2E8F0"/>
          </a:solidFill>
          <a:ln w="12700">
            <a:solidFill>
              <a:srgbClr val="E2E8F0"/>
            </a:solidFill>
            <a:prstDash val="solid"/>
          </a:ln>
        </p:spPr>
      </p:sp>
      <p:sp>
        <p:nvSpPr>
          <p:cNvPr id="10" name="Shape 8"/>
          <p:cNvSpPr/>
          <p:nvPr/>
        </p:nvSpPr>
        <p:spPr>
          <a:xfrm>
            <a:off x="274320" y="2432304"/>
            <a:ext cx="8595360" cy="27432"/>
          </a:xfrm>
          <a:prstGeom prst="rect">
            <a:avLst/>
          </a:prstGeom>
          <a:solidFill>
            <a:srgbClr val="E2E8F0"/>
          </a:solidFill>
          <a:ln w="12700">
            <a:solidFill>
              <a:srgbClr val="E2E8F0"/>
            </a:solidFill>
            <a:prstDash val="solid"/>
          </a:ln>
        </p:spPr>
      </p:sp>
      <p:sp>
        <p:nvSpPr>
          <p:cNvPr id="11" name="Shape 9"/>
          <p:cNvSpPr/>
          <p:nvPr/>
        </p:nvSpPr>
        <p:spPr>
          <a:xfrm>
            <a:off x="274320" y="1325880"/>
            <a:ext cx="4297680" cy="256032"/>
          </a:xfrm>
          <a:prstGeom prst="rect">
            <a:avLst/>
          </a:prstGeom>
          <a:solidFill>
            <a:srgbClr val="059669"/>
          </a:solidFill>
          <a:ln w="12700">
            <a:solidFill>
              <a:srgbClr val="059669"/>
            </a:solidFill>
            <a:prstDash val="solid"/>
          </a:ln>
        </p:spPr>
      </p:sp>
      <p:sp>
        <p:nvSpPr>
          <p:cNvPr id="12" name="Text 10"/>
          <p:cNvSpPr/>
          <p:nvPr/>
        </p:nvSpPr>
        <p:spPr>
          <a:xfrm>
            <a:off x="411480" y="1325880"/>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Data &amp; Modelling</a:t>
            </a:r>
            <a:endParaRPr lang="en-US" sz="950" dirty="0"/>
          </a:p>
        </p:txBody>
      </p:sp>
      <p:sp>
        <p:nvSpPr>
          <p:cNvPr id="13" name="Text 11"/>
          <p:cNvSpPr/>
          <p:nvPr/>
        </p:nvSpPr>
        <p:spPr>
          <a:xfrm>
            <a:off x="411480" y="1627632"/>
            <a:ext cx="402336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Automated model documentation: Claude Code reads your fundamental model codebase and generates a complete model card — inputs, outputs, calibration approach, and known limitations. Eliminates the documentation backlog every model team has.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half-life estimator calibration: an agent monitors new price data, compares against current estimates, flags drift above a threshold, and drafts a calibration recommendation for the model owner to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Anomaly detection on ELT pipeline outputs: after each scheduled run, an agent compares row counts and value distributions against baselines and posts a Teams health check when any metric exceeds 2 standard deviations.</a:t>
            </a:r>
            <a:endParaRPr lang="en-US" sz="750" dirty="0"/>
          </a:p>
        </p:txBody>
      </p:sp>
      <p:sp>
        <p:nvSpPr>
          <p:cNvPr id="14" name="Shape 12"/>
          <p:cNvSpPr/>
          <p:nvPr/>
        </p:nvSpPr>
        <p:spPr>
          <a:xfrm>
            <a:off x="4645152" y="1325880"/>
            <a:ext cx="4224528" cy="256032"/>
          </a:xfrm>
          <a:prstGeom prst="rect">
            <a:avLst/>
          </a:prstGeom>
          <a:solidFill>
            <a:srgbClr val="0D9488"/>
          </a:solidFill>
          <a:ln w="12700">
            <a:solidFill>
              <a:srgbClr val="0D9488"/>
            </a:solidFill>
            <a:prstDash val="solid"/>
          </a:ln>
        </p:spPr>
      </p:sp>
      <p:sp>
        <p:nvSpPr>
          <p:cNvPr id="15" name="Text 13"/>
          <p:cNvSpPr/>
          <p:nvPr/>
        </p:nvSpPr>
        <p:spPr>
          <a:xfrm>
            <a:off x="4782312" y="1325880"/>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Trading Desk Support</a:t>
            </a:r>
            <a:endParaRPr lang="en-US" sz="950" dirty="0"/>
          </a:p>
        </p:txBody>
      </p:sp>
      <p:sp>
        <p:nvSpPr>
          <p:cNvPr id="16" name="Text 14"/>
          <p:cNvSpPr/>
          <p:nvPr/>
        </p:nvSpPr>
        <p:spPr>
          <a:xfrm>
            <a:off x="4782312" y="1627632"/>
            <a:ext cx="393192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Morning briefing agent: runs at 05:45 UTC, pulls overnight market moves, cross-references FM&amp;I model positions, and generates a structured 1-page brief for the trading desk — replacing a 45-minute manual process.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Ad hoc chart generator: a Teams bot that accepts a request from the trading desk, builds the Plotly Dash app, and returns a link — from request to interactive chart in under 15 minutes.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Automated spread analysis commentary: after each model run, an agent generates 2-paragraph commentary on key spread movements, likely drivers, and anomalies — ready to review and send to the desk.</a:t>
            </a:r>
            <a:endParaRPr lang="en-US" sz="750" dirty="0"/>
          </a:p>
        </p:txBody>
      </p:sp>
      <p:sp>
        <p:nvSpPr>
          <p:cNvPr id="17" name="Shape 15"/>
          <p:cNvSpPr/>
          <p:nvPr/>
        </p:nvSpPr>
        <p:spPr>
          <a:xfrm>
            <a:off x="274320" y="2459736"/>
            <a:ext cx="4297680" cy="256032"/>
          </a:xfrm>
          <a:prstGeom prst="rect">
            <a:avLst/>
          </a:prstGeom>
          <a:solidFill>
            <a:srgbClr val="2563EB"/>
          </a:solidFill>
          <a:ln w="12700">
            <a:solidFill>
              <a:srgbClr val="2563EB"/>
            </a:solidFill>
            <a:prstDash val="solid"/>
          </a:ln>
        </p:spPr>
      </p:sp>
      <p:sp>
        <p:nvSpPr>
          <p:cNvPr id="18" name="Text 16"/>
          <p:cNvSpPr/>
          <p:nvPr/>
        </p:nvSpPr>
        <p:spPr>
          <a:xfrm>
            <a:off x="411480" y="2459736"/>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Platform &amp; Integration</a:t>
            </a:r>
            <a:endParaRPr lang="en-US" sz="950" dirty="0"/>
          </a:p>
        </p:txBody>
      </p:sp>
      <p:sp>
        <p:nvSpPr>
          <p:cNvPr id="19" name="Text 17"/>
          <p:cNvSpPr/>
          <p:nvPr/>
        </p:nvSpPr>
        <p:spPr>
          <a:xfrm>
            <a:off x="411480" y="2761488"/>
            <a:ext cx="402336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MCP server for Dataiku monitoring: a Cursor/Claude Code integration that reads FM&amp;I pipeline status, error logs, and scenario results directly — enabling AI-assisted debugging without opening the Dataiku UI. Highest-leverage near-term experiment.</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Power BI Copilot for FM&amp;I dashboards: natural language queries on existing reports — traders query their own data in plain English rather than submitting analytical requests to the team.</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recipe optimisation: Claude Code audits all ELT recipes for performance anti-patterns and generates optimised versions — months of technical debt resolved in a single overnight run.</a:t>
            </a:r>
            <a:endParaRPr lang="en-US" sz="750" dirty="0"/>
          </a:p>
        </p:txBody>
      </p:sp>
      <p:sp>
        <p:nvSpPr>
          <p:cNvPr id="20" name="Shape 18"/>
          <p:cNvSpPr/>
          <p:nvPr/>
        </p:nvSpPr>
        <p:spPr>
          <a:xfrm>
            <a:off x="4645152" y="2459736"/>
            <a:ext cx="4224528" cy="256032"/>
          </a:xfrm>
          <a:prstGeom prst="rect">
            <a:avLst/>
          </a:prstGeom>
          <a:solidFill>
            <a:srgbClr val="D97706"/>
          </a:solidFill>
          <a:ln w="12700">
            <a:solidFill>
              <a:srgbClr val="D97706"/>
            </a:solidFill>
            <a:prstDash val="solid"/>
          </a:ln>
        </p:spPr>
      </p:sp>
      <p:sp>
        <p:nvSpPr>
          <p:cNvPr id="21" name="Text 19"/>
          <p:cNvSpPr/>
          <p:nvPr/>
        </p:nvSpPr>
        <p:spPr>
          <a:xfrm>
            <a:off x="4782312" y="2459736"/>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Process &amp; Workflow</a:t>
            </a:r>
            <a:endParaRPr lang="en-US" sz="950" dirty="0"/>
          </a:p>
        </p:txBody>
      </p:sp>
      <p:sp>
        <p:nvSpPr>
          <p:cNvPr id="22" name="Text 20"/>
          <p:cNvSpPr/>
          <p:nvPr/>
        </p:nvSpPr>
        <p:spPr>
          <a:xfrm>
            <a:off x="4782312" y="2761488"/>
            <a:ext cx="393192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Research synthesis agent: monitors a SharePoint folder for new market research PDFs, extracts the commodity, price outlook, and FM&amp;I-relevant data points, and posts structured summaries to Teams — 2-3 hours of weekly reading compressed to a 5-minute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Model review report generation: after each quarterly review, an agent drafts the review report using a standard template, filling in performance metrics, calibration history, and compliance checklists.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Data quality monitoring with alerts: a daily agent runs checks on FM&amp;I datasets and sends a Teams alert when data quality drops below configurable thresholds — catching issues before they reach model outputs.</a:t>
            </a:r>
            <a:endParaRPr lang="en-US" sz="750" dirty="0"/>
          </a:p>
        </p:txBody>
      </p:sp>
      <p:sp>
        <p:nvSpPr>
          <p:cNvPr id="23" name="Shape 21"/>
          <p:cNvSpPr/>
          <p:nvPr/>
        </p:nvSpPr>
        <p:spPr>
          <a:xfrm>
            <a:off x="0" y="4663440"/>
            <a:ext cx="9144000" cy="475488"/>
          </a:xfrm>
          <a:prstGeom prst="rect">
            <a:avLst/>
          </a:prstGeom>
          <a:solidFill>
            <a:srgbClr val="0F1B2D"/>
          </a:solidFill>
          <a:ln/>
        </p:spPr>
      </p:sp>
      <p:sp>
        <p:nvSpPr>
          <p:cNvPr id="24" name="Text 22"/>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Pick your highest-impact idea — bring it to Innovation Day with: what it does, what data it needs, who benefits, what the MVP looks like</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75569"/>
          </a:solidFill>
          <a:ln w="12700">
            <a:solidFill>
              <a:srgbClr val="4755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475569"/>
                </a:solidFill>
                <a:latin typeface="Trebuchet MS" pitchFamily="34" charset="0"/>
                <a:ea typeface="Trebuchet MS" pitchFamily="34" charset="-122"/>
                <a:cs typeface="Trebuchet MS" pitchFamily="34" charset="-120"/>
              </a:rPr>
              <a:t>10</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Closing Thoughts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Three uncomfortable truths about where this is all going</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AI isn’t making data scientists obsolete.</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It’s making the ones who don’t use it obsolete.</a:t>
            </a:r>
            <a:endParaRPr lang="en-US" sz="3000" dirty="0"/>
          </a:p>
        </p:txBody>
      </p:sp>
      <p:sp>
        <p:nvSpPr>
          <p:cNvPr id="4" name="Shape 2"/>
          <p:cNvSpPr/>
          <p:nvPr/>
        </p:nvSpPr>
        <p:spPr>
          <a:xfrm>
            <a:off x="548640" y="2286000"/>
            <a:ext cx="1828800" cy="36576"/>
          </a:xfrm>
          <a:prstGeom prst="rect">
            <a:avLst/>
          </a:prstGeom>
          <a:solidFill>
            <a:srgbClr val="0D9488"/>
          </a:solidFill>
          <a:ln w="12700">
            <a:solidFill>
              <a:srgbClr val="0D9488"/>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productivity gap between AI adopters and non-adopters in technical fields is now measurable in sprint velocity, model delivery time, and analyst capacity utilisation. Teams with mature AI adoption are shipping 2–3 times more models per quarter at the same headcount — not because their engineers are smarter, but because each engineer is directing AI tools rather than executing every step manually.</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In front-office analytics specifically: Accenture’s 2025 study found the top 20% of AI adopters saved 15 hours per week. The bottom 20% saved 2 hours. Same tools. Same technical background. The entire gap was explained by one thing: how deeply they had integrated AI into their daily workflow.</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FM&amp;I domain expertise you have built — crack spreads, forward curves, calibration methodology, the commercial context that makes a number meaningful — is exactly the judgment layer that makes AI-assisted work valuable rather than just fast. The threat is not to people who deeply understand the fundamentals. The threat is to people who can be replaced by someone who deeply understands the fundamentals and also uses AI. That person exists. They are being hired right now.</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The next decade won’t kill technology jobs.</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 will kill the comfortable middle.</a:t>
            </a:r>
            <a:endParaRPr lang="en-US" sz="3000" dirty="0"/>
          </a:p>
        </p:txBody>
      </p:sp>
      <p:sp>
        <p:nvSpPr>
          <p:cNvPr id="4" name="Shape 2"/>
          <p:cNvSpPr/>
          <p:nvPr/>
        </p:nvSpPr>
        <p:spPr>
          <a:xfrm>
            <a:off x="548640" y="2286000"/>
            <a:ext cx="1828800" cy="36576"/>
          </a:xfrm>
          <a:prstGeom prst="rect">
            <a:avLst/>
          </a:prstGeom>
          <a:solidFill>
            <a:srgbClr val="D97706"/>
          </a:solidFill>
          <a:ln w="12700">
            <a:solidFill>
              <a:srgbClr val="D97706"/>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comfortable middle is the layer of work that sits between deep domain expertise and pure execution — the translator function between subject matter experts and systems. In energy trading analytics, this is the role of someone who writes queries and formats reports but does not deeply own the models or the commercial decisions those models inform.</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AI is replacing that translation layer faster than most people inside it realise. A 2025 Goldman Sachs internal study found a 30% reduction in code review cycle time in teams using AI coding tools — not because fewer people reviewed code, but because the code arriving at review was better. The work being compressed is exactly the mid-layer work.</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people in the comfortable middle who never built irreplaceable domain knowledge are finding their role automated at the rate of one capability jump per quarter. The response is not to panic about AI, but to invest in the domain expertise that sits above the translation layer. The analytical depth that makes you irreplaceable is not threatened by AI — it is amplified by it. The only risk is doing neither: not building domain depth, and not using AI.</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C2626"/>
          </a:solidFill>
          <a:ln w="12700">
            <a:solidFill>
              <a:srgbClr val="DC2626"/>
            </a:solidFill>
            <a:prstDash val="solid"/>
          </a:ln>
        </p:spPr>
      </p:sp>
      <p:sp>
        <p:nvSpPr>
          <p:cNvPr id="3" name="Text 1"/>
          <p:cNvSpPr/>
          <p:nvPr/>
        </p:nvSpPr>
        <p:spPr>
          <a:xfrm>
            <a:off x="548640" y="822960"/>
            <a:ext cx="8046720" cy="1417320"/>
          </a:xfrm>
          <a:prstGeom prst="rect">
            <a:avLst/>
          </a:prstGeom>
          <a:noFill/>
          <a:ln/>
        </p:spPr>
        <p:txBody>
          <a:bodyPr wrap="square" rtlCol="0" anchor="ctr"/>
          <a:lstStyle/>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isn’t whether</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AI wrote the code.</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 who owns the risk?</a:t>
            </a:r>
            <a:endParaRPr lang="en-US" sz="2800" dirty="0"/>
          </a:p>
        </p:txBody>
      </p:sp>
      <p:sp>
        <p:nvSpPr>
          <p:cNvPr id="4" name="Shape 2"/>
          <p:cNvSpPr/>
          <p:nvPr/>
        </p:nvSpPr>
        <p:spPr>
          <a:xfrm>
            <a:off x="548640" y="2423160"/>
            <a:ext cx="1828800" cy="36576"/>
          </a:xfrm>
          <a:prstGeom prst="rect">
            <a:avLst/>
          </a:prstGeom>
          <a:solidFill>
            <a:srgbClr val="DC2626"/>
          </a:solidFill>
          <a:ln w="12700">
            <a:solidFill>
              <a:srgbClr val="DC2626"/>
            </a:solidFill>
            <a:prstDash val="solid"/>
          </a:ln>
        </p:spPr>
      </p:sp>
      <p:sp>
        <p:nvSpPr>
          <p:cNvPr id="5" name="Text 3"/>
          <p:cNvSpPr/>
          <p:nvPr/>
        </p:nvSpPr>
        <p:spPr>
          <a:xfrm>
            <a:off x="548640" y="2606040"/>
            <a:ext cx="8046720" cy="182880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That is still you. The performance art around coding — requirements ceremonies, architecture slideware, AI wrappers that make no one accountable — does not answer the hard question. When the fundamental model gives a bad signal because the ELT pipeline had a bug and the trading desk acts on it, someone owns that outcome. The fact that an AI tool wrote the code that contained the bug does not change the ownership.</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This matters because the current generation of AI tools are right 85–95% of the time on well-defined tasks. That means 5–15% of AI-generated outputs have an error — sometimes a subtle one that looks correct. In FM&amp;I, where model outputs inform commercial decisions, a plausible-but-wrong output that reaches the trading desk is a real risk.</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Build AI into your workflow enthusiastically. But own the output with the same rigour you would apply to code you wrote by hand. Review it. Test it. Validate it against your domain knowledge. The AI is fast and often right. You are the one who knows when the output is plausible but wrong in the specific context of this commodity, this market structure, this week’s supply dynamic. That judgment is not replaceable — and it is exactly what the tools depend on you to provide.</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Three things to do before Innovation Day</a:t>
            </a:r>
            <a:endParaRPr lang="en-US" sz="2600" dirty="0"/>
          </a:p>
        </p:txBody>
      </p:sp>
      <p:sp>
        <p:nvSpPr>
          <p:cNvPr id="4" name="Shape 2"/>
          <p:cNvSpPr/>
          <p:nvPr/>
        </p:nvSpPr>
        <p:spPr>
          <a:xfrm>
            <a:off x="228600" y="804672"/>
            <a:ext cx="2834640" cy="3520440"/>
          </a:xfrm>
          <a:prstGeom prst="rect">
            <a:avLst/>
          </a:prstGeom>
          <a:solidFill>
            <a:srgbClr val="1E293B"/>
          </a:solidFill>
          <a:ln/>
        </p:spPr>
      </p:sp>
      <p:sp>
        <p:nvSpPr>
          <p:cNvPr id="5" name="Shape 3"/>
          <p:cNvSpPr/>
          <p:nvPr/>
        </p:nvSpPr>
        <p:spPr>
          <a:xfrm>
            <a:off x="228600" y="804672"/>
            <a:ext cx="2834640" cy="45720"/>
          </a:xfrm>
          <a:prstGeom prst="rect">
            <a:avLst/>
          </a:prstGeom>
          <a:solidFill>
            <a:srgbClr val="0D9488"/>
          </a:solidFill>
          <a:ln w="12700">
            <a:solidFill>
              <a:srgbClr val="0D9488"/>
            </a:solidFill>
            <a:prstDash val="solid"/>
          </a:ln>
        </p:spPr>
      </p:sp>
      <p:sp>
        <p:nvSpPr>
          <p:cNvPr id="6" name="Text 4"/>
          <p:cNvSpPr/>
          <p:nvPr/>
        </p:nvSpPr>
        <p:spPr>
          <a:xfrm>
            <a:off x="365760" y="914400"/>
            <a:ext cx="2560320" cy="475488"/>
          </a:xfrm>
          <a:prstGeom prst="rect">
            <a:avLst/>
          </a:prstGeom>
          <a:noFill/>
          <a:ln/>
        </p:spPr>
        <p:txBody>
          <a:bodyPr wrap="square" rtlCol="0" anchor="t"/>
          <a:lstStyle/>
          <a:p>
            <a:pPr algn="l" indent="0" marL="0">
              <a:buNone/>
            </a:pPr>
            <a:r>
              <a:rPr lang="en-US" sz="2200" b="1" dirty="0">
                <a:solidFill>
                  <a:srgbClr val="0D9488"/>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365760"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Request your licence</a:t>
            </a:r>
            <a:endParaRPr lang="en-US" sz="1100" dirty="0"/>
          </a:p>
        </p:txBody>
      </p:sp>
      <p:sp>
        <p:nvSpPr>
          <p:cNvPr id="8" name="Text 6"/>
          <p:cNvSpPr/>
          <p:nvPr/>
        </p:nvSpPr>
        <p:spPr>
          <a:xfrm>
            <a:off x="365760"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GitHub Copilot: IT self-service portal → ‘Developer Tools’ → submit request. Approval in 2-3 business days. Already have M365? Open Teams or Word — Copilot is already active. Cursor: expense via T&amp;E with manager approval (£20/month Pro) or raise an IT request with an FM&amp;I business justification. The entire process takes under 10 minutes to initiate.</a:t>
            </a:r>
            <a:endParaRPr lang="en-US" sz="850" dirty="0"/>
          </a:p>
        </p:txBody>
      </p:sp>
      <p:sp>
        <p:nvSpPr>
          <p:cNvPr id="9" name="Text 7"/>
          <p:cNvSpPr/>
          <p:nvPr/>
        </p:nvSpPr>
        <p:spPr>
          <a:xfrm>
            <a:off x="365760"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If you leave today without initiating a request, the probability of doing it tomorrow drops to near zero.</a:t>
            </a:r>
            <a:endParaRPr lang="en-US" sz="750" dirty="0"/>
          </a:p>
        </p:txBody>
      </p:sp>
      <p:sp>
        <p:nvSpPr>
          <p:cNvPr id="10" name="Shape 8"/>
          <p:cNvSpPr/>
          <p:nvPr/>
        </p:nvSpPr>
        <p:spPr>
          <a:xfrm>
            <a:off x="3273552" y="804672"/>
            <a:ext cx="2834640" cy="3520440"/>
          </a:xfrm>
          <a:prstGeom prst="rect">
            <a:avLst/>
          </a:prstGeom>
          <a:solidFill>
            <a:srgbClr val="1E293B"/>
          </a:solidFill>
          <a:ln/>
        </p:spPr>
      </p:sp>
      <p:sp>
        <p:nvSpPr>
          <p:cNvPr id="11" name="Shape 9"/>
          <p:cNvSpPr/>
          <p:nvPr/>
        </p:nvSpPr>
        <p:spPr>
          <a:xfrm>
            <a:off x="3273552" y="804672"/>
            <a:ext cx="2834640" cy="45720"/>
          </a:xfrm>
          <a:prstGeom prst="rect">
            <a:avLst/>
          </a:prstGeom>
          <a:solidFill>
            <a:srgbClr val="2563EB"/>
          </a:solidFill>
          <a:ln w="12700">
            <a:solidFill>
              <a:srgbClr val="2563EB"/>
            </a:solidFill>
            <a:prstDash val="solid"/>
          </a:ln>
        </p:spPr>
      </p:sp>
      <p:sp>
        <p:nvSpPr>
          <p:cNvPr id="12" name="Text 10"/>
          <p:cNvSpPr/>
          <p:nvPr/>
        </p:nvSpPr>
        <p:spPr>
          <a:xfrm>
            <a:off x="3410712" y="914400"/>
            <a:ext cx="2560320" cy="475488"/>
          </a:xfrm>
          <a:prstGeom prst="rect">
            <a:avLst/>
          </a:prstGeom>
          <a:noFill/>
          <a:ln/>
        </p:spPr>
        <p:txBody>
          <a:bodyPr wrap="square" rtlCol="0" anchor="t"/>
          <a:lstStyle/>
          <a:p>
            <a:pPr algn="l" indent="0" marL="0">
              <a:buNone/>
            </a:pPr>
            <a:r>
              <a:rPr lang="en-US" sz="2200" b="1" dirty="0">
                <a:solidFill>
                  <a:srgbClr val="2563EB"/>
                </a:solidFill>
                <a:latin typeface="Trebuchet MS" pitchFamily="34" charset="0"/>
                <a:ea typeface="Trebuchet MS" pitchFamily="34" charset="-122"/>
                <a:cs typeface="Trebuchet MS" pitchFamily="34" charset="-120"/>
              </a:rPr>
              <a:t>02</a:t>
            </a:r>
            <a:endParaRPr lang="en-US" sz="2200" dirty="0"/>
          </a:p>
        </p:txBody>
      </p:sp>
      <p:sp>
        <p:nvSpPr>
          <p:cNvPr id="13" name="Text 11"/>
          <p:cNvSpPr/>
          <p:nvPr/>
        </p:nvSpPr>
        <p:spPr>
          <a:xfrm>
            <a:off x="3410712"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Run one real task this week</a:t>
            </a:r>
            <a:endParaRPr lang="en-US" sz="1100" dirty="0"/>
          </a:p>
        </p:txBody>
      </p:sp>
      <p:sp>
        <p:nvSpPr>
          <p:cNvPr id="14" name="Text 12"/>
          <p:cNvSpPr/>
          <p:nvPr/>
        </p:nvSpPr>
        <p:spPr>
          <a:xfrm>
            <a:off x="3410712"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a task you are doing this week that would normally take 30+ minutes — a recipe debug, a documentation update, a data quality check, a meeting follow-up. Use an AI tool for it. Time how long it takes. The time comparison, experienced personally rather than read on a slide, is what converts a sceptic into a regular user.</a:t>
            </a:r>
            <a:endParaRPr lang="en-US" sz="850" dirty="0"/>
          </a:p>
        </p:txBody>
      </p:sp>
      <p:sp>
        <p:nvSpPr>
          <p:cNvPr id="15" name="Text 13"/>
          <p:cNvSpPr/>
          <p:nvPr/>
        </p:nvSpPr>
        <p:spPr>
          <a:xfrm>
            <a:off x="3410712"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First task recommendation: use Copilot in Teams to summarise your next meeting and draft the follow-up actions.</a:t>
            </a:r>
            <a:endParaRPr lang="en-US" sz="750" dirty="0"/>
          </a:p>
        </p:txBody>
      </p:sp>
      <p:sp>
        <p:nvSpPr>
          <p:cNvPr id="16" name="Shape 14"/>
          <p:cNvSpPr/>
          <p:nvPr/>
        </p:nvSpPr>
        <p:spPr>
          <a:xfrm>
            <a:off x="6327648" y="804672"/>
            <a:ext cx="2834640" cy="3520440"/>
          </a:xfrm>
          <a:prstGeom prst="rect">
            <a:avLst/>
          </a:prstGeom>
          <a:solidFill>
            <a:srgbClr val="1E293B"/>
          </a:solidFill>
          <a:ln/>
        </p:spPr>
      </p:sp>
      <p:sp>
        <p:nvSpPr>
          <p:cNvPr id="17" name="Shape 15"/>
          <p:cNvSpPr/>
          <p:nvPr/>
        </p:nvSpPr>
        <p:spPr>
          <a:xfrm>
            <a:off x="6327648" y="804672"/>
            <a:ext cx="2834640" cy="45720"/>
          </a:xfrm>
          <a:prstGeom prst="rect">
            <a:avLst/>
          </a:prstGeom>
          <a:solidFill>
            <a:srgbClr val="059669"/>
          </a:solidFill>
          <a:ln w="12700">
            <a:solidFill>
              <a:srgbClr val="059669"/>
            </a:solidFill>
            <a:prstDash val="solid"/>
          </a:ln>
        </p:spPr>
      </p:sp>
      <p:sp>
        <p:nvSpPr>
          <p:cNvPr id="18" name="Text 16"/>
          <p:cNvSpPr/>
          <p:nvPr/>
        </p:nvSpPr>
        <p:spPr>
          <a:xfrm>
            <a:off x="6464808" y="914400"/>
            <a:ext cx="2560320" cy="475488"/>
          </a:xfrm>
          <a:prstGeom prst="rect">
            <a:avLst/>
          </a:prstGeom>
          <a:noFill/>
          <a:ln/>
        </p:spPr>
        <p:txBody>
          <a:bodyPr wrap="square" rtlCol="0" anchor="t"/>
          <a:lstStyle/>
          <a:p>
            <a:pPr algn="l" indent="0" marL="0">
              <a:buNone/>
            </a:pPr>
            <a:r>
              <a:rPr lang="en-US" sz="2200" b="1" dirty="0">
                <a:solidFill>
                  <a:srgbClr val="059669"/>
                </a:solidFill>
                <a:latin typeface="Trebuchet MS" pitchFamily="34" charset="0"/>
                <a:ea typeface="Trebuchet MS" pitchFamily="34" charset="-122"/>
                <a:cs typeface="Trebuchet MS" pitchFamily="34" charset="-120"/>
              </a:rPr>
              <a:t>03</a:t>
            </a:r>
            <a:endParaRPr lang="en-US" sz="2200" dirty="0"/>
          </a:p>
        </p:txBody>
      </p:sp>
      <p:sp>
        <p:nvSpPr>
          <p:cNvPr id="19" name="Text 17"/>
          <p:cNvSpPr/>
          <p:nvPr/>
        </p:nvSpPr>
        <p:spPr>
          <a:xfrm>
            <a:off x="6464808"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Bring your best idea</a:t>
            </a:r>
            <a:endParaRPr lang="en-US" sz="1100" dirty="0"/>
          </a:p>
        </p:txBody>
      </p:sp>
      <p:sp>
        <p:nvSpPr>
          <p:cNvPr id="20" name="Text 18"/>
          <p:cNvSpPr/>
          <p:nvPr/>
        </p:nvSpPr>
        <p:spPr>
          <a:xfrm>
            <a:off x="6464808"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one commercial use case from today’s session that maps to a problem you actually face. Prepare four things: what is the specific problem (time it takes, how often it occurs), what data does the solution need and is it safe, who benefits and by how much, and what would a 2-week MVP demonstration look like.</a:t>
            </a:r>
            <a:endParaRPr lang="en-US" sz="850" dirty="0"/>
          </a:p>
        </p:txBody>
      </p:sp>
      <p:sp>
        <p:nvSpPr>
          <p:cNvPr id="21" name="Text 19"/>
          <p:cNvSpPr/>
          <p:nvPr/>
        </p:nvSpPr>
        <p:spPr>
          <a:xfrm>
            <a:off x="6464808"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The innovation_day_board.md in the FM&amp;I shared drive has the full evaluation rubric and submission template.</a:t>
            </a:r>
            <a:endParaRPr lang="en-US" sz="750" dirty="0"/>
          </a:p>
        </p:txBody>
      </p:sp>
      <p:sp>
        <p:nvSpPr>
          <p:cNvPr id="22" name="Text 20"/>
          <p:cNvSpPr/>
          <p:nvPr/>
        </p:nvSpPr>
        <p:spPr>
          <a:xfrm>
            <a:off x="457200" y="4389120"/>
            <a:ext cx="8229600" cy="29260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You already have the tools. The only thing between you and 10× productivity is knowing which one to reach for — and when.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2026-03-08T23:07:50Z</dcterms:created>
  <dcterms:modified xsi:type="dcterms:W3CDTF">2026-03-08T23:07:50Z</dcterms:modified>
</cp:coreProperties>
</file>