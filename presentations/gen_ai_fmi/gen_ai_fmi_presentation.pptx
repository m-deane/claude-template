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notesMasterIdLst>
    <p:notesMasterId r:id="rId6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notesMaster" Target="notesMasters/notesMaster1.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Before I get into the content, let me tell you what this session is not. It is not an AI 101. It is not a conceptual introduction to how language models work. And it is not a vendor pitch.
This is a practical briefing, by and for this team. FM&amp;I specifically. Everything in this session is chosen because it maps directly to workflows we run.
Ninety minutes. At the end, every person in this room will have a complete map of every AI tool available, every access path, every compliance boundary, and a concrete idea ready for Innovation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one. The productivity case. I want to make this specific and quantified before we look at a single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Fifteen hours per week versus two hours per week.
Both numbers come from the same 2025 Accenture study of analytics teams. Same tools. Same team composition. Same technical background. The difference was entirely in how they integrated AI into their daily workflow.
[PAUSE]
Think about what fifteen hours per week means in practice. Nearly two full working days, every single week, freed from low-complexity mechanical work. Over a year, that is six weeks of analytical capacity per person returned to the team.
This is not a study of ML engineers versus non-technical users. The gap is not technical skill. The gap is workflow integration. That is what today is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data points. Different studies. Comparable technical teams.
Fifty-five percent faster on code task completion. Eight to twelve hours per week for analytics teams. Fifty percent less time on documentation. Forty percent faster code review cycles at Goldman Sachs.
[PAUSE]
These are comparable technical teams, in comparable organisations, doing comparable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passive user uses AI for isolated queries. They open a chat window when stuck. They start fresh every time with no project context.
The active integrator uses AI at every stage. Before writing code — planning. During — completion. After — review, documentation, test generation. Project-level configuration. Agents for multi-step tasks.
The difference in productivity is not the tools. It is the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FM&amp;I workflow numbers. Not generic developer numbers.
Pipeline debugging: forty to eighty minutes → five to ten minutes. Model documentation: four to six hours → one to two. Ad hoc analysis: two to three hours → forty-five minutes. Test writing: previously skipped → fifteen minutes. Report generation: three to four hours → thirty to forty-five minutes.
[PAUSE]
At FM&amp;I's workflow volume, these savings compound. Five team members each saving ten hours a week is fifty hours per week — twelve and a half full working days per week returned to the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two. The landscape. What is available, how to access it, and what changed in the last twelve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be specific about access.
M365 Copilot is available to you now. Open Teams. Look for the Copilot icon. It is there.
GitHub Copilot: raise an IT service desk request. Data stays within the BP GitHub organisation.
Cursor is personal only. No enterprise agreement with BP. Should not be used with BP proprietary code.
Copilot Studio requires an additional licence.
[PAUSE]
The headline: two tools, zero additional cost, zero approval needed, available right now. Most of you are not using them fully. That changes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timeline matters because the tools we are discussing today are categorically more capable than what existed twelve months ago.
Q1 2025 — Claude 3.5 Sonnet became the standard for coding assistance. Q2 2025 — Gemini 2.0 made one million token context windows practically usable. Q2 2025 — Claude 3.7 Sonnet with extended thinking. Q3 2025 — o3 from OpenAI. Q3 2025 — Llama 3.3 70B. Q4 2025 — Claude Sonnet 4.6 and Opus 4.6. Q1 2026 — where we are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changes. Not incremental improvements. Actual step-changes in what you can do with these tools.
Context windows. Claude now has 200,000 token context. Gemini has one million. You can load your entire Dataiku project into a single AI context and ask architecture-level questions.
Agentic execution. An agent can receive a task, plan, execute across multiple files, run tests, fix failures, and report back — without human involvement at each step.
Tool calling and MCP. LLMs can invoke external APIs, read files, query databases. MCP standardises how. Think of it as USB for AI integrations.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three. Use cases. Concrete, specific, with real time numbers. Then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workflows. Every one of these is something FM&amp;I runs regularly.
Pipeline debugging, code generation, ad hoc analysis, model documentation, report automation, test writing. The time savings are immediate and compounding.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Switch to GitHub Copilot in VS Code.
Use a pre-prepared Dataiku recipe stack trace — Pandas merge with ambiguous join key producing duplicate rows and a downstream assertion failure. Paste stack trace + ~30-line recipe code into Copilot Chat. Ask: 'Diagnose the root cause of this error and suggest a fix with explanation.'
Key demonstration: the AI should trace through why the upstream data refresh created the ambiguity, not just where Python threw the error.
Watch specifically: how fast it traces the error chain, whether it identifies the data-level cause, and whether the explanation is actually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worked: root cause identification from the stack trace was fast and accurate. The fix was immediately usable. When I asked the follow-up question about other risky merges, it proactively identified two more.
What to watch: the AI did not know the exact version of Dataiku's Pandas wrapper. Always verify the fix against the actual data. Explanation quality drops if context is thin.
The value is not magic. It is eliminating the mechanical search time. The judgment stays with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four. The tool deep-dives. This is the longest section because it is the most practically actionable.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 Copilot is already in every M365 application you use.
Teams: meeting summaries with action items automatically extracted. Real-time transcription. The 'prepare for this meeting' agent.
Outlook: thread summarisation, draft reply generation from bullet points.
Excel: natural language formula generation. Python in Excel — AI-assisted Python data analysis inside Excel cells.
The barrier to starting is zero. If you are in Teams right now, look for the Copilot icon in the left sidebar.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Switch to Teams / Copilot Business Chat.
Use a real or anonymised meeting recording with at least three action items attributed to named people. Ask: 'List all action items from this meeting. Who is responsible for each?' Then: 'Draft a follow-up email to [name] summarising their actions and the timeline.'
Watch the accuracy of action item extraction. Whether names are correctly attributed. The speed — the manual version is fifteen minutes; the AI version is ninety seconds plus review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Copilot Agents are custom AI assistants you build inside the Copilot platform. No code required.
Three steps: define (name, purpose, personality in plain English), connect (SharePoint, documents, web), publish (Teams bot or web chatbot).
The instruction refinement workflow: after giving the agent initial instructions, ask it — 'Review your instructions and suggest improvements to make you more effective at FM&amp;I model Q&amp;A.' The agent generates better instructions. Paste them back. Iterate two or three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Switch to Copilot Studio.
Create new agent named 'FM&amp;I Pipeline Assistant'. Initial instructions: 'You help the FM&amp;I team answer questions about our Dataiku pipelines and fundamental models.' Test: 'What should I check if a gas pricing recipe fails?' Then ask: 'Review your instructions and suggest improvements for FM&amp;I's data pipeline workflows.' Paste improved instructions back. Show response quality improvement.
Watch specifically the quality gap between the initial generic response and the response after instruction refinement.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important point about the Copilot roadmap is that it is moving fast. BizChat, Python in Excel, third-party plugins, meeting preparation agent, reasoning mode already delivered. Copilot Notebooks, multi-agent workflows, and deeper Power BI integration confirmed coming. Whatever gap Copilot has today, check again in ninety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Copilot: enterprise daily driver. BP enterprise agreement. Data stays within BP GitHub org. Request licence through IT service desk. Cursor: more powerful — 200K context, full model selection, full MCP tool support, background agents, git worktrees. But personal subscription only — should not be used with BP proprietary code. The gap is narrowing. GitHub Copilot for work. Cursor for personal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your mental model of these tools is 'fancy autocomplete', you are getting about ten percent of the value. Documentation, test writing, refactoring, architecture reasoning, debugging, PR and commit messages — these are the high-value applications.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highest-leverage investment you can make is writing a good project configuration file — once. For GitHub Copilot: .github/copilot-instructions.md. For Cursor: .cursorrules. For Claude Code: CLAUDE.md.
Without this file, every AI session starts from scratch. With it, every session starts with full context. And a new team member inherits an AI assistant that already knows the FM&amp;I codebase conventions.
[PAUSE]
The template is the asset. Write it once. Benefit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modes. Three workflows.
Ask: conversational, no actions, single-turn. Use for understanding.
Plan: proposes changes without executing. Use for complex or risky changes.
Agent: plans and executes autonomously. Reads files, writes files, runs commands, iterates.
Rule of thumb: ask for understanding, plan for caution, agent for execution.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Five-part structure: role and context, task, constraints, output format, edge cases. Most people use two.
The meta-trick: 'Here is my vague task: [X]. Generate a precise, well-structured prompt I can use to accomplish this.' The AI knows what information it needs. Ask it to specify that. This is not laziness — it is skill leverage.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Background agents: long-running tasks in the cloud while you continue working. Large-scale refactors become overnight background jobs.
Git worktrees: multiple agents on parallel branches simultaneously. Model variant A in one worktree, B in another — both implemented in parallel.
[PAUSE]
At twenty dollars a month on a personal subscription, you are paying for a fundamentally different class of AI capability than most people know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operators control what the AI sees: @file, @folder, @codebase, @web, @docs, @git.
.cursorignore excludes noise from the codebase index.
Multi-agent orchestration: orchestrator delegates to specialised sub-agents. One writes implementation, one tests, one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halfway through.
You already have the tools. The only thing between you and ten times the productivity is knowing which tool to reach for and when.
GitHub Copilot: available now. M365 Copilot: available now. The question is your workflow, not your licence.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@workspace: architecture-level questions across the full indexed codebase. Slash commands: /explain, /fix, /test, /doc, /new. Multi-file edits in VS Code. CLI integration: gh copilot suggest and gh copilot explain.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H1 2026: expanded workspace agent. Broader model selection. H2 2026: background agents — closing the gap with Cursor. Improved MCP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H1 2026: improved background agent reliability. Expanded MCP marketplace. H2 2026: enterprise features. If Cursor develops data handling agreements that meet BP's standards, a BP enterprise agreement becomes possible. Worth pursuing through IT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debugging: GitHub Copilot, Ask mode. Feature implementation: GitHub Copilot, Agent mode. Complex refactor: Cursor, Plan then Agent. Teams follow-up: M365 Copilot. Custom agent: Copilot Studio. Long agentic task: Cursor background agent.
One table. No more decision overhead.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Opus 4.6: complex multi-step reasoning, architecture design. Slower. Higher cost. Use when quality is the only constraint.
Claude Sonnet 4.6: the daily driver. Fast. Three dollars per million input tokens. Excellent at coding, data analysis, structured output.
Gemini 2.5: one million tokens. An entire Dataiku project in one context. Multimodal.
GPT-4o: general-purpose, strong multimodal, can run Python in a sandbox. o3: mathematical and logical reasoning.
Ollama local: when data cannot leave your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questions. One decision.
Data sensitive? → Ollama local. Context &gt; 128K? → Gemini 2.5. Complex reasoning? → Claude Opus 4.6 or o3. Otherwise: Claude Sonnet 4.6.
[PAUSE]
Memorise this. It eliminates the 'which model?' overhead on every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of ten, fifty requests per day, Sonnet rates: nine dollars per day. Context inflation — loading unnecessary files — can double this with no quality improvement.
Good context hygiene: include only the files relevant to this specific task. Start fresh for new tasks. Use .cursorignore.
The payoff: better quality, lower cost, faster responses.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Llama 3.3 70B runs on a MacBook Pro M3 Max at ten to fifteen tokens per second. Performs comparably to GPT-4 on many coding benchmarks.
For data-sensitive scenarios where code cannot go to a cloud service, local models are now credible. Not ideal, but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Allowed: internal documents and emails through M365 Copilot, BP code in GitHub Enterprise, publicly available data, anonymised data.
Prohibited: live trading positions (absolute rule), proprietary model parameters, client/counterparty identity, market-sensitive pre-public data, any BP data through consumer AI tools.
[PAUSE]
The line maps directly to BP's data classification framework and enterprise agreements.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determining factor is whether the tool is covered under a BP enterprise agreement.
M365 Copilot: yes. GitHub Copilot Enterprise: yes. Cursor and other external tools: no.
The bottom row — sensitive data — is no for every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rules: press release test, anonymise inputs, code patterns not data, never live positions, check the tool before using it.
Where to find current guidance: BP intranet, search 'AI governance'. Always check current guidance — this is an actively evolving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 plugins operate at the file or selection level. Claude Code operates at the repository level. It runs in the terminal. It can run bash commands, execute git operations, run your test suite, read and write any file — autonomously.
The workflow is different: you describe an outcome and come back when it is done.
CLAUDE.md is the configuration file that makes Claude Code context-aware at the project level. Written once, applied every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Complex tasks have clearly separable components. Agent teams exploit this.
Orchestrator receives the high-level task, plans the approach, delegates to specialised sub-agents. Each handles a specific aspect. The orchestrator synthesises.
This presentation was built using a five-agent team following this exact pattern: research, content structure, slide design, transcript, production.
[PAUSE]
The same pattern applies to FM&amp;I's complex deliverables — monthly reports, multi-component analysis packages, documentation updates across a pipeline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tool calling, an LLM can only generate text based on training data. With tool calling, it can invoke external functions, read files, query databases, call APIs, and take actions in the world.
MCP — Model Context Protocol — standardises how this works. Think of it as USB for AI integrations. Before MCP, every tool had its own bespoke integration format. MCP defines a common interface: any MCP-compliant client connects to any MCP-compliant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basic read-only Dataiku MCP server is approximately two hundred lines of Python. One day of build.
With it: 'What FM&amp;I scenarios ran today? Were there any failures?' The AI retrieves and summarises. 'The gas_curve_build job failed. Get the logs and tell me what went wrong.' The AI retrieves, diagnoses, suggests a fix. 'Re-trigger the gas_hub_prices scenario.' The AI makes the API call.
Three core functions: get_scenario_status, trigger_scenario, get_job_logs. That is the starting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2024: ask and get. One turn. No actions.
2025: tool use became reliable, context windows became large enough, models became better at multi-step plans.
What works reliably: well-defined tasks, detectable errors, bounded scope.
FM&amp;I applications in the reliable zone: nightly pipeline health monitor, weekly model drift alert, on-demand request triage agent.
Design tasks with clear success criteria and detectable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skill is a packaged, reusable AI workflow invoked by name. /data-quality-report — every time, consistently, for any dataset.
Every team member running a data quality check currently does it differently. A skill standardises this. Define once. Anyone invokes it. Output always in the same format.
Create in .claude/skills/. Write the specification in plain English. Specify the output format. Reference in CLAUDE.md.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hygiene: include only relevant files, start fresh for new tasks, use .cursorignore to exclude noise.
Token cost: Sonnet, team of ten, fifty requests per day: nine dollars per day. Context inflation doubles cost with no quality improvement.
Hooks in Claude Code: pre and post tool-call automation. Auto-lint after code writes. Auto-test after changes. Slack notification on completion.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Codex: OpenAI cloud sandbox. Cursor background: Cursor cloud. Claude Code: local or SSH — highest privacy.
For data-sensitive FM&amp;I work, Claude Code running locally or via SSH is the most defensible option. Data stays where you control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patterns: Claude Code + Remotion for programmatic video. Weather alerts for event-driven API integration. Claude Remote via SSH for data-local AI. Chrome extension for browser-native AI access. OpenClaw — describe directly. Template project — this repository as a live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data event trigger → Python script → Claude API → structured JSON → delivery via Slack or email.
The code is twenty lines. The complexity is in the prompt design.
FM&amp;I variants: pipeline failure alert, model drift alert, market anomaly alert. Each is a one-day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CLAUDE.md at root: project context, commands, critical patterns, known trade-offs.
.claude/CLAUDE.md: behavioural directives, prohibited patterns, quality gates.
Without these files: every session starts from zero. With them: every session starts with full context. New team members inherit the AI configuration.
Write it once. Benefit on every session. Replicate this pattern for FM&amp;I's Dataiku projects, model repositories, shared analysis tooling.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categories, twenty-five ideas pre-seeded for Innovation Day.
Data and modelling: AI model validator, automatic model card generator, statistical assumption checker.
Trading desk support: market structure briefing agent, request triage agent, curve comparison narrator.
Dataiku integration: pipeline health dashboard, data lineage Q&amp;A, schema drift detector.
Reporting and visualisation: NL chart generator, automated PowerPoint, report commentary assistant.
Process automation: meeting action items to Jira, onboarding knowledge base agent, incident response assistant.
None of these require new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times.
Not because AI is magic. Because eight hours of routine analytical work compresses to forty-five minutes. Every week. For every analyst on the team.
You already have the tools. The only thing between you and ten times the productivity is knowing which tool to reach for and when.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stated directly.
AI does not make data scientists redundant. It makes the excuse of not having enough time redundant.
The threat is not to FM&amp;I. It is to the IT middle layer that added value by translating between domain and technology, without deep understanding of either.
Who owns the risk when the AI is wrong? You do. That is an argument for better testing — not less AI.
The performance art around coding is ending. Requirements ceremonies. Architecture slideware. AI wrappers. When execution is fast and cheap, ceremony becomes conspicuous. The organisations that ship win.
[PAUSE]
FM&amp;I is on the right side of this. Domain experts who command the technical layer. AI makes that combination rarer and more valuable.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columns on the Innovation Day mural board.
What are you already using? What would save you the most time? What commercial idea would you build?
Three asks: request your GitHub Copilot licence this week. Set up a configuration file in one FM&amp;I project this month. Come to Innovation Day with one commercial idea written down.
The mural board is live. Add at least one idea before we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already have the tools. Now you know which one to reach for.
GitHub Copilot: raise an IT service desk request this week. M365 Copilot: open Teams right now, look for the Copilot icon. BP AI governance: intranet → 'AI governance'. Template project: link in the session notes.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2286000" y="2880360"/>
            <a:ext cx="1828800" cy="45720"/>
          </a:xfrm>
          <a:prstGeom prst="rect">
            <a:avLst/>
          </a:prstGeom>
          <a:solidFill>
            <a:srgbClr val="00A3E0"/>
          </a:solidFill>
          <a:ln w="12700">
            <a:solidFill>
              <a:srgbClr val="00A3E0"/>
            </a:solidFill>
            <a:prstDash val="solid"/>
          </a:ln>
        </p:spPr>
      </p:sp>
      <p:sp>
        <p:nvSpPr>
          <p:cNvPr id="3" name="Text 1"/>
          <p:cNvSpPr/>
          <p:nvPr/>
        </p:nvSpPr>
        <p:spPr>
          <a:xfrm>
            <a:off x="457200" y="2011680"/>
            <a:ext cx="11247120" cy="82296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Gen AI for FM&amp;I</a:t>
            </a:r>
            <a:endParaRPr lang="en-US" sz="4000" dirty="0"/>
          </a:p>
        </p:txBody>
      </p:sp>
      <p:sp>
        <p:nvSpPr>
          <p:cNvPr id="4" name="Text 2"/>
          <p:cNvSpPr/>
          <p:nvPr/>
        </p:nvSpPr>
        <p:spPr>
          <a:xfrm>
            <a:off x="457200" y="3108960"/>
            <a:ext cx="11247120" cy="457200"/>
          </a:xfrm>
          <a:prstGeom prst="rect">
            <a:avLst/>
          </a:prstGeom>
          <a:noFill/>
          <a:ln/>
        </p:spPr>
        <p:txBody>
          <a:bodyPr wrap="square" rtlCol="0" anchor="ctr"/>
          <a:lstStyle/>
          <a:p>
            <a:pPr algn="ctr" indent="0" marL="0">
              <a:buNone/>
            </a:pPr>
            <a:r>
              <a:rPr lang="en-US" sz="2200" dirty="0">
                <a:solidFill>
                  <a:srgbClr val="00A3E0"/>
                </a:solidFill>
                <a:latin typeface="Calibri" pitchFamily="34" charset="0"/>
                <a:ea typeface="Calibri" pitchFamily="34" charset="-122"/>
                <a:cs typeface="Calibri" pitchFamily="34" charset="-120"/>
              </a:rPr>
              <a:t>Tools, Workflows, and What's Next</a:t>
            </a:r>
            <a:endParaRPr lang="en-US" sz="2200" dirty="0"/>
          </a:p>
        </p:txBody>
      </p:sp>
      <p:sp>
        <p:nvSpPr>
          <p:cNvPr id="5" name="Text 3"/>
          <p:cNvSpPr/>
          <p:nvPr/>
        </p:nvSpPr>
        <p:spPr>
          <a:xfrm>
            <a:off x="457200" y="3749040"/>
            <a:ext cx="11247120" cy="365760"/>
          </a:xfrm>
          <a:prstGeom prst="rect">
            <a:avLst/>
          </a:prstGeom>
          <a:noFill/>
          <a:ln/>
        </p:spPr>
        <p:txBody>
          <a:bodyPr wrap="square" rtlCol="0" anchor="ctr"/>
          <a:lstStyle/>
          <a:p>
            <a:pPr algn="ctr" indent="0" marL="0">
              <a:buNone/>
            </a:pPr>
            <a:r>
              <a:rPr lang="en-US" sz="1600" dirty="0">
                <a:solidFill>
                  <a:srgbClr val="64748B"/>
                </a:solidFill>
                <a:latin typeface="Calibri" pitchFamily="34" charset="0"/>
                <a:ea typeface="Calibri" pitchFamily="34" charset="-122"/>
                <a:cs typeface="Calibri" pitchFamily="34" charset="-120"/>
              </a:rPr>
              <a:t>FM&amp;I Upskilling Session · BP Trading Analytics &amp; Insights · March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3A5F"/>
        </a:solidFill>
      </p:bgPr>
    </p:bg>
    <p:spTree>
      <p:nvGrpSpPr>
        <p:cNvPr id="1" name=""/>
        <p:cNvGrpSpPr/>
        <p:nvPr/>
      </p:nvGrpSpPr>
      <p:grpSpPr>
        <a:xfrm>
          <a:off x="0" y="0"/>
          <a:ext cx="0" cy="0"/>
          <a:chOff x="0" y="0"/>
          <a:chExt cx="0" cy="0"/>
        </a:xfrm>
      </p:grpSpPr>
      <p:sp>
        <p:nvSpPr>
          <p:cNvPr id="2" name="Text 0"/>
          <p:cNvSpPr/>
          <p:nvPr/>
        </p:nvSpPr>
        <p:spPr>
          <a:xfrm>
            <a:off x="8686800" y="3200400"/>
            <a:ext cx="3474720" cy="3200400"/>
          </a:xfrm>
          <a:prstGeom prst="rect">
            <a:avLst/>
          </a:prstGeom>
          <a:noFill/>
          <a:ln/>
        </p:spPr>
        <p:txBody>
          <a:bodyPr wrap="square" rtlCol="0" anchor="ctr"/>
          <a:lstStyle/>
          <a:p>
            <a:pPr algn="r" indent="0" marL="0">
              <a:buNone/>
            </a:pPr>
            <a:r>
              <a:rPr lang="en-US" sz="18000" b="1" dirty="0">
                <a:solidFill>
                  <a:srgbClr val="00A3E0">
                    <a:alpha val="20000"/>
                  </a:srgbClr>
                </a:solidFill>
                <a:latin typeface="Calibri" pitchFamily="34" charset="0"/>
                <a:ea typeface="Calibri" pitchFamily="34" charset="-122"/>
                <a:cs typeface="Calibri" pitchFamily="34" charset="-120"/>
              </a:rPr>
              <a:t>01</a:t>
            </a:r>
            <a:endParaRPr lang="en-US" sz="18000" dirty="0"/>
          </a:p>
        </p:txBody>
      </p:sp>
      <p:sp>
        <p:nvSpPr>
          <p:cNvPr id="3" name="Shape 1"/>
          <p:cNvSpPr/>
          <p:nvPr/>
        </p:nvSpPr>
        <p:spPr>
          <a:xfrm>
            <a:off x="548640" y="2194560"/>
            <a:ext cx="73152" cy="1463040"/>
          </a:xfrm>
          <a:prstGeom prst="rect">
            <a:avLst/>
          </a:prstGeom>
          <a:solidFill>
            <a:srgbClr val="00A3E0"/>
          </a:solidFill>
          <a:ln w="12700">
            <a:solidFill>
              <a:srgbClr val="00A3E0"/>
            </a:solidFill>
            <a:prstDash val="solid"/>
          </a:ln>
        </p:spPr>
      </p:sp>
      <p:sp>
        <p:nvSpPr>
          <p:cNvPr id="4" name="Text 2"/>
          <p:cNvSpPr/>
          <p:nvPr/>
        </p:nvSpPr>
        <p:spPr>
          <a:xfrm>
            <a:off x="777240" y="2286000"/>
            <a:ext cx="8229600" cy="6400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Section 1 — The Productivity Case</a:t>
            </a:r>
            <a:endParaRPr lang="en-US" sz="3200" dirty="0"/>
          </a:p>
        </p:txBody>
      </p:sp>
      <p:sp>
        <p:nvSpPr>
          <p:cNvPr id="5" name="Text 3"/>
          <p:cNvSpPr/>
          <p:nvPr/>
        </p:nvSpPr>
        <p:spPr>
          <a:xfrm>
            <a:off x="777240" y="3017520"/>
            <a:ext cx="8229600" cy="45720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Why this matters more than most AI sessions you've sat through</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indent="0" marL="0">
              <a:buNone/>
            </a:pPr>
            <a:r>
              <a:rPr lang="en-US" sz="2800" b="1" dirty="0">
                <a:solidFill>
                  <a:srgbClr val="0A1628"/>
                </a:solidFill>
                <a:latin typeface="Calibri" pitchFamily="34" charset="0"/>
                <a:ea typeface="Calibri" pitchFamily="34" charset="-122"/>
                <a:cs typeface="Calibri" pitchFamily="34" charset="-120"/>
              </a:rPr>
              <a:t>The Productivity Gap</a:t>
            </a:r>
            <a:endParaRPr lang="en-US" sz="2800" dirty="0"/>
          </a:p>
        </p:txBody>
      </p:sp>
      <p:sp>
        <p:nvSpPr>
          <p:cNvPr id="3" name="Text 1"/>
          <p:cNvSpPr/>
          <p:nvPr/>
        </p:nvSpPr>
        <p:spPr>
          <a:xfrm>
            <a:off x="914400" y="1188720"/>
            <a:ext cx="4114800" cy="1097280"/>
          </a:xfrm>
          <a:prstGeom prst="rect">
            <a:avLst/>
          </a:prstGeom>
          <a:noFill/>
          <a:ln/>
        </p:spPr>
        <p:txBody>
          <a:bodyPr wrap="square" rtlCol="0" anchor="ctr"/>
          <a:lstStyle/>
          <a:p>
            <a:pPr algn="ctr" indent="0" marL="0">
              <a:buNone/>
            </a:pPr>
            <a:r>
              <a:rPr lang="en-US" sz="4800" b="1" dirty="0">
                <a:solidFill>
                  <a:srgbClr val="F5A623"/>
                </a:solidFill>
                <a:latin typeface="Calibri" pitchFamily="34" charset="0"/>
                <a:ea typeface="Calibri" pitchFamily="34" charset="-122"/>
                <a:cs typeface="Calibri" pitchFamily="34" charset="-120"/>
              </a:rPr>
              <a:t>15 hrs/week</a:t>
            </a:r>
            <a:endParaRPr lang="en-US" sz="4800" dirty="0"/>
          </a:p>
        </p:txBody>
      </p:sp>
      <p:sp>
        <p:nvSpPr>
          <p:cNvPr id="4" name="Text 2"/>
          <p:cNvSpPr/>
          <p:nvPr/>
        </p:nvSpPr>
        <p:spPr>
          <a:xfrm>
            <a:off x="914400" y="2286000"/>
            <a:ext cx="4114800" cy="365760"/>
          </a:xfrm>
          <a:prstGeom prst="rect">
            <a:avLst/>
          </a:prstGeom>
          <a:noFill/>
          <a:ln/>
        </p:spPr>
        <p:txBody>
          <a:bodyPr wrap="square" rtlCol="0" anchor="ctr"/>
          <a:lstStyle/>
          <a:p>
            <a:pPr algn="ctr" indent="0" marL="0">
              <a:buNone/>
            </a:pPr>
            <a:r>
              <a:rPr lang="en-US" sz="1600" dirty="0">
                <a:solidFill>
                  <a:srgbClr val="64748B"/>
                </a:solidFill>
                <a:latin typeface="Calibri" pitchFamily="34" charset="0"/>
                <a:ea typeface="Calibri" pitchFamily="34" charset="-122"/>
                <a:cs typeface="Calibri" pitchFamily="34" charset="-120"/>
              </a:rPr>
              <a:t>Top 20% of AI adopters</a:t>
            </a:r>
            <a:endParaRPr lang="en-US" sz="1600" dirty="0"/>
          </a:p>
        </p:txBody>
      </p:sp>
      <p:sp>
        <p:nvSpPr>
          <p:cNvPr id="5" name="Text 3"/>
          <p:cNvSpPr/>
          <p:nvPr/>
        </p:nvSpPr>
        <p:spPr>
          <a:xfrm>
            <a:off x="4937760" y="1645920"/>
            <a:ext cx="2286000" cy="548640"/>
          </a:xfrm>
          <a:prstGeom prst="rect">
            <a:avLst/>
          </a:prstGeom>
          <a:noFill/>
          <a:ln/>
        </p:spPr>
        <p:txBody>
          <a:bodyPr wrap="square" rtlCol="0" anchor="ctr"/>
          <a:lstStyle/>
          <a:p>
            <a:pPr algn="ctr" indent="0" marL="0">
              <a:buNone/>
            </a:pPr>
            <a:r>
              <a:rPr lang="en-US" sz="3200" dirty="0">
                <a:solidFill>
                  <a:srgbClr val="64748B"/>
                </a:solidFill>
                <a:latin typeface="Calibri" pitchFamily="34" charset="0"/>
                <a:ea typeface="Calibri" pitchFamily="34" charset="-122"/>
                <a:cs typeface="Calibri" pitchFamily="34" charset="-120"/>
              </a:rPr>
              <a:t>VS</a:t>
            </a:r>
            <a:endParaRPr lang="en-US" sz="3200" dirty="0"/>
          </a:p>
        </p:txBody>
      </p:sp>
      <p:sp>
        <p:nvSpPr>
          <p:cNvPr id="6" name="Text 4"/>
          <p:cNvSpPr/>
          <p:nvPr/>
        </p:nvSpPr>
        <p:spPr>
          <a:xfrm>
            <a:off x="6858000" y="1188720"/>
            <a:ext cx="4114800" cy="1097280"/>
          </a:xfrm>
          <a:prstGeom prst="rect">
            <a:avLst/>
          </a:prstGeom>
          <a:noFill/>
          <a:ln/>
        </p:spPr>
        <p:txBody>
          <a:bodyPr wrap="square" rtlCol="0" anchor="ctr"/>
          <a:lstStyle/>
          <a:p>
            <a:pPr algn="ctr" indent="0" marL="0">
              <a:buNone/>
            </a:pPr>
            <a:r>
              <a:rPr lang="en-US" sz="4800" b="1" dirty="0">
                <a:solidFill>
                  <a:srgbClr val="64748B"/>
                </a:solidFill>
                <a:latin typeface="Calibri" pitchFamily="34" charset="0"/>
                <a:ea typeface="Calibri" pitchFamily="34" charset="-122"/>
                <a:cs typeface="Calibri" pitchFamily="34" charset="-120"/>
              </a:rPr>
              <a:t>2 hrs/week</a:t>
            </a:r>
            <a:endParaRPr lang="en-US" sz="4800" dirty="0"/>
          </a:p>
        </p:txBody>
      </p:sp>
      <p:sp>
        <p:nvSpPr>
          <p:cNvPr id="7" name="Text 5"/>
          <p:cNvSpPr/>
          <p:nvPr/>
        </p:nvSpPr>
        <p:spPr>
          <a:xfrm>
            <a:off x="6858000" y="2286000"/>
            <a:ext cx="4114800" cy="365760"/>
          </a:xfrm>
          <a:prstGeom prst="rect">
            <a:avLst/>
          </a:prstGeom>
          <a:noFill/>
          <a:ln/>
        </p:spPr>
        <p:txBody>
          <a:bodyPr wrap="square" rtlCol="0" anchor="ctr"/>
          <a:lstStyle/>
          <a:p>
            <a:pPr algn="ctr" indent="0" marL="0">
              <a:buNone/>
            </a:pPr>
            <a:r>
              <a:rPr lang="en-US" sz="1600" dirty="0">
                <a:solidFill>
                  <a:srgbClr val="64748B"/>
                </a:solidFill>
                <a:latin typeface="Calibri" pitchFamily="34" charset="0"/>
                <a:ea typeface="Calibri" pitchFamily="34" charset="-122"/>
                <a:cs typeface="Calibri" pitchFamily="34" charset="-120"/>
              </a:rPr>
              <a:t>Bottom 20% of AI adopters</a:t>
            </a:r>
            <a:endParaRPr lang="en-US" sz="1600" dirty="0"/>
          </a:p>
        </p:txBody>
      </p:sp>
      <p:sp>
        <p:nvSpPr>
          <p:cNvPr id="8" name="Text 6"/>
          <p:cNvSpPr/>
          <p:nvPr/>
        </p:nvSpPr>
        <p:spPr>
          <a:xfrm>
            <a:off x="1371600" y="3017520"/>
            <a:ext cx="9144000" cy="457200"/>
          </a:xfrm>
          <a:prstGeom prst="rect">
            <a:avLst/>
          </a:prstGeom>
          <a:noFill/>
          <a:ln/>
        </p:spPr>
        <p:txBody>
          <a:bodyPr wrap="square" rtlCol="0" anchor="t"/>
          <a:lstStyle/>
          <a:p>
            <a:pPr algn="ctr" indent="0" marL="0">
              <a:buNone/>
            </a:pPr>
            <a:r>
              <a:rPr lang="en-US" sz="2000" b="1" dirty="0">
                <a:solidFill>
                  <a:srgbClr val="0A1628"/>
                </a:solidFill>
                <a:latin typeface="Calibri" pitchFamily="34" charset="0"/>
                <a:ea typeface="Calibri" pitchFamily="34" charset="-122"/>
                <a:cs typeface="Calibri" pitchFamily="34" charset="-120"/>
              </a:rPr>
              <a:t>Same tools. Same team. The difference is entirely in how they use them.</a:t>
            </a:r>
            <a:endParaRPr lang="en-US" sz="2000" dirty="0"/>
          </a:p>
        </p:txBody>
      </p:sp>
      <p:sp>
        <p:nvSpPr>
          <p:cNvPr id="9" name="Text 7"/>
          <p:cNvSpPr/>
          <p:nvPr/>
        </p:nvSpPr>
        <p:spPr>
          <a:xfrm>
            <a:off x="1371600" y="3566160"/>
            <a:ext cx="9144000" cy="320040"/>
          </a:xfrm>
          <a:prstGeom prst="rect">
            <a:avLst/>
          </a:prstGeom>
          <a:noFill/>
          <a:ln/>
        </p:spPr>
        <p:txBody>
          <a:bodyPr wrap="square" rtlCol="0" anchor="t"/>
          <a:lstStyle/>
          <a:p>
            <a:pPr algn="ctr" indent="0" marL="0">
              <a:buNone/>
            </a:pPr>
            <a:r>
              <a:rPr lang="en-US" sz="1400" i="1" dirty="0">
                <a:solidFill>
                  <a:srgbClr val="64748B"/>
                </a:solidFill>
                <a:latin typeface="Calibri" pitchFamily="34" charset="0"/>
                <a:ea typeface="Calibri" pitchFamily="34" charset="-122"/>
                <a:cs typeface="Calibri" pitchFamily="34" charset="-120"/>
              </a:rPr>
              <a:t>Source: Accenture 2025 Analytics Team Study</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indent="0" marL="0">
              <a:buNone/>
            </a:pPr>
            <a:r>
              <a:rPr lang="en-US" sz="2800" b="1" dirty="0">
                <a:solidFill>
                  <a:srgbClr val="0A1628"/>
                </a:solidFill>
                <a:latin typeface="Calibri" pitchFamily="34" charset="0"/>
                <a:ea typeface="Calibri" pitchFamily="34" charset="-122"/>
                <a:cs typeface="Calibri" pitchFamily="34" charset="-120"/>
              </a:rPr>
              <a:t>What the Research Says</a:t>
            </a:r>
            <a:endParaRPr lang="en-US" sz="2800" dirty="0"/>
          </a:p>
        </p:txBody>
      </p:sp>
      <p:sp>
        <p:nvSpPr>
          <p:cNvPr id="3" name="Shape 1"/>
          <p:cNvSpPr/>
          <p:nvPr/>
        </p:nvSpPr>
        <p:spPr>
          <a:xfrm>
            <a:off x="548640" y="1005840"/>
            <a:ext cx="5303520" cy="1920240"/>
          </a:xfrm>
          <a:prstGeom prst="rect">
            <a:avLst/>
          </a:prstGeom>
          <a:solidFill>
            <a:srgbClr val="FFFFFF"/>
          </a:solidFill>
          <a:ln w="12700">
            <a:solidFill>
              <a:srgbClr val="00A3E0"/>
            </a:solidFill>
            <a:prstDash val="solid"/>
          </a:ln>
          <a:effectLst>
            <a:outerShdw sx="100000" sy="100000" kx="0" ky="0" algn="bl" rotWithShape="0" blurRad="50800" dist="25400" dir="2700000">
              <a:srgbClr val="AAAAAA">
                <a:alpha val="75000"/>
              </a:srgbClr>
            </a:outerShdw>
          </a:effectLst>
        </p:spPr>
      </p:sp>
      <p:sp>
        <p:nvSpPr>
          <p:cNvPr id="4" name="Shape 2"/>
          <p:cNvSpPr/>
          <p:nvPr/>
        </p:nvSpPr>
        <p:spPr>
          <a:xfrm>
            <a:off x="548640" y="1005840"/>
            <a:ext cx="5303520" cy="73152"/>
          </a:xfrm>
          <a:prstGeom prst="rect">
            <a:avLst/>
          </a:prstGeom>
          <a:solidFill>
            <a:srgbClr val="00A3E0"/>
          </a:solidFill>
          <a:ln w="12700">
            <a:solidFill>
              <a:srgbClr val="00A3E0"/>
            </a:solidFill>
            <a:prstDash val="solid"/>
          </a:ln>
        </p:spPr>
      </p:sp>
      <p:sp>
        <p:nvSpPr>
          <p:cNvPr id="5" name="Text 3"/>
          <p:cNvSpPr/>
          <p:nvPr/>
        </p:nvSpPr>
        <p:spPr>
          <a:xfrm>
            <a:off x="731520" y="1234440"/>
            <a:ext cx="4937760" cy="640080"/>
          </a:xfrm>
          <a:prstGeom prst="rect">
            <a:avLst/>
          </a:prstGeom>
          <a:noFill/>
          <a:ln/>
        </p:spPr>
        <p:txBody>
          <a:bodyPr wrap="square" rtlCol="0" anchor="ctr"/>
          <a:lstStyle/>
          <a:p>
            <a:pPr indent="0" marL="0">
              <a:buNone/>
            </a:pPr>
            <a:r>
              <a:rPr lang="en-US" sz="3400" b="1" dirty="0">
                <a:solidFill>
                  <a:srgbClr val="00A3E0"/>
                </a:solidFill>
                <a:latin typeface="Calibri" pitchFamily="34" charset="0"/>
                <a:ea typeface="Calibri" pitchFamily="34" charset="-122"/>
                <a:cs typeface="Calibri" pitchFamily="34" charset="-120"/>
              </a:rPr>
              <a:t>55% faster</a:t>
            </a:r>
            <a:endParaRPr lang="en-US" sz="3400" dirty="0"/>
          </a:p>
        </p:txBody>
      </p:sp>
      <p:sp>
        <p:nvSpPr>
          <p:cNvPr id="6" name="Text 4"/>
          <p:cNvSpPr/>
          <p:nvPr/>
        </p:nvSpPr>
        <p:spPr>
          <a:xfrm>
            <a:off x="731520" y="1874520"/>
            <a:ext cx="4937760" cy="365760"/>
          </a:xfrm>
          <a:prstGeom prst="rect">
            <a:avLst/>
          </a:prstGeom>
          <a:noFill/>
          <a:ln/>
        </p:spPr>
        <p:txBody>
          <a:bodyPr wrap="square" rtlCol="0" anchor="ctr"/>
          <a:lstStyle/>
          <a:p>
            <a:pPr indent="0" marL="0">
              <a:buNone/>
            </a:pPr>
            <a:r>
              <a:rPr lang="en-US" sz="1800" dirty="0">
                <a:solidFill>
                  <a:srgbClr val="0A1628"/>
                </a:solidFill>
                <a:latin typeface="Calibri" pitchFamily="34" charset="0"/>
                <a:ea typeface="Calibri" pitchFamily="34" charset="-122"/>
                <a:cs typeface="Calibri" pitchFamily="34" charset="-120"/>
              </a:rPr>
              <a:t>Code task completion</a:t>
            </a:r>
            <a:endParaRPr lang="en-US" sz="1800" dirty="0"/>
          </a:p>
        </p:txBody>
      </p:sp>
      <p:sp>
        <p:nvSpPr>
          <p:cNvPr id="7" name="Text 5"/>
          <p:cNvSpPr/>
          <p:nvPr/>
        </p:nvSpPr>
        <p:spPr>
          <a:xfrm>
            <a:off x="731520" y="2331720"/>
            <a:ext cx="4937760" cy="320040"/>
          </a:xfrm>
          <a:prstGeom prst="rect">
            <a:avLst/>
          </a:prstGeom>
          <a:noFill/>
          <a:ln/>
        </p:spPr>
        <p:txBody>
          <a:bodyPr wrap="square"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GitHub Dev Study 2024</a:t>
            </a:r>
            <a:endParaRPr lang="en-US" sz="1400" dirty="0"/>
          </a:p>
        </p:txBody>
      </p:sp>
      <p:sp>
        <p:nvSpPr>
          <p:cNvPr id="8" name="Shape 6"/>
          <p:cNvSpPr/>
          <p:nvPr/>
        </p:nvSpPr>
        <p:spPr>
          <a:xfrm>
            <a:off x="6492240" y="1005840"/>
            <a:ext cx="5303520" cy="1920240"/>
          </a:xfrm>
          <a:prstGeom prst="rect">
            <a:avLst/>
          </a:prstGeom>
          <a:solidFill>
            <a:srgbClr val="FFFFFF"/>
          </a:solidFill>
          <a:ln w="12700">
            <a:solidFill>
              <a:srgbClr val="00A3E0"/>
            </a:solidFill>
            <a:prstDash val="solid"/>
          </a:ln>
          <a:effectLst>
            <a:outerShdw sx="100000" sy="100000" kx="0" ky="0" algn="bl" rotWithShape="0" blurRad="50800" dist="25400" dir="2700000">
              <a:srgbClr val="AAAAAA">
                <a:alpha val="75000"/>
              </a:srgbClr>
            </a:outerShdw>
          </a:effectLst>
        </p:spPr>
      </p:sp>
      <p:sp>
        <p:nvSpPr>
          <p:cNvPr id="9" name="Shape 7"/>
          <p:cNvSpPr/>
          <p:nvPr/>
        </p:nvSpPr>
        <p:spPr>
          <a:xfrm>
            <a:off x="6492240" y="1005840"/>
            <a:ext cx="5303520" cy="73152"/>
          </a:xfrm>
          <a:prstGeom prst="rect">
            <a:avLst/>
          </a:prstGeom>
          <a:solidFill>
            <a:srgbClr val="00A3E0"/>
          </a:solidFill>
          <a:ln w="12700">
            <a:solidFill>
              <a:srgbClr val="00A3E0"/>
            </a:solidFill>
            <a:prstDash val="solid"/>
          </a:ln>
        </p:spPr>
      </p:sp>
      <p:sp>
        <p:nvSpPr>
          <p:cNvPr id="10" name="Text 8"/>
          <p:cNvSpPr/>
          <p:nvPr/>
        </p:nvSpPr>
        <p:spPr>
          <a:xfrm>
            <a:off x="6675120" y="1234440"/>
            <a:ext cx="4937760" cy="640080"/>
          </a:xfrm>
          <a:prstGeom prst="rect">
            <a:avLst/>
          </a:prstGeom>
          <a:noFill/>
          <a:ln/>
        </p:spPr>
        <p:txBody>
          <a:bodyPr wrap="square" rtlCol="0" anchor="ctr"/>
          <a:lstStyle/>
          <a:p>
            <a:pPr indent="0" marL="0">
              <a:buNone/>
            </a:pPr>
            <a:r>
              <a:rPr lang="en-US" sz="3400" b="1" dirty="0">
                <a:solidFill>
                  <a:srgbClr val="00A3E0"/>
                </a:solidFill>
                <a:latin typeface="Calibri" pitchFamily="34" charset="0"/>
                <a:ea typeface="Calibri" pitchFamily="34" charset="-122"/>
                <a:cs typeface="Calibri" pitchFamily="34" charset="-120"/>
              </a:rPr>
              <a:t>8–12 hrs</a:t>
            </a:r>
            <a:endParaRPr lang="en-US" sz="3400" dirty="0"/>
          </a:p>
        </p:txBody>
      </p:sp>
      <p:sp>
        <p:nvSpPr>
          <p:cNvPr id="11" name="Text 9"/>
          <p:cNvSpPr/>
          <p:nvPr/>
        </p:nvSpPr>
        <p:spPr>
          <a:xfrm>
            <a:off x="6675120" y="1874520"/>
            <a:ext cx="4937760" cy="365760"/>
          </a:xfrm>
          <a:prstGeom prst="rect">
            <a:avLst/>
          </a:prstGeom>
          <a:noFill/>
          <a:ln/>
        </p:spPr>
        <p:txBody>
          <a:bodyPr wrap="square" rtlCol="0" anchor="ctr"/>
          <a:lstStyle/>
          <a:p>
            <a:pPr indent="0" marL="0">
              <a:buNone/>
            </a:pPr>
            <a:r>
              <a:rPr lang="en-US" sz="1800" dirty="0">
                <a:solidFill>
                  <a:srgbClr val="0A1628"/>
                </a:solidFill>
                <a:latin typeface="Calibri" pitchFamily="34" charset="0"/>
                <a:ea typeface="Calibri" pitchFamily="34" charset="-122"/>
                <a:cs typeface="Calibri" pitchFamily="34" charset="-120"/>
              </a:rPr>
              <a:t>Routine tasks saved weekly</a:t>
            </a:r>
            <a:endParaRPr lang="en-US" sz="1800" dirty="0"/>
          </a:p>
        </p:txBody>
      </p:sp>
      <p:sp>
        <p:nvSpPr>
          <p:cNvPr id="12" name="Text 10"/>
          <p:cNvSpPr/>
          <p:nvPr/>
        </p:nvSpPr>
        <p:spPr>
          <a:xfrm>
            <a:off x="6675120" y="2331720"/>
            <a:ext cx="4937760" cy="320040"/>
          </a:xfrm>
          <a:prstGeom prst="rect">
            <a:avLst/>
          </a:prstGeom>
          <a:noFill/>
          <a:ln/>
        </p:spPr>
        <p:txBody>
          <a:bodyPr wrap="square"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Accenture 2025</a:t>
            </a:r>
            <a:endParaRPr lang="en-US" sz="1400" dirty="0"/>
          </a:p>
        </p:txBody>
      </p:sp>
      <p:sp>
        <p:nvSpPr>
          <p:cNvPr id="13" name="Shape 11"/>
          <p:cNvSpPr/>
          <p:nvPr/>
        </p:nvSpPr>
        <p:spPr>
          <a:xfrm>
            <a:off x="548640" y="3291840"/>
            <a:ext cx="5303520" cy="1920240"/>
          </a:xfrm>
          <a:prstGeom prst="rect">
            <a:avLst/>
          </a:prstGeom>
          <a:solidFill>
            <a:srgbClr val="FFFFFF"/>
          </a:solidFill>
          <a:ln w="12700">
            <a:solidFill>
              <a:srgbClr val="00A3E0"/>
            </a:solidFill>
            <a:prstDash val="solid"/>
          </a:ln>
          <a:effectLst>
            <a:outerShdw sx="100000" sy="100000" kx="0" ky="0" algn="bl" rotWithShape="0" blurRad="50800" dist="25400" dir="2700000">
              <a:srgbClr val="AAAAAA">
                <a:alpha val="75000"/>
              </a:srgbClr>
            </a:outerShdw>
          </a:effectLst>
        </p:spPr>
      </p:sp>
      <p:sp>
        <p:nvSpPr>
          <p:cNvPr id="14" name="Shape 12"/>
          <p:cNvSpPr/>
          <p:nvPr/>
        </p:nvSpPr>
        <p:spPr>
          <a:xfrm>
            <a:off x="548640" y="3291840"/>
            <a:ext cx="5303520" cy="73152"/>
          </a:xfrm>
          <a:prstGeom prst="rect">
            <a:avLst/>
          </a:prstGeom>
          <a:solidFill>
            <a:srgbClr val="00A3E0"/>
          </a:solidFill>
          <a:ln w="12700">
            <a:solidFill>
              <a:srgbClr val="00A3E0"/>
            </a:solidFill>
            <a:prstDash val="solid"/>
          </a:ln>
        </p:spPr>
      </p:sp>
      <p:sp>
        <p:nvSpPr>
          <p:cNvPr id="15" name="Text 13"/>
          <p:cNvSpPr/>
          <p:nvPr/>
        </p:nvSpPr>
        <p:spPr>
          <a:xfrm>
            <a:off x="731520" y="3520440"/>
            <a:ext cx="4937760" cy="640080"/>
          </a:xfrm>
          <a:prstGeom prst="rect">
            <a:avLst/>
          </a:prstGeom>
          <a:noFill/>
          <a:ln/>
        </p:spPr>
        <p:txBody>
          <a:bodyPr wrap="square" rtlCol="0" anchor="ctr"/>
          <a:lstStyle/>
          <a:p>
            <a:pPr indent="0" marL="0">
              <a:buNone/>
            </a:pPr>
            <a:r>
              <a:rPr lang="en-US" sz="3400" b="1" dirty="0">
                <a:solidFill>
                  <a:srgbClr val="00A3E0"/>
                </a:solidFill>
                <a:latin typeface="Calibri" pitchFamily="34" charset="0"/>
                <a:ea typeface="Calibri" pitchFamily="34" charset="-122"/>
                <a:cs typeface="Calibri" pitchFamily="34" charset="-120"/>
              </a:rPr>
              <a:t>50% less time</a:t>
            </a:r>
            <a:endParaRPr lang="en-US" sz="3400" dirty="0"/>
          </a:p>
        </p:txBody>
      </p:sp>
      <p:sp>
        <p:nvSpPr>
          <p:cNvPr id="16" name="Text 14"/>
          <p:cNvSpPr/>
          <p:nvPr/>
        </p:nvSpPr>
        <p:spPr>
          <a:xfrm>
            <a:off x="731520" y="4160520"/>
            <a:ext cx="4937760" cy="365760"/>
          </a:xfrm>
          <a:prstGeom prst="rect">
            <a:avLst/>
          </a:prstGeom>
          <a:noFill/>
          <a:ln/>
        </p:spPr>
        <p:txBody>
          <a:bodyPr wrap="square" rtlCol="0" anchor="ctr"/>
          <a:lstStyle/>
          <a:p>
            <a:pPr indent="0" marL="0">
              <a:buNone/>
            </a:pPr>
            <a:r>
              <a:rPr lang="en-US" sz="1800" dirty="0">
                <a:solidFill>
                  <a:srgbClr val="0A1628"/>
                </a:solidFill>
                <a:latin typeface="Calibri" pitchFamily="34" charset="0"/>
                <a:ea typeface="Calibri" pitchFamily="34" charset="-122"/>
                <a:cs typeface="Calibri" pitchFamily="34" charset="-120"/>
              </a:rPr>
              <a:t>Documentation generation</a:t>
            </a:r>
            <a:endParaRPr lang="en-US" sz="1800" dirty="0"/>
          </a:p>
        </p:txBody>
      </p:sp>
      <p:sp>
        <p:nvSpPr>
          <p:cNvPr id="17" name="Text 15"/>
          <p:cNvSpPr/>
          <p:nvPr/>
        </p:nvSpPr>
        <p:spPr>
          <a:xfrm>
            <a:off x="731520" y="4617720"/>
            <a:ext cx="4937760" cy="320040"/>
          </a:xfrm>
          <a:prstGeom prst="rect">
            <a:avLst/>
          </a:prstGeom>
          <a:noFill/>
          <a:ln/>
        </p:spPr>
        <p:txBody>
          <a:bodyPr wrap="square"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McKinsey 2024</a:t>
            </a:r>
            <a:endParaRPr lang="en-US" sz="1400" dirty="0"/>
          </a:p>
        </p:txBody>
      </p:sp>
      <p:sp>
        <p:nvSpPr>
          <p:cNvPr id="18" name="Shape 16"/>
          <p:cNvSpPr/>
          <p:nvPr/>
        </p:nvSpPr>
        <p:spPr>
          <a:xfrm>
            <a:off x="6492240" y="3291840"/>
            <a:ext cx="5303520" cy="1920240"/>
          </a:xfrm>
          <a:prstGeom prst="rect">
            <a:avLst/>
          </a:prstGeom>
          <a:solidFill>
            <a:srgbClr val="FFFFFF"/>
          </a:solidFill>
          <a:ln w="12700">
            <a:solidFill>
              <a:srgbClr val="00A3E0"/>
            </a:solidFill>
            <a:prstDash val="solid"/>
          </a:ln>
          <a:effectLst>
            <a:outerShdw sx="100000" sy="100000" kx="0" ky="0" algn="bl" rotWithShape="0" blurRad="50800" dist="25400" dir="2700000">
              <a:srgbClr val="AAAAAA">
                <a:alpha val="75000"/>
              </a:srgbClr>
            </a:outerShdw>
          </a:effectLst>
        </p:spPr>
      </p:sp>
      <p:sp>
        <p:nvSpPr>
          <p:cNvPr id="19" name="Shape 17"/>
          <p:cNvSpPr/>
          <p:nvPr/>
        </p:nvSpPr>
        <p:spPr>
          <a:xfrm>
            <a:off x="6492240" y="3291840"/>
            <a:ext cx="5303520" cy="73152"/>
          </a:xfrm>
          <a:prstGeom prst="rect">
            <a:avLst/>
          </a:prstGeom>
          <a:solidFill>
            <a:srgbClr val="00A3E0"/>
          </a:solidFill>
          <a:ln w="12700">
            <a:solidFill>
              <a:srgbClr val="00A3E0"/>
            </a:solidFill>
            <a:prstDash val="solid"/>
          </a:ln>
        </p:spPr>
      </p:sp>
      <p:sp>
        <p:nvSpPr>
          <p:cNvPr id="20" name="Text 18"/>
          <p:cNvSpPr/>
          <p:nvPr/>
        </p:nvSpPr>
        <p:spPr>
          <a:xfrm>
            <a:off x="6675120" y="3520440"/>
            <a:ext cx="4937760" cy="640080"/>
          </a:xfrm>
          <a:prstGeom prst="rect">
            <a:avLst/>
          </a:prstGeom>
          <a:noFill/>
          <a:ln/>
        </p:spPr>
        <p:txBody>
          <a:bodyPr wrap="square" rtlCol="0" anchor="ctr"/>
          <a:lstStyle/>
          <a:p>
            <a:pPr indent="0" marL="0">
              <a:buNone/>
            </a:pPr>
            <a:r>
              <a:rPr lang="en-US" sz="3400" b="1" dirty="0">
                <a:solidFill>
                  <a:srgbClr val="00A3E0"/>
                </a:solidFill>
                <a:latin typeface="Calibri" pitchFamily="34" charset="0"/>
                <a:ea typeface="Calibri" pitchFamily="34" charset="-122"/>
                <a:cs typeface="Calibri" pitchFamily="34" charset="-120"/>
              </a:rPr>
              <a:t>40% faster</a:t>
            </a:r>
            <a:endParaRPr lang="en-US" sz="3400" dirty="0"/>
          </a:p>
        </p:txBody>
      </p:sp>
      <p:sp>
        <p:nvSpPr>
          <p:cNvPr id="21" name="Text 19"/>
          <p:cNvSpPr/>
          <p:nvPr/>
        </p:nvSpPr>
        <p:spPr>
          <a:xfrm>
            <a:off x="6675120" y="4160520"/>
            <a:ext cx="4937760" cy="365760"/>
          </a:xfrm>
          <a:prstGeom prst="rect">
            <a:avLst/>
          </a:prstGeom>
          <a:noFill/>
          <a:ln/>
        </p:spPr>
        <p:txBody>
          <a:bodyPr wrap="square" rtlCol="0" anchor="ctr"/>
          <a:lstStyle/>
          <a:p>
            <a:pPr indent="0" marL="0">
              <a:buNone/>
            </a:pPr>
            <a:r>
              <a:rPr lang="en-US" sz="1800" dirty="0">
                <a:solidFill>
                  <a:srgbClr val="0A1628"/>
                </a:solidFill>
                <a:latin typeface="Calibri" pitchFamily="34" charset="0"/>
                <a:ea typeface="Calibri" pitchFamily="34" charset="-122"/>
                <a:cs typeface="Calibri" pitchFamily="34" charset="-120"/>
              </a:rPr>
              <a:t>Code review cycles</a:t>
            </a:r>
            <a:endParaRPr lang="en-US" sz="1800" dirty="0"/>
          </a:p>
        </p:txBody>
      </p:sp>
      <p:sp>
        <p:nvSpPr>
          <p:cNvPr id="22" name="Text 20"/>
          <p:cNvSpPr/>
          <p:nvPr/>
        </p:nvSpPr>
        <p:spPr>
          <a:xfrm>
            <a:off x="6675120" y="4617720"/>
            <a:ext cx="4937760" cy="320040"/>
          </a:xfrm>
          <a:prstGeom prst="rect">
            <a:avLst/>
          </a:prstGeom>
          <a:noFill/>
          <a:ln/>
        </p:spPr>
        <p:txBody>
          <a:bodyPr wrap="square"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Goldman Sachs pilot</a:t>
            </a:r>
            <a:endParaRPr lang="en-US" sz="1400" dirty="0"/>
          </a:p>
        </p:txBody>
      </p:sp>
      <p:sp>
        <p:nvSpPr>
          <p:cNvPr id="23" name="Text 21"/>
          <p:cNvSpPr/>
          <p:nvPr/>
        </p:nvSpPr>
        <p:spPr>
          <a:xfrm>
            <a:off x="457200" y="6217920"/>
            <a:ext cx="11247120" cy="320040"/>
          </a:xfrm>
          <a:prstGeom prst="rect">
            <a:avLst/>
          </a:prstGeom>
          <a:noFill/>
          <a:ln/>
        </p:spPr>
        <p:txBody>
          <a:bodyPr wrap="square" rtlCol="0" anchor="ctr"/>
          <a:lstStyle/>
          <a:p>
            <a:pPr algn="ctr" indent="0" marL="0">
              <a:buNone/>
            </a:pPr>
            <a:r>
              <a:rPr lang="en-US" sz="1400" i="1" dirty="0">
                <a:solidFill>
                  <a:srgbClr val="64748B"/>
                </a:solidFill>
                <a:latin typeface="Calibri" pitchFamily="34" charset="0"/>
                <a:ea typeface="Calibri" pitchFamily="34" charset="-122"/>
                <a:cs typeface="Calibri" pitchFamily="34" charset="-120"/>
              </a:rPr>
              <a:t>Comparable technical teams. Not marketing.</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indent="0" marL="0">
              <a:buNone/>
            </a:pPr>
            <a:r>
              <a:rPr lang="en-US" sz="2800" b="1" dirty="0">
                <a:solidFill>
                  <a:srgbClr val="0A1628"/>
                </a:solidFill>
                <a:latin typeface="Calibri" pitchFamily="34" charset="0"/>
                <a:ea typeface="Calibri" pitchFamily="34" charset="-122"/>
                <a:cs typeface="Calibri" pitchFamily="34" charset="-120"/>
              </a:rPr>
              <a:t>Two Types of AI User</a:t>
            </a:r>
            <a:endParaRPr lang="en-US" sz="2800" dirty="0"/>
          </a:p>
        </p:txBody>
      </p:sp>
      <p:sp>
        <p:nvSpPr>
          <p:cNvPr id="3" name="Shape 1"/>
          <p:cNvSpPr/>
          <p:nvPr/>
        </p:nvSpPr>
        <p:spPr>
          <a:xfrm>
            <a:off x="6080760" y="914400"/>
            <a:ext cx="36576" cy="5029200"/>
          </a:xfrm>
          <a:prstGeom prst="rect">
            <a:avLst/>
          </a:prstGeom>
          <a:solidFill>
            <a:srgbClr val="00A3E0"/>
          </a:solidFill>
          <a:ln w="12700">
            <a:solidFill>
              <a:srgbClr val="00A3E0"/>
            </a:solidFill>
            <a:prstDash val="solid"/>
          </a:ln>
        </p:spPr>
      </p:sp>
      <p:sp>
        <p:nvSpPr>
          <p:cNvPr id="4" name="Text 2"/>
          <p:cNvSpPr/>
          <p:nvPr/>
        </p:nvSpPr>
        <p:spPr>
          <a:xfrm>
            <a:off x="457200" y="1005840"/>
            <a:ext cx="5303520" cy="457200"/>
          </a:xfrm>
          <a:prstGeom prst="rect">
            <a:avLst/>
          </a:prstGeom>
          <a:noFill/>
          <a:ln/>
        </p:spPr>
        <p:txBody>
          <a:bodyPr wrap="square" rtlCol="0" anchor="ctr"/>
          <a:lstStyle/>
          <a:p>
            <a:pPr indent="0" marL="0">
              <a:buNone/>
            </a:pPr>
            <a:r>
              <a:rPr lang="en-US" sz="2200" b="1" dirty="0">
                <a:solidFill>
                  <a:srgbClr val="64748B"/>
                </a:solidFill>
                <a:latin typeface="Calibri" pitchFamily="34" charset="0"/>
                <a:ea typeface="Calibri" pitchFamily="34" charset="-122"/>
                <a:cs typeface="Calibri" pitchFamily="34" charset="-120"/>
              </a:rPr>
              <a:t>Passive User</a:t>
            </a:r>
            <a:endParaRPr lang="en-US" sz="2200" dirty="0"/>
          </a:p>
        </p:txBody>
      </p:sp>
      <p:sp>
        <p:nvSpPr>
          <p:cNvPr id="5" name="Text 3"/>
          <p:cNvSpPr/>
          <p:nvPr/>
        </p:nvSpPr>
        <p:spPr>
          <a:xfrm>
            <a:off x="457200" y="1554480"/>
            <a:ext cx="5303520" cy="457200"/>
          </a:xfrm>
          <a:prstGeom prst="rect">
            <a:avLst/>
          </a:prstGeom>
          <a:noFill/>
          <a:ln/>
        </p:spPr>
        <p:txBody>
          <a:bodyPr wrap="square" rtlCol="0" anchor="ctr"/>
          <a:lstStyle/>
          <a:p>
            <a:pPr indent="0" marL="0">
              <a:buNone/>
            </a:pPr>
            <a:r>
              <a:rPr lang="en-US" sz="1700" dirty="0">
                <a:solidFill>
                  <a:srgbClr val="64748B"/>
                </a:solidFill>
                <a:latin typeface="Calibri" pitchFamily="34" charset="0"/>
                <a:ea typeface="Calibri" pitchFamily="34" charset="-122"/>
                <a:cs typeface="Calibri" pitchFamily="34" charset="-120"/>
              </a:rPr>
              <a:t>• Uses AI for isolated queries only</a:t>
            </a:r>
            <a:endParaRPr lang="en-US" sz="1700" dirty="0"/>
          </a:p>
        </p:txBody>
      </p:sp>
      <p:sp>
        <p:nvSpPr>
          <p:cNvPr id="6" name="Text 4"/>
          <p:cNvSpPr/>
          <p:nvPr/>
        </p:nvSpPr>
        <p:spPr>
          <a:xfrm>
            <a:off x="457200" y="2103120"/>
            <a:ext cx="5303520" cy="457200"/>
          </a:xfrm>
          <a:prstGeom prst="rect">
            <a:avLst/>
          </a:prstGeom>
          <a:noFill/>
          <a:ln/>
        </p:spPr>
        <p:txBody>
          <a:bodyPr wrap="square" rtlCol="0" anchor="ctr"/>
          <a:lstStyle/>
          <a:p>
            <a:pPr indent="0" marL="0">
              <a:buNone/>
            </a:pPr>
            <a:r>
              <a:rPr lang="en-US" sz="1700" dirty="0">
                <a:solidFill>
                  <a:srgbClr val="64748B"/>
                </a:solidFill>
                <a:latin typeface="Calibri" pitchFamily="34" charset="0"/>
                <a:ea typeface="Calibri" pitchFamily="34" charset="-122"/>
                <a:cs typeface="Calibri" pitchFamily="34" charset="-120"/>
              </a:rPr>
              <a:t>• Starts fresh every session</a:t>
            </a:r>
            <a:endParaRPr lang="en-US" sz="1700" dirty="0"/>
          </a:p>
        </p:txBody>
      </p:sp>
      <p:sp>
        <p:nvSpPr>
          <p:cNvPr id="7" name="Text 5"/>
          <p:cNvSpPr/>
          <p:nvPr/>
        </p:nvSpPr>
        <p:spPr>
          <a:xfrm>
            <a:off x="457200" y="2651760"/>
            <a:ext cx="5303520" cy="457200"/>
          </a:xfrm>
          <a:prstGeom prst="rect">
            <a:avLst/>
          </a:prstGeom>
          <a:noFill/>
          <a:ln/>
        </p:spPr>
        <p:txBody>
          <a:bodyPr wrap="square" rtlCol="0" anchor="ctr"/>
          <a:lstStyle/>
          <a:p>
            <a:pPr indent="0" marL="0">
              <a:buNone/>
            </a:pPr>
            <a:r>
              <a:rPr lang="en-US" sz="1700" dirty="0">
                <a:solidFill>
                  <a:srgbClr val="64748B"/>
                </a:solidFill>
                <a:latin typeface="Calibri" pitchFamily="34" charset="0"/>
                <a:ea typeface="Calibri" pitchFamily="34" charset="-122"/>
                <a:cs typeface="Calibri" pitchFamily="34" charset="-120"/>
              </a:rPr>
              <a:t>• Accepts first drafts without iteration</a:t>
            </a:r>
            <a:endParaRPr lang="en-US" sz="1700" dirty="0"/>
          </a:p>
        </p:txBody>
      </p:sp>
      <p:sp>
        <p:nvSpPr>
          <p:cNvPr id="8" name="Text 6"/>
          <p:cNvSpPr/>
          <p:nvPr/>
        </p:nvSpPr>
        <p:spPr>
          <a:xfrm>
            <a:off x="457200" y="3200400"/>
            <a:ext cx="5303520" cy="457200"/>
          </a:xfrm>
          <a:prstGeom prst="rect">
            <a:avLst/>
          </a:prstGeom>
          <a:noFill/>
          <a:ln/>
        </p:spPr>
        <p:txBody>
          <a:bodyPr wrap="square" rtlCol="0" anchor="ctr"/>
          <a:lstStyle/>
          <a:p>
            <a:pPr indent="0" marL="0">
              <a:buNone/>
            </a:pPr>
            <a:r>
              <a:rPr lang="en-US" sz="1700" dirty="0">
                <a:solidFill>
                  <a:srgbClr val="64748B"/>
                </a:solidFill>
                <a:latin typeface="Calibri" pitchFamily="34" charset="0"/>
                <a:ea typeface="Calibri" pitchFamily="34" charset="-122"/>
                <a:cs typeface="Calibri" pitchFamily="34" charset="-120"/>
              </a:rPr>
              <a:t>• Single-file, single-turn interactions</a:t>
            </a:r>
            <a:endParaRPr lang="en-US" sz="1700" dirty="0"/>
          </a:p>
        </p:txBody>
      </p:sp>
      <p:sp>
        <p:nvSpPr>
          <p:cNvPr id="9" name="Text 7"/>
          <p:cNvSpPr/>
          <p:nvPr/>
        </p:nvSpPr>
        <p:spPr>
          <a:xfrm>
            <a:off x="457200" y="3749040"/>
            <a:ext cx="5303520" cy="457200"/>
          </a:xfrm>
          <a:prstGeom prst="rect">
            <a:avLst/>
          </a:prstGeom>
          <a:noFill/>
          <a:ln/>
        </p:spPr>
        <p:txBody>
          <a:bodyPr wrap="square" rtlCol="0" anchor="ctr"/>
          <a:lstStyle/>
          <a:p>
            <a:pPr indent="0" marL="0">
              <a:buNone/>
            </a:pPr>
            <a:r>
              <a:rPr lang="en-US" sz="1700" dirty="0">
                <a:solidFill>
                  <a:srgbClr val="64748B"/>
                </a:solidFill>
                <a:latin typeface="Calibri" pitchFamily="34" charset="0"/>
                <a:ea typeface="Calibri" pitchFamily="34" charset="-122"/>
                <a:cs typeface="Calibri" pitchFamily="34" charset="-120"/>
              </a:rPr>
              <a:t>• Never configures project context</a:t>
            </a:r>
            <a:endParaRPr lang="en-US" sz="1700" dirty="0"/>
          </a:p>
        </p:txBody>
      </p:sp>
      <p:sp>
        <p:nvSpPr>
          <p:cNvPr id="10" name="Text 8"/>
          <p:cNvSpPr/>
          <p:nvPr/>
        </p:nvSpPr>
        <p:spPr>
          <a:xfrm>
            <a:off x="6400800" y="1005840"/>
            <a:ext cx="5303520" cy="457200"/>
          </a:xfrm>
          <a:prstGeom prst="rect">
            <a:avLst/>
          </a:prstGeom>
          <a:noFill/>
          <a:ln/>
        </p:spPr>
        <p:txBody>
          <a:bodyPr wrap="square" rtlCol="0" anchor="ctr"/>
          <a:lstStyle/>
          <a:p>
            <a:pPr indent="0" marL="0">
              <a:buNone/>
            </a:pPr>
            <a:r>
              <a:rPr lang="en-US" sz="2200" b="1" dirty="0">
                <a:solidFill>
                  <a:srgbClr val="00A3E0"/>
                </a:solidFill>
                <a:latin typeface="Calibri" pitchFamily="34" charset="0"/>
                <a:ea typeface="Calibri" pitchFamily="34" charset="-122"/>
                <a:cs typeface="Calibri" pitchFamily="34" charset="-120"/>
              </a:rPr>
              <a:t>Active Integrator</a:t>
            </a:r>
            <a:endParaRPr lang="en-US" sz="2200" dirty="0"/>
          </a:p>
        </p:txBody>
      </p:sp>
      <p:sp>
        <p:nvSpPr>
          <p:cNvPr id="11" name="Text 9"/>
          <p:cNvSpPr/>
          <p:nvPr/>
        </p:nvSpPr>
        <p:spPr>
          <a:xfrm>
            <a:off x="6400800" y="1554480"/>
            <a:ext cx="5303520" cy="457200"/>
          </a:xfrm>
          <a:prstGeom prst="rect">
            <a:avLst/>
          </a:prstGeom>
          <a:noFill/>
          <a:ln/>
        </p:spPr>
        <p:txBody>
          <a:bodyPr wrap="square" rtlCol="0" anchor="ctr"/>
          <a:lstStyle/>
          <a:p>
            <a:pPr indent="0" marL="0">
              <a:buNone/>
            </a:pPr>
            <a:r>
              <a:rPr lang="en-US" sz="1700" dirty="0">
                <a:solidFill>
                  <a:srgbClr val="0A1628"/>
                </a:solidFill>
                <a:latin typeface="Calibri" pitchFamily="34" charset="0"/>
                <a:ea typeface="Calibri" pitchFamily="34" charset="-122"/>
                <a:cs typeface="Calibri" pitchFamily="34" charset="-120"/>
              </a:rPr>
              <a:t>• AI at every stage of the workflow</a:t>
            </a:r>
            <a:endParaRPr lang="en-US" sz="1700" dirty="0"/>
          </a:p>
        </p:txBody>
      </p:sp>
      <p:sp>
        <p:nvSpPr>
          <p:cNvPr id="12" name="Text 10"/>
          <p:cNvSpPr/>
          <p:nvPr/>
        </p:nvSpPr>
        <p:spPr>
          <a:xfrm>
            <a:off x="6400800" y="2103120"/>
            <a:ext cx="5303520" cy="457200"/>
          </a:xfrm>
          <a:prstGeom prst="rect">
            <a:avLst/>
          </a:prstGeom>
          <a:noFill/>
          <a:ln/>
        </p:spPr>
        <p:txBody>
          <a:bodyPr wrap="square" rtlCol="0" anchor="ctr"/>
          <a:lstStyle/>
          <a:p>
            <a:pPr indent="0" marL="0">
              <a:buNone/>
            </a:pPr>
            <a:r>
              <a:rPr lang="en-US" sz="1700" dirty="0">
                <a:solidFill>
                  <a:srgbClr val="0A1628"/>
                </a:solidFill>
                <a:latin typeface="Calibri" pitchFamily="34" charset="0"/>
                <a:ea typeface="Calibri" pitchFamily="34" charset="-122"/>
                <a:cs typeface="Calibri" pitchFamily="34" charset="-120"/>
              </a:rPr>
              <a:t>• Project-level configuration persists</a:t>
            </a:r>
            <a:endParaRPr lang="en-US" sz="1700" dirty="0"/>
          </a:p>
        </p:txBody>
      </p:sp>
      <p:sp>
        <p:nvSpPr>
          <p:cNvPr id="13" name="Text 11"/>
          <p:cNvSpPr/>
          <p:nvPr/>
        </p:nvSpPr>
        <p:spPr>
          <a:xfrm>
            <a:off x="6400800" y="2651760"/>
            <a:ext cx="5303520" cy="457200"/>
          </a:xfrm>
          <a:prstGeom prst="rect">
            <a:avLst/>
          </a:prstGeom>
          <a:noFill/>
          <a:ln/>
        </p:spPr>
        <p:txBody>
          <a:bodyPr wrap="square" rtlCol="0" anchor="ctr"/>
          <a:lstStyle/>
          <a:p>
            <a:pPr indent="0" marL="0">
              <a:buNone/>
            </a:pPr>
            <a:r>
              <a:rPr lang="en-US" sz="1700" dirty="0">
                <a:solidFill>
                  <a:srgbClr val="0A1628"/>
                </a:solidFill>
                <a:latin typeface="Calibri" pitchFamily="34" charset="0"/>
                <a:ea typeface="Calibri" pitchFamily="34" charset="-122"/>
                <a:cs typeface="Calibri" pitchFamily="34" charset="-120"/>
              </a:rPr>
              <a:t>• Iterates on AI outputs critically</a:t>
            </a:r>
            <a:endParaRPr lang="en-US" sz="1700" dirty="0"/>
          </a:p>
        </p:txBody>
      </p:sp>
      <p:sp>
        <p:nvSpPr>
          <p:cNvPr id="14" name="Text 12"/>
          <p:cNvSpPr/>
          <p:nvPr/>
        </p:nvSpPr>
        <p:spPr>
          <a:xfrm>
            <a:off x="6400800" y="3200400"/>
            <a:ext cx="5303520" cy="457200"/>
          </a:xfrm>
          <a:prstGeom prst="rect">
            <a:avLst/>
          </a:prstGeom>
          <a:noFill/>
          <a:ln/>
        </p:spPr>
        <p:txBody>
          <a:bodyPr wrap="square" rtlCol="0" anchor="ctr"/>
          <a:lstStyle/>
          <a:p>
            <a:pPr indent="0" marL="0">
              <a:buNone/>
            </a:pPr>
            <a:r>
              <a:rPr lang="en-US" sz="1700" dirty="0">
                <a:solidFill>
                  <a:srgbClr val="0A1628"/>
                </a:solidFill>
                <a:latin typeface="Calibri" pitchFamily="34" charset="0"/>
                <a:ea typeface="Calibri" pitchFamily="34" charset="-122"/>
                <a:cs typeface="Calibri" pitchFamily="34" charset="-120"/>
              </a:rPr>
              <a:t>• Uses agents for multi-step tasks</a:t>
            </a:r>
            <a:endParaRPr lang="en-US" sz="1700" dirty="0"/>
          </a:p>
        </p:txBody>
      </p:sp>
      <p:sp>
        <p:nvSpPr>
          <p:cNvPr id="15" name="Text 13"/>
          <p:cNvSpPr/>
          <p:nvPr/>
        </p:nvSpPr>
        <p:spPr>
          <a:xfrm>
            <a:off x="6400800" y="3749040"/>
            <a:ext cx="5303520" cy="457200"/>
          </a:xfrm>
          <a:prstGeom prst="rect">
            <a:avLst/>
          </a:prstGeom>
          <a:noFill/>
          <a:ln/>
        </p:spPr>
        <p:txBody>
          <a:bodyPr wrap="square" rtlCol="0" anchor="ctr"/>
          <a:lstStyle/>
          <a:p>
            <a:pPr indent="0" marL="0">
              <a:buNone/>
            </a:pPr>
            <a:r>
              <a:rPr lang="en-US" sz="1700" dirty="0">
                <a:solidFill>
                  <a:srgbClr val="0A1628"/>
                </a:solidFill>
                <a:latin typeface="Calibri" pitchFamily="34" charset="0"/>
                <a:ea typeface="Calibri" pitchFamily="34" charset="-122"/>
                <a:cs typeface="Calibri" pitchFamily="34" charset="-120"/>
              </a:rPr>
              <a:t>• Reviews and enriches — never just accepts</a:t>
            </a:r>
            <a:endParaRPr lang="en-US" sz="1700" dirty="0"/>
          </a:p>
        </p:txBody>
      </p:sp>
      <p:sp>
        <p:nvSpPr>
          <p:cNvPr id="16" name="Text 14"/>
          <p:cNvSpPr/>
          <p:nvPr/>
        </p:nvSpPr>
        <p:spPr>
          <a:xfrm>
            <a:off x="457200" y="6217920"/>
            <a:ext cx="11247120" cy="320040"/>
          </a:xfrm>
          <a:prstGeom prst="rect">
            <a:avLst/>
          </a:prstGeom>
          <a:noFill/>
          <a:ln/>
        </p:spPr>
        <p:txBody>
          <a:bodyPr wrap="square" rtlCol="0" anchor="ctr"/>
          <a:lstStyle/>
          <a:p>
            <a:pPr algn="ctr" indent="0" marL="0">
              <a:buNone/>
            </a:pPr>
            <a:r>
              <a:rPr lang="en-US" sz="1400" i="1" dirty="0">
                <a:solidFill>
                  <a:srgbClr val="64748B"/>
                </a:solidFill>
                <a:latin typeface="Calibri" pitchFamily="34" charset="0"/>
                <a:ea typeface="Calibri" pitchFamily="34" charset="-122"/>
                <a:cs typeface="Calibri" pitchFamily="34" charset="-120"/>
              </a:rPr>
              <a:t>FM&amp;I's goal today: move every team member from left column to right column.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indent="0" marL="0">
              <a:buNone/>
            </a:pPr>
            <a:r>
              <a:rPr lang="en-US" sz="2800" b="1" dirty="0">
                <a:solidFill>
                  <a:srgbClr val="0A1628"/>
                </a:solidFill>
                <a:latin typeface="Calibri" pitchFamily="34" charset="0"/>
                <a:ea typeface="Calibri" pitchFamily="34" charset="-122"/>
                <a:cs typeface="Calibri" pitchFamily="34" charset="-120"/>
              </a:rPr>
              <a:t>What FM&amp;I Stands to Gain</a:t>
            </a:r>
            <a:endParaRPr lang="en-US" sz="2800" dirty="0"/>
          </a:p>
        </p:txBody>
      </p:sp>
      <p:sp>
        <p:nvSpPr>
          <p:cNvPr id="3" name="Text 1"/>
          <p:cNvSpPr/>
          <p:nvPr/>
        </p:nvSpPr>
        <p:spPr>
          <a:xfrm>
            <a:off x="457200" y="1005840"/>
            <a:ext cx="4114800" cy="502920"/>
          </a:xfrm>
          <a:prstGeom prst="rect">
            <a:avLst/>
          </a:prstGeom>
          <a:noFill/>
          <a:ln/>
        </p:spPr>
        <p:txBody>
          <a:bodyPr wrap="square" rtlCol="0" anchor="ctr"/>
          <a:lstStyle/>
          <a:p>
            <a:pPr indent="0" marL="0">
              <a:buNone/>
            </a:pPr>
            <a:r>
              <a:rPr lang="en-US" sz="1800" b="1" dirty="0">
                <a:solidFill>
                  <a:srgbClr val="0A1628"/>
                </a:solidFill>
                <a:latin typeface="Calibri" pitchFamily="34" charset="0"/>
                <a:ea typeface="Calibri" pitchFamily="34" charset="-122"/>
                <a:cs typeface="Calibri" pitchFamily="34" charset="-120"/>
              </a:rPr>
              <a:t>🔧 Pipeline debugging</a:t>
            </a:r>
            <a:endParaRPr lang="en-US" sz="1800" dirty="0"/>
          </a:p>
        </p:txBody>
      </p:sp>
      <p:sp>
        <p:nvSpPr>
          <p:cNvPr id="4" name="Text 2"/>
          <p:cNvSpPr/>
          <p:nvPr/>
        </p:nvSpPr>
        <p:spPr>
          <a:xfrm>
            <a:off x="4663440" y="1005840"/>
            <a:ext cx="2286000" cy="502920"/>
          </a:xfrm>
          <a:prstGeom prst="rect">
            <a:avLst/>
          </a:prstGeom>
          <a:noFill/>
          <a:ln/>
        </p:spPr>
        <p:txBody>
          <a:bodyPr wrap="square" rtlCol="0" anchor="ctr"/>
          <a:lstStyle/>
          <a:p>
            <a:pPr indent="0" marL="0">
              <a:buNone/>
            </a:pPr>
            <a:r>
              <a:rPr lang="en-US" sz="1800" dirty="0">
                <a:solidFill>
                  <a:srgbClr val="64748B"/>
                </a:solidFill>
                <a:latin typeface="Calibri" pitchFamily="34" charset="0"/>
                <a:ea typeface="Calibri" pitchFamily="34" charset="-122"/>
                <a:cs typeface="Calibri" pitchFamily="34" charset="-120"/>
              </a:rPr>
              <a:t>40–80 min</a:t>
            </a:r>
            <a:endParaRPr lang="en-US" sz="1800" dirty="0"/>
          </a:p>
        </p:txBody>
      </p:sp>
      <p:sp>
        <p:nvSpPr>
          <p:cNvPr id="5" name="Text 3"/>
          <p:cNvSpPr/>
          <p:nvPr/>
        </p:nvSpPr>
        <p:spPr>
          <a:xfrm>
            <a:off x="7040880" y="1005840"/>
            <a:ext cx="640080" cy="502920"/>
          </a:xfrm>
          <a:prstGeom prst="rect">
            <a:avLst/>
          </a:prstGeom>
          <a:noFill/>
          <a:ln/>
        </p:spPr>
        <p:txBody>
          <a:bodyPr wrap="square" rtlCol="0" anchor="ctr"/>
          <a:lstStyle/>
          <a:p>
            <a:pPr algn="ctr" indent="0" marL="0">
              <a:buNone/>
            </a:pPr>
            <a:r>
              <a:rPr lang="en-US" sz="1800" b="1" dirty="0">
                <a:solidFill>
                  <a:srgbClr val="F5A623"/>
                </a:solidFill>
                <a:latin typeface="Calibri" pitchFamily="34" charset="0"/>
                <a:ea typeface="Calibri" pitchFamily="34" charset="-122"/>
                <a:cs typeface="Calibri" pitchFamily="34" charset="-120"/>
              </a:rPr>
              <a:t>→</a:t>
            </a:r>
            <a:endParaRPr lang="en-US" sz="1800" dirty="0"/>
          </a:p>
        </p:txBody>
      </p:sp>
      <p:sp>
        <p:nvSpPr>
          <p:cNvPr id="6" name="Text 4"/>
          <p:cNvSpPr/>
          <p:nvPr/>
        </p:nvSpPr>
        <p:spPr>
          <a:xfrm>
            <a:off x="7772400" y="1005840"/>
            <a:ext cx="3200400" cy="502920"/>
          </a:xfrm>
          <a:prstGeom prst="rect">
            <a:avLst/>
          </a:prstGeom>
          <a:noFill/>
          <a:ln/>
        </p:spPr>
        <p:txBody>
          <a:bodyPr wrap="square" rtlCol="0" anchor="ctr"/>
          <a:lstStyle/>
          <a:p>
            <a:pPr indent="0" marL="0">
              <a:buNone/>
            </a:pPr>
            <a:r>
              <a:rPr lang="en-US" sz="1800" b="1" dirty="0">
                <a:solidFill>
                  <a:srgbClr val="00A3E0"/>
                </a:solidFill>
                <a:latin typeface="Calibri" pitchFamily="34" charset="0"/>
                <a:ea typeface="Calibri" pitchFamily="34" charset="-122"/>
                <a:cs typeface="Calibri" pitchFamily="34" charset="-120"/>
              </a:rPr>
              <a:t>5–10 min</a:t>
            </a:r>
            <a:endParaRPr lang="en-US" sz="1800" dirty="0"/>
          </a:p>
        </p:txBody>
      </p:sp>
      <p:sp>
        <p:nvSpPr>
          <p:cNvPr id="7" name="Text 5"/>
          <p:cNvSpPr/>
          <p:nvPr/>
        </p:nvSpPr>
        <p:spPr>
          <a:xfrm>
            <a:off x="457200" y="1965960"/>
            <a:ext cx="4114800" cy="502920"/>
          </a:xfrm>
          <a:prstGeom prst="rect">
            <a:avLst/>
          </a:prstGeom>
          <a:noFill/>
          <a:ln/>
        </p:spPr>
        <p:txBody>
          <a:bodyPr wrap="square" rtlCol="0" anchor="ctr"/>
          <a:lstStyle/>
          <a:p>
            <a:pPr indent="0" marL="0">
              <a:buNone/>
            </a:pPr>
            <a:r>
              <a:rPr lang="en-US" sz="1800" b="1" dirty="0">
                <a:solidFill>
                  <a:srgbClr val="0A1628"/>
                </a:solidFill>
                <a:latin typeface="Calibri" pitchFamily="34" charset="0"/>
                <a:ea typeface="Calibri" pitchFamily="34" charset="-122"/>
                <a:cs typeface="Calibri" pitchFamily="34" charset="-120"/>
              </a:rPr>
              <a:t>📝 Model documentation</a:t>
            </a:r>
            <a:endParaRPr lang="en-US" sz="1800" dirty="0"/>
          </a:p>
        </p:txBody>
      </p:sp>
      <p:sp>
        <p:nvSpPr>
          <p:cNvPr id="8" name="Text 6"/>
          <p:cNvSpPr/>
          <p:nvPr/>
        </p:nvSpPr>
        <p:spPr>
          <a:xfrm>
            <a:off x="4663440" y="1965960"/>
            <a:ext cx="2286000" cy="502920"/>
          </a:xfrm>
          <a:prstGeom prst="rect">
            <a:avLst/>
          </a:prstGeom>
          <a:noFill/>
          <a:ln/>
        </p:spPr>
        <p:txBody>
          <a:bodyPr wrap="square" rtlCol="0" anchor="ctr"/>
          <a:lstStyle/>
          <a:p>
            <a:pPr indent="0" marL="0">
              <a:buNone/>
            </a:pPr>
            <a:r>
              <a:rPr lang="en-US" sz="1800" dirty="0">
                <a:solidFill>
                  <a:srgbClr val="64748B"/>
                </a:solidFill>
                <a:latin typeface="Calibri" pitchFamily="34" charset="0"/>
                <a:ea typeface="Calibri" pitchFamily="34" charset="-122"/>
                <a:cs typeface="Calibri" pitchFamily="34" charset="-120"/>
              </a:rPr>
              <a:t>4–6 hrs</a:t>
            </a:r>
            <a:endParaRPr lang="en-US" sz="1800" dirty="0"/>
          </a:p>
        </p:txBody>
      </p:sp>
      <p:sp>
        <p:nvSpPr>
          <p:cNvPr id="9" name="Text 7"/>
          <p:cNvSpPr/>
          <p:nvPr/>
        </p:nvSpPr>
        <p:spPr>
          <a:xfrm>
            <a:off x="7040880" y="1965960"/>
            <a:ext cx="640080" cy="502920"/>
          </a:xfrm>
          <a:prstGeom prst="rect">
            <a:avLst/>
          </a:prstGeom>
          <a:noFill/>
          <a:ln/>
        </p:spPr>
        <p:txBody>
          <a:bodyPr wrap="square" rtlCol="0" anchor="ctr"/>
          <a:lstStyle/>
          <a:p>
            <a:pPr algn="ctr" indent="0" marL="0">
              <a:buNone/>
            </a:pPr>
            <a:r>
              <a:rPr lang="en-US" sz="1800" b="1" dirty="0">
                <a:solidFill>
                  <a:srgbClr val="F5A623"/>
                </a:solidFill>
                <a:latin typeface="Calibri" pitchFamily="34" charset="0"/>
                <a:ea typeface="Calibri" pitchFamily="34" charset="-122"/>
                <a:cs typeface="Calibri" pitchFamily="34" charset="-120"/>
              </a:rPr>
              <a:t>→</a:t>
            </a:r>
            <a:endParaRPr lang="en-US" sz="1800" dirty="0"/>
          </a:p>
        </p:txBody>
      </p:sp>
      <p:sp>
        <p:nvSpPr>
          <p:cNvPr id="10" name="Text 8"/>
          <p:cNvSpPr/>
          <p:nvPr/>
        </p:nvSpPr>
        <p:spPr>
          <a:xfrm>
            <a:off x="7772400" y="1965960"/>
            <a:ext cx="3200400" cy="502920"/>
          </a:xfrm>
          <a:prstGeom prst="rect">
            <a:avLst/>
          </a:prstGeom>
          <a:noFill/>
          <a:ln/>
        </p:spPr>
        <p:txBody>
          <a:bodyPr wrap="square" rtlCol="0" anchor="ctr"/>
          <a:lstStyle/>
          <a:p>
            <a:pPr indent="0" marL="0">
              <a:buNone/>
            </a:pPr>
            <a:r>
              <a:rPr lang="en-US" sz="1800" b="1" dirty="0">
                <a:solidFill>
                  <a:srgbClr val="00A3E0"/>
                </a:solidFill>
                <a:latin typeface="Calibri" pitchFamily="34" charset="0"/>
                <a:ea typeface="Calibri" pitchFamily="34" charset="-122"/>
                <a:cs typeface="Calibri" pitchFamily="34" charset="-120"/>
              </a:rPr>
              <a:t>1–2 hrs</a:t>
            </a:r>
            <a:endParaRPr lang="en-US" sz="1800" dirty="0"/>
          </a:p>
        </p:txBody>
      </p:sp>
      <p:sp>
        <p:nvSpPr>
          <p:cNvPr id="11" name="Text 9"/>
          <p:cNvSpPr/>
          <p:nvPr/>
        </p:nvSpPr>
        <p:spPr>
          <a:xfrm>
            <a:off x="457200" y="2926080"/>
            <a:ext cx="4114800" cy="502920"/>
          </a:xfrm>
          <a:prstGeom prst="rect">
            <a:avLst/>
          </a:prstGeom>
          <a:noFill/>
          <a:ln/>
        </p:spPr>
        <p:txBody>
          <a:bodyPr wrap="square" rtlCol="0" anchor="ctr"/>
          <a:lstStyle/>
          <a:p>
            <a:pPr indent="0" marL="0">
              <a:buNone/>
            </a:pPr>
            <a:r>
              <a:rPr lang="en-US" sz="1800" b="1" dirty="0">
                <a:solidFill>
                  <a:srgbClr val="0A1628"/>
                </a:solidFill>
                <a:latin typeface="Calibri" pitchFamily="34" charset="0"/>
                <a:ea typeface="Calibri" pitchFamily="34" charset="-122"/>
                <a:cs typeface="Calibri" pitchFamily="34" charset="-120"/>
              </a:rPr>
              <a:t>📊 Ad hoc analysis</a:t>
            </a:r>
            <a:endParaRPr lang="en-US" sz="1800" dirty="0"/>
          </a:p>
        </p:txBody>
      </p:sp>
      <p:sp>
        <p:nvSpPr>
          <p:cNvPr id="12" name="Text 10"/>
          <p:cNvSpPr/>
          <p:nvPr/>
        </p:nvSpPr>
        <p:spPr>
          <a:xfrm>
            <a:off x="4663440" y="2926080"/>
            <a:ext cx="2286000" cy="502920"/>
          </a:xfrm>
          <a:prstGeom prst="rect">
            <a:avLst/>
          </a:prstGeom>
          <a:noFill/>
          <a:ln/>
        </p:spPr>
        <p:txBody>
          <a:bodyPr wrap="square" rtlCol="0" anchor="ctr"/>
          <a:lstStyle/>
          <a:p>
            <a:pPr indent="0" marL="0">
              <a:buNone/>
            </a:pPr>
            <a:r>
              <a:rPr lang="en-US" sz="1800" dirty="0">
                <a:solidFill>
                  <a:srgbClr val="64748B"/>
                </a:solidFill>
                <a:latin typeface="Calibri" pitchFamily="34" charset="0"/>
                <a:ea typeface="Calibri" pitchFamily="34" charset="-122"/>
                <a:cs typeface="Calibri" pitchFamily="34" charset="-120"/>
              </a:rPr>
              <a:t>2–3 hrs</a:t>
            </a:r>
            <a:endParaRPr lang="en-US" sz="1800" dirty="0"/>
          </a:p>
        </p:txBody>
      </p:sp>
      <p:sp>
        <p:nvSpPr>
          <p:cNvPr id="13" name="Text 11"/>
          <p:cNvSpPr/>
          <p:nvPr/>
        </p:nvSpPr>
        <p:spPr>
          <a:xfrm>
            <a:off x="7040880" y="2926080"/>
            <a:ext cx="640080" cy="502920"/>
          </a:xfrm>
          <a:prstGeom prst="rect">
            <a:avLst/>
          </a:prstGeom>
          <a:noFill/>
          <a:ln/>
        </p:spPr>
        <p:txBody>
          <a:bodyPr wrap="square" rtlCol="0" anchor="ctr"/>
          <a:lstStyle/>
          <a:p>
            <a:pPr algn="ctr" indent="0" marL="0">
              <a:buNone/>
            </a:pPr>
            <a:r>
              <a:rPr lang="en-US" sz="1800" b="1" dirty="0">
                <a:solidFill>
                  <a:srgbClr val="F5A623"/>
                </a:solidFill>
                <a:latin typeface="Calibri" pitchFamily="34" charset="0"/>
                <a:ea typeface="Calibri" pitchFamily="34" charset="-122"/>
                <a:cs typeface="Calibri" pitchFamily="34" charset="-120"/>
              </a:rPr>
              <a:t>→</a:t>
            </a:r>
            <a:endParaRPr lang="en-US" sz="1800" dirty="0"/>
          </a:p>
        </p:txBody>
      </p:sp>
      <p:sp>
        <p:nvSpPr>
          <p:cNvPr id="14" name="Text 12"/>
          <p:cNvSpPr/>
          <p:nvPr/>
        </p:nvSpPr>
        <p:spPr>
          <a:xfrm>
            <a:off x="7772400" y="2926080"/>
            <a:ext cx="3200400" cy="502920"/>
          </a:xfrm>
          <a:prstGeom prst="rect">
            <a:avLst/>
          </a:prstGeom>
          <a:noFill/>
          <a:ln/>
        </p:spPr>
        <p:txBody>
          <a:bodyPr wrap="square" rtlCol="0" anchor="ctr"/>
          <a:lstStyle/>
          <a:p>
            <a:pPr indent="0" marL="0">
              <a:buNone/>
            </a:pPr>
            <a:r>
              <a:rPr lang="en-US" sz="1800" b="1" dirty="0">
                <a:solidFill>
                  <a:srgbClr val="00A3E0"/>
                </a:solidFill>
                <a:latin typeface="Calibri" pitchFamily="34" charset="0"/>
                <a:ea typeface="Calibri" pitchFamily="34" charset="-122"/>
                <a:cs typeface="Calibri" pitchFamily="34" charset="-120"/>
              </a:rPr>
              <a:t>45 min</a:t>
            </a:r>
            <a:endParaRPr lang="en-US" sz="1800" dirty="0"/>
          </a:p>
        </p:txBody>
      </p:sp>
      <p:sp>
        <p:nvSpPr>
          <p:cNvPr id="15" name="Text 13"/>
          <p:cNvSpPr/>
          <p:nvPr/>
        </p:nvSpPr>
        <p:spPr>
          <a:xfrm>
            <a:off x="457200" y="3886200"/>
            <a:ext cx="4114800" cy="502920"/>
          </a:xfrm>
          <a:prstGeom prst="rect">
            <a:avLst/>
          </a:prstGeom>
          <a:noFill/>
          <a:ln/>
        </p:spPr>
        <p:txBody>
          <a:bodyPr wrap="square" rtlCol="0" anchor="ctr"/>
          <a:lstStyle/>
          <a:p>
            <a:pPr indent="0" marL="0">
              <a:buNone/>
            </a:pPr>
            <a:r>
              <a:rPr lang="en-US" sz="1800" b="1" dirty="0">
                <a:solidFill>
                  <a:srgbClr val="0A1628"/>
                </a:solidFill>
                <a:latin typeface="Calibri" pitchFamily="34" charset="0"/>
                <a:ea typeface="Calibri" pitchFamily="34" charset="-122"/>
                <a:cs typeface="Calibri" pitchFamily="34" charset="-120"/>
              </a:rPr>
              <a:t>✅ Test writing</a:t>
            </a:r>
            <a:endParaRPr lang="en-US" sz="1800" dirty="0"/>
          </a:p>
        </p:txBody>
      </p:sp>
      <p:sp>
        <p:nvSpPr>
          <p:cNvPr id="16" name="Text 14"/>
          <p:cNvSpPr/>
          <p:nvPr/>
        </p:nvSpPr>
        <p:spPr>
          <a:xfrm>
            <a:off x="4663440" y="3886200"/>
            <a:ext cx="2286000" cy="502920"/>
          </a:xfrm>
          <a:prstGeom prst="rect">
            <a:avLst/>
          </a:prstGeom>
          <a:noFill/>
          <a:ln/>
        </p:spPr>
        <p:txBody>
          <a:bodyPr wrap="square" rtlCol="0" anchor="ctr"/>
          <a:lstStyle/>
          <a:p>
            <a:pPr indent="0" marL="0">
              <a:buNone/>
            </a:pPr>
            <a:r>
              <a:rPr lang="en-US" sz="1800" dirty="0">
                <a:solidFill>
                  <a:srgbClr val="64748B"/>
                </a:solidFill>
                <a:latin typeface="Calibri" pitchFamily="34" charset="0"/>
                <a:ea typeface="Calibri" pitchFamily="34" charset="-122"/>
                <a:cs typeface="Calibri" pitchFamily="34" charset="-120"/>
              </a:rPr>
              <a:t>Previously skipped</a:t>
            </a:r>
            <a:endParaRPr lang="en-US" sz="1800" dirty="0"/>
          </a:p>
        </p:txBody>
      </p:sp>
      <p:sp>
        <p:nvSpPr>
          <p:cNvPr id="17" name="Text 15"/>
          <p:cNvSpPr/>
          <p:nvPr/>
        </p:nvSpPr>
        <p:spPr>
          <a:xfrm>
            <a:off x="7040880" y="3886200"/>
            <a:ext cx="640080" cy="502920"/>
          </a:xfrm>
          <a:prstGeom prst="rect">
            <a:avLst/>
          </a:prstGeom>
          <a:noFill/>
          <a:ln/>
        </p:spPr>
        <p:txBody>
          <a:bodyPr wrap="square" rtlCol="0" anchor="ctr"/>
          <a:lstStyle/>
          <a:p>
            <a:pPr algn="ctr" indent="0" marL="0">
              <a:buNone/>
            </a:pPr>
            <a:r>
              <a:rPr lang="en-US" sz="1800" b="1" dirty="0">
                <a:solidFill>
                  <a:srgbClr val="F5A623"/>
                </a:solidFill>
                <a:latin typeface="Calibri" pitchFamily="34" charset="0"/>
                <a:ea typeface="Calibri" pitchFamily="34" charset="-122"/>
                <a:cs typeface="Calibri" pitchFamily="34" charset="-120"/>
              </a:rPr>
              <a:t>→</a:t>
            </a:r>
            <a:endParaRPr lang="en-US" sz="1800" dirty="0"/>
          </a:p>
        </p:txBody>
      </p:sp>
      <p:sp>
        <p:nvSpPr>
          <p:cNvPr id="18" name="Text 16"/>
          <p:cNvSpPr/>
          <p:nvPr/>
        </p:nvSpPr>
        <p:spPr>
          <a:xfrm>
            <a:off x="7772400" y="3886200"/>
            <a:ext cx="3200400" cy="502920"/>
          </a:xfrm>
          <a:prstGeom prst="rect">
            <a:avLst/>
          </a:prstGeom>
          <a:noFill/>
          <a:ln/>
        </p:spPr>
        <p:txBody>
          <a:bodyPr wrap="square" rtlCol="0" anchor="ctr"/>
          <a:lstStyle/>
          <a:p>
            <a:pPr indent="0" marL="0">
              <a:buNone/>
            </a:pPr>
            <a:r>
              <a:rPr lang="en-US" sz="1800" b="1" dirty="0">
                <a:solidFill>
                  <a:srgbClr val="00A3E0"/>
                </a:solidFill>
                <a:latin typeface="Calibri" pitchFamily="34" charset="0"/>
                <a:ea typeface="Calibri" pitchFamily="34" charset="-122"/>
                <a:cs typeface="Calibri" pitchFamily="34" charset="-120"/>
              </a:rPr>
              <a:t>15 min</a:t>
            </a:r>
            <a:endParaRPr lang="en-US" sz="1800" dirty="0"/>
          </a:p>
        </p:txBody>
      </p:sp>
      <p:sp>
        <p:nvSpPr>
          <p:cNvPr id="19" name="Text 17"/>
          <p:cNvSpPr/>
          <p:nvPr/>
        </p:nvSpPr>
        <p:spPr>
          <a:xfrm>
            <a:off x="457200" y="4846320"/>
            <a:ext cx="4114800" cy="502920"/>
          </a:xfrm>
          <a:prstGeom prst="rect">
            <a:avLst/>
          </a:prstGeom>
          <a:noFill/>
          <a:ln/>
        </p:spPr>
        <p:txBody>
          <a:bodyPr wrap="square" rtlCol="0" anchor="ctr"/>
          <a:lstStyle/>
          <a:p>
            <a:pPr indent="0" marL="0">
              <a:buNone/>
            </a:pPr>
            <a:r>
              <a:rPr lang="en-US" sz="1800" b="1" dirty="0">
                <a:solidFill>
                  <a:srgbClr val="0A1628"/>
                </a:solidFill>
                <a:latin typeface="Calibri" pitchFamily="34" charset="0"/>
                <a:ea typeface="Calibri" pitchFamily="34" charset="-122"/>
                <a:cs typeface="Calibri" pitchFamily="34" charset="-120"/>
              </a:rPr>
              <a:t>📤 Report generation</a:t>
            </a:r>
            <a:endParaRPr lang="en-US" sz="1800" dirty="0"/>
          </a:p>
        </p:txBody>
      </p:sp>
      <p:sp>
        <p:nvSpPr>
          <p:cNvPr id="20" name="Text 18"/>
          <p:cNvSpPr/>
          <p:nvPr/>
        </p:nvSpPr>
        <p:spPr>
          <a:xfrm>
            <a:off x="4663440" y="4846320"/>
            <a:ext cx="2286000" cy="502920"/>
          </a:xfrm>
          <a:prstGeom prst="rect">
            <a:avLst/>
          </a:prstGeom>
          <a:noFill/>
          <a:ln/>
        </p:spPr>
        <p:txBody>
          <a:bodyPr wrap="square" rtlCol="0" anchor="ctr"/>
          <a:lstStyle/>
          <a:p>
            <a:pPr indent="0" marL="0">
              <a:buNone/>
            </a:pPr>
            <a:r>
              <a:rPr lang="en-US" sz="1800" dirty="0">
                <a:solidFill>
                  <a:srgbClr val="64748B"/>
                </a:solidFill>
                <a:latin typeface="Calibri" pitchFamily="34" charset="0"/>
                <a:ea typeface="Calibri" pitchFamily="34" charset="-122"/>
                <a:cs typeface="Calibri" pitchFamily="34" charset="-120"/>
              </a:rPr>
              <a:t>3–4 hrs</a:t>
            </a:r>
            <a:endParaRPr lang="en-US" sz="1800" dirty="0"/>
          </a:p>
        </p:txBody>
      </p:sp>
      <p:sp>
        <p:nvSpPr>
          <p:cNvPr id="21" name="Text 19"/>
          <p:cNvSpPr/>
          <p:nvPr/>
        </p:nvSpPr>
        <p:spPr>
          <a:xfrm>
            <a:off x="7040880" y="4846320"/>
            <a:ext cx="640080" cy="502920"/>
          </a:xfrm>
          <a:prstGeom prst="rect">
            <a:avLst/>
          </a:prstGeom>
          <a:noFill/>
          <a:ln/>
        </p:spPr>
        <p:txBody>
          <a:bodyPr wrap="square" rtlCol="0" anchor="ctr"/>
          <a:lstStyle/>
          <a:p>
            <a:pPr algn="ctr" indent="0" marL="0">
              <a:buNone/>
            </a:pPr>
            <a:r>
              <a:rPr lang="en-US" sz="1800" b="1" dirty="0">
                <a:solidFill>
                  <a:srgbClr val="F5A623"/>
                </a:solidFill>
                <a:latin typeface="Calibri" pitchFamily="34" charset="0"/>
                <a:ea typeface="Calibri" pitchFamily="34" charset="-122"/>
                <a:cs typeface="Calibri" pitchFamily="34" charset="-120"/>
              </a:rPr>
              <a:t>→</a:t>
            </a:r>
            <a:endParaRPr lang="en-US" sz="1800" dirty="0"/>
          </a:p>
        </p:txBody>
      </p:sp>
      <p:sp>
        <p:nvSpPr>
          <p:cNvPr id="22" name="Text 20"/>
          <p:cNvSpPr/>
          <p:nvPr/>
        </p:nvSpPr>
        <p:spPr>
          <a:xfrm>
            <a:off x="7772400" y="4846320"/>
            <a:ext cx="3200400" cy="502920"/>
          </a:xfrm>
          <a:prstGeom prst="rect">
            <a:avLst/>
          </a:prstGeom>
          <a:noFill/>
          <a:ln/>
        </p:spPr>
        <p:txBody>
          <a:bodyPr wrap="square" rtlCol="0" anchor="ctr"/>
          <a:lstStyle/>
          <a:p>
            <a:pPr indent="0" marL="0">
              <a:buNone/>
            </a:pPr>
            <a:r>
              <a:rPr lang="en-US" sz="1800" b="1" dirty="0">
                <a:solidFill>
                  <a:srgbClr val="00A3E0"/>
                </a:solidFill>
                <a:latin typeface="Calibri" pitchFamily="34" charset="0"/>
                <a:ea typeface="Calibri" pitchFamily="34" charset="-122"/>
                <a:cs typeface="Calibri" pitchFamily="34" charset="-120"/>
              </a:rPr>
              <a:t>30–45 min</a:t>
            </a:r>
            <a:endParaRPr lang="en-US" sz="1800" dirty="0"/>
          </a:p>
        </p:txBody>
      </p:sp>
      <p:sp>
        <p:nvSpPr>
          <p:cNvPr id="23" name="Text 21"/>
          <p:cNvSpPr/>
          <p:nvPr/>
        </p:nvSpPr>
        <p:spPr>
          <a:xfrm>
            <a:off x="457200" y="6217920"/>
            <a:ext cx="11247120" cy="320040"/>
          </a:xfrm>
          <a:prstGeom prst="rect">
            <a:avLst/>
          </a:prstGeom>
          <a:noFill/>
          <a:ln/>
        </p:spPr>
        <p:txBody>
          <a:bodyPr wrap="square" rtlCol="0" anchor="ctr"/>
          <a:lstStyle/>
          <a:p>
            <a:pPr algn="ctr" indent="0" marL="0">
              <a:buNone/>
            </a:pPr>
            <a:r>
              <a:rPr lang="en-US" sz="1400" i="1" dirty="0">
                <a:solidFill>
                  <a:srgbClr val="64748B"/>
                </a:solidFill>
                <a:latin typeface="Calibri" pitchFamily="34" charset="0"/>
                <a:ea typeface="Calibri" pitchFamily="34" charset="-122"/>
                <a:cs typeface="Calibri" pitchFamily="34" charset="-120"/>
              </a:rPr>
              <a:t>At FM&amp;I's workflow volume, these savings compound into weeks per quarter.</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3A5F"/>
        </a:solidFill>
      </p:bgPr>
    </p:bg>
    <p:spTree>
      <p:nvGrpSpPr>
        <p:cNvPr id="1" name=""/>
        <p:cNvGrpSpPr/>
        <p:nvPr/>
      </p:nvGrpSpPr>
      <p:grpSpPr>
        <a:xfrm>
          <a:off x="0" y="0"/>
          <a:ext cx="0" cy="0"/>
          <a:chOff x="0" y="0"/>
          <a:chExt cx="0" cy="0"/>
        </a:xfrm>
      </p:grpSpPr>
      <p:sp>
        <p:nvSpPr>
          <p:cNvPr id="2" name="Text 0"/>
          <p:cNvSpPr/>
          <p:nvPr/>
        </p:nvSpPr>
        <p:spPr>
          <a:xfrm>
            <a:off x="8686800" y="3200400"/>
            <a:ext cx="3474720" cy="3200400"/>
          </a:xfrm>
          <a:prstGeom prst="rect">
            <a:avLst/>
          </a:prstGeom>
          <a:noFill/>
          <a:ln/>
        </p:spPr>
        <p:txBody>
          <a:bodyPr wrap="square" rtlCol="0" anchor="ctr"/>
          <a:lstStyle/>
          <a:p>
            <a:pPr algn="r" indent="0" marL="0">
              <a:buNone/>
            </a:pPr>
            <a:r>
              <a:rPr lang="en-US" sz="18000" b="1" dirty="0">
                <a:solidFill>
                  <a:srgbClr val="00A3E0">
                    <a:alpha val="20000"/>
                  </a:srgbClr>
                </a:solidFill>
                <a:latin typeface="Calibri" pitchFamily="34" charset="0"/>
                <a:ea typeface="Calibri" pitchFamily="34" charset="-122"/>
                <a:cs typeface="Calibri" pitchFamily="34" charset="-120"/>
              </a:rPr>
              <a:t>02</a:t>
            </a:r>
            <a:endParaRPr lang="en-US" sz="18000" dirty="0"/>
          </a:p>
        </p:txBody>
      </p:sp>
      <p:sp>
        <p:nvSpPr>
          <p:cNvPr id="3" name="Shape 1"/>
          <p:cNvSpPr/>
          <p:nvPr/>
        </p:nvSpPr>
        <p:spPr>
          <a:xfrm>
            <a:off x="548640" y="2194560"/>
            <a:ext cx="73152" cy="1463040"/>
          </a:xfrm>
          <a:prstGeom prst="rect">
            <a:avLst/>
          </a:prstGeom>
          <a:solidFill>
            <a:srgbClr val="00A3E0"/>
          </a:solidFill>
          <a:ln w="12700">
            <a:solidFill>
              <a:srgbClr val="00A3E0"/>
            </a:solidFill>
            <a:prstDash val="solid"/>
          </a:ln>
        </p:spPr>
      </p:sp>
      <p:sp>
        <p:nvSpPr>
          <p:cNvPr id="4" name="Text 2"/>
          <p:cNvSpPr/>
          <p:nvPr/>
        </p:nvSpPr>
        <p:spPr>
          <a:xfrm>
            <a:off x="777240" y="2286000"/>
            <a:ext cx="8229600" cy="6400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Section 2 — The Current Landscape</a:t>
            </a:r>
            <a:endParaRPr lang="en-US" sz="3200" dirty="0"/>
          </a:p>
        </p:txBody>
      </p:sp>
      <p:sp>
        <p:nvSpPr>
          <p:cNvPr id="5" name="Text 3"/>
          <p:cNvSpPr/>
          <p:nvPr/>
        </p:nvSpPr>
        <p:spPr>
          <a:xfrm>
            <a:off x="777240" y="3017520"/>
            <a:ext cx="8229600" cy="45720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What's available to us, how to access it, and what's changed in 12 months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indent="0" marL="0">
              <a:buNone/>
            </a:pPr>
            <a:r>
              <a:rPr lang="en-US" sz="2800" b="1" dirty="0">
                <a:solidFill>
                  <a:srgbClr val="0A1628"/>
                </a:solidFill>
                <a:latin typeface="Calibri" pitchFamily="34" charset="0"/>
                <a:ea typeface="Calibri" pitchFamily="34" charset="-122"/>
                <a:cs typeface="Calibri" pitchFamily="34" charset="-120"/>
              </a:rPr>
              <a:t>What's Available to BP Employees Today</a:t>
            </a:r>
            <a:endParaRPr lang="en-US" sz="2800" dirty="0"/>
          </a:p>
        </p:txBody>
      </p:sp>
      <p:sp>
        <p:nvSpPr>
          <p:cNvPr id="3" name="Text 1"/>
          <p:cNvSpPr/>
          <p:nvPr/>
        </p:nvSpPr>
        <p:spPr>
          <a:xfrm>
            <a:off x="365760" y="960120"/>
            <a:ext cx="2743200" cy="365760"/>
          </a:xfrm>
          <a:prstGeom prst="rect">
            <a:avLst/>
          </a:prstGeom>
          <a:noFill/>
          <a:ln/>
        </p:spPr>
        <p:txBody>
          <a:bodyPr wrap="square" rtlCol="0" anchor="ctr"/>
          <a:lstStyle/>
          <a:p>
            <a:pPr indent="0" marL="0">
              <a:buNone/>
            </a:pPr>
            <a:r>
              <a:rPr lang="en-US" sz="1600" b="1" dirty="0">
                <a:solidFill>
                  <a:srgbClr val="0A1628"/>
                </a:solidFill>
                <a:latin typeface="Calibri" pitchFamily="34" charset="0"/>
                <a:ea typeface="Calibri" pitchFamily="34" charset="-122"/>
                <a:cs typeface="Calibri" pitchFamily="34" charset="-120"/>
              </a:rPr>
              <a:t>Tool</a:t>
            </a:r>
            <a:endParaRPr lang="en-US" sz="1600" dirty="0"/>
          </a:p>
        </p:txBody>
      </p:sp>
      <p:sp>
        <p:nvSpPr>
          <p:cNvPr id="4" name="Text 2"/>
          <p:cNvSpPr/>
          <p:nvPr/>
        </p:nvSpPr>
        <p:spPr>
          <a:xfrm>
            <a:off x="3200400" y="960120"/>
            <a:ext cx="2743200" cy="365760"/>
          </a:xfrm>
          <a:prstGeom prst="rect">
            <a:avLst/>
          </a:prstGeom>
          <a:noFill/>
          <a:ln/>
        </p:spPr>
        <p:txBody>
          <a:bodyPr wrap="square" rtlCol="0" anchor="ctr"/>
          <a:lstStyle/>
          <a:p>
            <a:pPr indent="0" marL="0">
              <a:buNone/>
            </a:pPr>
            <a:r>
              <a:rPr lang="en-US" sz="1600" b="1" dirty="0">
                <a:solidFill>
                  <a:srgbClr val="0A1628"/>
                </a:solidFill>
                <a:latin typeface="Calibri" pitchFamily="34" charset="0"/>
                <a:ea typeface="Calibri" pitchFamily="34" charset="-122"/>
                <a:cs typeface="Calibri" pitchFamily="34" charset="-120"/>
              </a:rPr>
              <a:t>Status</a:t>
            </a:r>
            <a:endParaRPr lang="en-US" sz="1600" dirty="0"/>
          </a:p>
        </p:txBody>
      </p:sp>
      <p:sp>
        <p:nvSpPr>
          <p:cNvPr id="5" name="Text 3"/>
          <p:cNvSpPr/>
          <p:nvPr/>
        </p:nvSpPr>
        <p:spPr>
          <a:xfrm>
            <a:off x="6035040" y="960120"/>
            <a:ext cx="2743200" cy="365760"/>
          </a:xfrm>
          <a:prstGeom prst="rect">
            <a:avLst/>
          </a:prstGeom>
          <a:noFill/>
          <a:ln/>
        </p:spPr>
        <p:txBody>
          <a:bodyPr wrap="square" rtlCol="0" anchor="ctr"/>
          <a:lstStyle/>
          <a:p>
            <a:pPr indent="0" marL="0">
              <a:buNone/>
            </a:pPr>
            <a:r>
              <a:rPr lang="en-US" sz="1600" b="1" dirty="0">
                <a:solidFill>
                  <a:srgbClr val="0A1628"/>
                </a:solidFill>
                <a:latin typeface="Calibri" pitchFamily="34" charset="0"/>
                <a:ea typeface="Calibri" pitchFamily="34" charset="-122"/>
                <a:cs typeface="Calibri" pitchFamily="34" charset="-120"/>
              </a:rPr>
              <a:t>Access</a:t>
            </a:r>
            <a:endParaRPr lang="en-US" sz="1600" dirty="0"/>
          </a:p>
        </p:txBody>
      </p:sp>
      <p:sp>
        <p:nvSpPr>
          <p:cNvPr id="6" name="Text 4"/>
          <p:cNvSpPr/>
          <p:nvPr/>
        </p:nvSpPr>
        <p:spPr>
          <a:xfrm>
            <a:off x="8869680" y="960120"/>
            <a:ext cx="2743200" cy="365760"/>
          </a:xfrm>
          <a:prstGeom prst="rect">
            <a:avLst/>
          </a:prstGeom>
          <a:noFill/>
          <a:ln/>
        </p:spPr>
        <p:txBody>
          <a:bodyPr wrap="square" rtlCol="0" anchor="ctr"/>
          <a:lstStyle/>
          <a:p>
            <a:pPr indent="0" marL="0">
              <a:buNone/>
            </a:pPr>
            <a:r>
              <a:rPr lang="en-US" sz="1600" b="1" dirty="0">
                <a:solidFill>
                  <a:srgbClr val="0A1628"/>
                </a:solidFill>
                <a:latin typeface="Calibri" pitchFamily="34" charset="0"/>
                <a:ea typeface="Calibri" pitchFamily="34" charset="-122"/>
                <a:cs typeface="Calibri" pitchFamily="34" charset="-120"/>
              </a:rPr>
              <a:t>Data Scope</a:t>
            </a:r>
            <a:endParaRPr lang="en-US" sz="1600" dirty="0"/>
          </a:p>
        </p:txBody>
      </p:sp>
      <p:sp>
        <p:nvSpPr>
          <p:cNvPr id="7" name="Shape 5"/>
          <p:cNvSpPr/>
          <p:nvPr/>
        </p:nvSpPr>
        <p:spPr>
          <a:xfrm>
            <a:off x="320040" y="1417320"/>
            <a:ext cx="11430000" cy="777240"/>
          </a:xfrm>
          <a:prstGeom prst="rect">
            <a:avLst/>
          </a:prstGeom>
          <a:solidFill>
            <a:srgbClr val="FFFFFF"/>
          </a:solidFill>
          <a:ln w="12700">
            <a:solidFill>
              <a:srgbClr val="DDDDDD"/>
            </a:solidFill>
            <a:prstDash val="solid"/>
          </a:ln>
        </p:spPr>
      </p:sp>
      <p:sp>
        <p:nvSpPr>
          <p:cNvPr id="8" name="Text 6"/>
          <p:cNvSpPr/>
          <p:nvPr/>
        </p:nvSpPr>
        <p:spPr>
          <a:xfrm>
            <a:off x="457200" y="1600200"/>
            <a:ext cx="2560320" cy="411480"/>
          </a:xfrm>
          <a:prstGeom prst="rect">
            <a:avLst/>
          </a:prstGeom>
          <a:noFill/>
          <a:ln/>
        </p:spPr>
        <p:txBody>
          <a:bodyPr wrap="square" rtlCol="0" anchor="ctr"/>
          <a:lstStyle/>
          <a:p>
            <a:pPr indent="0" marL="0">
              <a:buNone/>
            </a:pPr>
            <a:r>
              <a:rPr lang="en-US" sz="1700" b="1" dirty="0">
                <a:solidFill>
                  <a:srgbClr val="0A1628"/>
                </a:solidFill>
                <a:latin typeface="Calibri" pitchFamily="34" charset="0"/>
                <a:ea typeface="Calibri" pitchFamily="34" charset="-122"/>
                <a:cs typeface="Calibri" pitchFamily="34" charset="-120"/>
              </a:rPr>
              <a:t>M365 Copilot</a:t>
            </a:r>
            <a:endParaRPr lang="en-US" sz="1700" dirty="0"/>
          </a:p>
        </p:txBody>
      </p:sp>
      <p:sp>
        <p:nvSpPr>
          <p:cNvPr id="9" name="Text 7"/>
          <p:cNvSpPr/>
          <p:nvPr/>
        </p:nvSpPr>
        <p:spPr>
          <a:xfrm>
            <a:off x="3200400" y="1600200"/>
            <a:ext cx="2560320" cy="411480"/>
          </a:xfrm>
          <a:prstGeom prst="rect">
            <a:avLst/>
          </a:prstGeom>
          <a:noFill/>
          <a:ln/>
        </p:spPr>
        <p:txBody>
          <a:bodyPr wrap="square" rtlCol="0" anchor="ctr"/>
          <a:lstStyle/>
          <a:p>
            <a:pPr indent="0" marL="0">
              <a:buNone/>
            </a:pPr>
            <a:r>
              <a:rPr lang="en-US" sz="1500" dirty="0">
                <a:solidFill>
                  <a:srgbClr val="22C55E"/>
                </a:solidFill>
                <a:latin typeface="Calibri" pitchFamily="34" charset="0"/>
                <a:ea typeface="Calibri" pitchFamily="34" charset="-122"/>
                <a:cs typeface="Calibri" pitchFamily="34" charset="-120"/>
              </a:rPr>
              <a:t>✅ Available now</a:t>
            </a:r>
            <a:endParaRPr lang="en-US" sz="1500" dirty="0"/>
          </a:p>
        </p:txBody>
      </p:sp>
      <p:sp>
        <p:nvSpPr>
          <p:cNvPr id="10" name="Text 8"/>
          <p:cNvSpPr/>
          <p:nvPr/>
        </p:nvSpPr>
        <p:spPr>
          <a:xfrm>
            <a:off x="5943600" y="1600200"/>
            <a:ext cx="2834640" cy="411480"/>
          </a:xfrm>
          <a:prstGeom prst="rect">
            <a:avLst/>
          </a:prstGeom>
          <a:noFill/>
          <a:ln/>
        </p:spPr>
        <p:txBody>
          <a:bodyPr wrap="square" rtlCol="0" anchor="ctr"/>
          <a:lstStyle/>
          <a:p>
            <a:pPr indent="0" marL="0">
              <a:buNone/>
            </a:pPr>
            <a:r>
              <a:rPr lang="en-US" sz="1400" dirty="0">
                <a:solidFill>
                  <a:srgbClr val="0A1628"/>
                </a:solidFill>
                <a:latin typeface="Calibri" pitchFamily="34" charset="0"/>
                <a:ea typeface="Calibri" pitchFamily="34" charset="-122"/>
                <a:cs typeface="Calibri" pitchFamily="34" charset="-120"/>
              </a:rPr>
              <a:t>Standard M365 (no request)</a:t>
            </a:r>
            <a:endParaRPr lang="en-US" sz="1400" dirty="0"/>
          </a:p>
        </p:txBody>
      </p:sp>
      <p:sp>
        <p:nvSpPr>
          <p:cNvPr id="11" name="Text 9"/>
          <p:cNvSpPr/>
          <p:nvPr/>
        </p:nvSpPr>
        <p:spPr>
          <a:xfrm>
            <a:off x="8869680" y="1600200"/>
            <a:ext cx="2743200" cy="411480"/>
          </a:xfrm>
          <a:prstGeom prst="rect">
            <a:avLst/>
          </a:prstGeom>
          <a:noFill/>
          <a:ln/>
        </p:spPr>
        <p:txBody>
          <a:bodyPr wrap="square" rtlCol="0" anchor="ctr"/>
          <a:lstStyle/>
          <a:p>
            <a:pPr indent="0" marL="0">
              <a:buNone/>
            </a:pPr>
            <a:r>
              <a:rPr lang="en-US" sz="1400" dirty="0">
                <a:solidFill>
                  <a:srgbClr val="0A1628"/>
                </a:solidFill>
                <a:latin typeface="Calibri" pitchFamily="34" charset="0"/>
                <a:ea typeface="Calibri" pitchFamily="34" charset="-122"/>
                <a:cs typeface="Calibri" pitchFamily="34" charset="-120"/>
              </a:rPr>
              <a:t>Internal (non-sensitive)</a:t>
            </a:r>
            <a:endParaRPr lang="en-US" sz="1400" dirty="0"/>
          </a:p>
        </p:txBody>
      </p:sp>
      <p:sp>
        <p:nvSpPr>
          <p:cNvPr id="12" name="Shape 10"/>
          <p:cNvSpPr/>
          <p:nvPr/>
        </p:nvSpPr>
        <p:spPr>
          <a:xfrm>
            <a:off x="320040" y="2286000"/>
            <a:ext cx="11430000" cy="777240"/>
          </a:xfrm>
          <a:prstGeom prst="rect">
            <a:avLst/>
          </a:prstGeom>
          <a:solidFill>
            <a:srgbClr val="FFFFFF"/>
          </a:solidFill>
          <a:ln w="12700">
            <a:solidFill>
              <a:srgbClr val="DDDDDD"/>
            </a:solidFill>
            <a:prstDash val="solid"/>
          </a:ln>
        </p:spPr>
      </p:sp>
      <p:sp>
        <p:nvSpPr>
          <p:cNvPr id="13" name="Text 11"/>
          <p:cNvSpPr/>
          <p:nvPr/>
        </p:nvSpPr>
        <p:spPr>
          <a:xfrm>
            <a:off x="457200" y="2468880"/>
            <a:ext cx="2560320" cy="411480"/>
          </a:xfrm>
          <a:prstGeom prst="rect">
            <a:avLst/>
          </a:prstGeom>
          <a:noFill/>
          <a:ln/>
        </p:spPr>
        <p:txBody>
          <a:bodyPr wrap="square" rtlCol="0" anchor="ctr"/>
          <a:lstStyle/>
          <a:p>
            <a:pPr indent="0" marL="0">
              <a:buNone/>
            </a:pPr>
            <a:r>
              <a:rPr lang="en-US" sz="1700" b="1" dirty="0">
                <a:solidFill>
                  <a:srgbClr val="0A1628"/>
                </a:solidFill>
                <a:latin typeface="Calibri" pitchFamily="34" charset="0"/>
                <a:ea typeface="Calibri" pitchFamily="34" charset="-122"/>
                <a:cs typeface="Calibri" pitchFamily="34" charset="-120"/>
              </a:rPr>
              <a:t>GitHub Copilot</a:t>
            </a:r>
            <a:endParaRPr lang="en-US" sz="1700" dirty="0"/>
          </a:p>
        </p:txBody>
      </p:sp>
      <p:sp>
        <p:nvSpPr>
          <p:cNvPr id="14" name="Text 12"/>
          <p:cNvSpPr/>
          <p:nvPr/>
        </p:nvSpPr>
        <p:spPr>
          <a:xfrm>
            <a:off x="3200400" y="2468880"/>
            <a:ext cx="2560320" cy="411480"/>
          </a:xfrm>
          <a:prstGeom prst="rect">
            <a:avLst/>
          </a:prstGeom>
          <a:noFill/>
          <a:ln/>
        </p:spPr>
        <p:txBody>
          <a:bodyPr wrap="square" rtlCol="0" anchor="ctr"/>
          <a:lstStyle/>
          <a:p>
            <a:pPr indent="0" marL="0">
              <a:buNone/>
            </a:pPr>
            <a:r>
              <a:rPr lang="en-US" sz="1500" dirty="0">
                <a:solidFill>
                  <a:srgbClr val="22C55E"/>
                </a:solidFill>
                <a:latin typeface="Calibri" pitchFamily="34" charset="0"/>
                <a:ea typeface="Calibri" pitchFamily="34" charset="-122"/>
                <a:cs typeface="Calibri" pitchFamily="34" charset="-120"/>
              </a:rPr>
              <a:t>✅ Via IT service desk</a:t>
            </a:r>
            <a:endParaRPr lang="en-US" sz="1500" dirty="0"/>
          </a:p>
        </p:txBody>
      </p:sp>
      <p:sp>
        <p:nvSpPr>
          <p:cNvPr id="15" name="Text 13"/>
          <p:cNvSpPr/>
          <p:nvPr/>
        </p:nvSpPr>
        <p:spPr>
          <a:xfrm>
            <a:off x="5943600" y="2468880"/>
            <a:ext cx="2834640" cy="411480"/>
          </a:xfrm>
          <a:prstGeom prst="rect">
            <a:avLst/>
          </a:prstGeom>
          <a:noFill/>
          <a:ln/>
        </p:spPr>
        <p:txBody>
          <a:bodyPr wrap="square" rtlCol="0" anchor="ctr"/>
          <a:lstStyle/>
          <a:p>
            <a:pPr indent="0" marL="0">
              <a:buNone/>
            </a:pPr>
            <a:r>
              <a:rPr lang="en-US" sz="1400" dirty="0">
                <a:solidFill>
                  <a:srgbClr val="0A1628"/>
                </a:solidFill>
                <a:latin typeface="Calibri" pitchFamily="34" charset="0"/>
                <a:ea typeface="Calibri" pitchFamily="34" charset="-122"/>
                <a:cs typeface="Calibri" pitchFamily="34" charset="-120"/>
              </a:rPr>
              <a:t>IT service desk request</a:t>
            </a:r>
            <a:endParaRPr lang="en-US" sz="1400" dirty="0"/>
          </a:p>
        </p:txBody>
      </p:sp>
      <p:sp>
        <p:nvSpPr>
          <p:cNvPr id="16" name="Text 14"/>
          <p:cNvSpPr/>
          <p:nvPr/>
        </p:nvSpPr>
        <p:spPr>
          <a:xfrm>
            <a:off x="8869680" y="2468880"/>
            <a:ext cx="2743200" cy="411480"/>
          </a:xfrm>
          <a:prstGeom prst="rect">
            <a:avLst/>
          </a:prstGeom>
          <a:noFill/>
          <a:ln/>
        </p:spPr>
        <p:txBody>
          <a:bodyPr wrap="square" rtlCol="0" anchor="ctr"/>
          <a:lstStyle/>
          <a:p>
            <a:pPr indent="0" marL="0">
              <a:buNone/>
            </a:pPr>
            <a:r>
              <a:rPr lang="en-US" sz="1400" dirty="0">
                <a:solidFill>
                  <a:srgbClr val="0A1628"/>
                </a:solidFill>
                <a:latin typeface="Calibri" pitchFamily="34" charset="0"/>
                <a:ea typeface="Calibri" pitchFamily="34" charset="-122"/>
                <a:cs typeface="Calibri" pitchFamily="34" charset="-120"/>
              </a:rPr>
              <a:t>BP code in GitHub org</a:t>
            </a:r>
            <a:endParaRPr lang="en-US" sz="1400" dirty="0"/>
          </a:p>
        </p:txBody>
      </p:sp>
      <p:sp>
        <p:nvSpPr>
          <p:cNvPr id="17" name="Shape 15"/>
          <p:cNvSpPr/>
          <p:nvPr/>
        </p:nvSpPr>
        <p:spPr>
          <a:xfrm>
            <a:off x="320040" y="3154680"/>
            <a:ext cx="11430000" cy="777240"/>
          </a:xfrm>
          <a:prstGeom prst="rect">
            <a:avLst/>
          </a:prstGeom>
          <a:solidFill>
            <a:srgbClr val="FFF8F0"/>
          </a:solidFill>
          <a:ln w="12700">
            <a:solidFill>
              <a:srgbClr val="DDDDDD"/>
            </a:solidFill>
            <a:prstDash val="solid"/>
          </a:ln>
        </p:spPr>
      </p:sp>
      <p:sp>
        <p:nvSpPr>
          <p:cNvPr id="18" name="Text 16"/>
          <p:cNvSpPr/>
          <p:nvPr/>
        </p:nvSpPr>
        <p:spPr>
          <a:xfrm>
            <a:off x="457200" y="3337560"/>
            <a:ext cx="2560320" cy="411480"/>
          </a:xfrm>
          <a:prstGeom prst="rect">
            <a:avLst/>
          </a:prstGeom>
          <a:noFill/>
          <a:ln/>
        </p:spPr>
        <p:txBody>
          <a:bodyPr wrap="square" rtlCol="0" anchor="ctr"/>
          <a:lstStyle/>
          <a:p>
            <a:pPr indent="0" marL="0">
              <a:buNone/>
            </a:pPr>
            <a:r>
              <a:rPr lang="en-US" sz="1700" b="1" dirty="0">
                <a:solidFill>
                  <a:srgbClr val="0A1628"/>
                </a:solidFill>
                <a:latin typeface="Calibri" pitchFamily="34" charset="0"/>
                <a:ea typeface="Calibri" pitchFamily="34" charset="-122"/>
                <a:cs typeface="Calibri" pitchFamily="34" charset="-120"/>
              </a:rPr>
              <a:t>Cursor</a:t>
            </a:r>
            <a:endParaRPr lang="en-US" sz="1700" dirty="0"/>
          </a:p>
        </p:txBody>
      </p:sp>
      <p:sp>
        <p:nvSpPr>
          <p:cNvPr id="19" name="Text 17"/>
          <p:cNvSpPr/>
          <p:nvPr/>
        </p:nvSpPr>
        <p:spPr>
          <a:xfrm>
            <a:off x="3200400" y="3337560"/>
            <a:ext cx="2560320" cy="411480"/>
          </a:xfrm>
          <a:prstGeom prst="rect">
            <a:avLst/>
          </a:prstGeom>
          <a:noFill/>
          <a:ln/>
        </p:spPr>
        <p:txBody>
          <a:bodyPr wrap="square" rtlCol="0" anchor="ctr"/>
          <a:lstStyle/>
          <a:p>
            <a:pPr indent="0" marL="0">
              <a:buNone/>
            </a:pPr>
            <a:r>
              <a:rPr lang="en-US" sz="1500" dirty="0">
                <a:solidFill>
                  <a:srgbClr val="F5A623"/>
                </a:solidFill>
                <a:latin typeface="Calibri" pitchFamily="34" charset="0"/>
                <a:ea typeface="Calibri" pitchFamily="34" charset="-122"/>
                <a:cs typeface="Calibri" pitchFamily="34" charset="-120"/>
              </a:rPr>
              <a:t>⚠️ Personal only</a:t>
            </a:r>
            <a:endParaRPr lang="en-US" sz="1500" dirty="0"/>
          </a:p>
        </p:txBody>
      </p:sp>
      <p:sp>
        <p:nvSpPr>
          <p:cNvPr id="20" name="Text 18"/>
          <p:cNvSpPr/>
          <p:nvPr/>
        </p:nvSpPr>
        <p:spPr>
          <a:xfrm>
            <a:off x="5943600" y="3337560"/>
            <a:ext cx="2834640" cy="411480"/>
          </a:xfrm>
          <a:prstGeom prst="rect">
            <a:avLst/>
          </a:prstGeom>
          <a:noFill/>
          <a:ln/>
        </p:spPr>
        <p:txBody>
          <a:bodyPr wrap="square" rtlCol="0" anchor="ctr"/>
          <a:lstStyle/>
          <a:p>
            <a:pPr indent="0" marL="0">
              <a:buNone/>
            </a:pPr>
            <a:r>
              <a:rPr lang="en-US" sz="1400" dirty="0">
                <a:solidFill>
                  <a:srgbClr val="0A1628"/>
                </a:solidFill>
                <a:latin typeface="Calibri" pitchFamily="34" charset="0"/>
                <a:ea typeface="Calibri" pitchFamily="34" charset="-122"/>
                <a:cs typeface="Calibri" pitchFamily="34" charset="-120"/>
              </a:rPr>
              <a:t>Personal subscription ($20/mo)</a:t>
            </a:r>
            <a:endParaRPr lang="en-US" sz="1400" dirty="0"/>
          </a:p>
        </p:txBody>
      </p:sp>
      <p:sp>
        <p:nvSpPr>
          <p:cNvPr id="21" name="Text 19"/>
          <p:cNvSpPr/>
          <p:nvPr/>
        </p:nvSpPr>
        <p:spPr>
          <a:xfrm>
            <a:off x="8869680" y="3337560"/>
            <a:ext cx="2743200" cy="411480"/>
          </a:xfrm>
          <a:prstGeom prst="rect">
            <a:avLst/>
          </a:prstGeom>
          <a:noFill/>
          <a:ln/>
        </p:spPr>
        <p:txBody>
          <a:bodyPr wrap="square" rtlCol="0" anchor="ctr"/>
          <a:lstStyle/>
          <a:p>
            <a:pPr indent="0" marL="0">
              <a:buNone/>
            </a:pPr>
            <a:r>
              <a:rPr lang="en-US" sz="1400" dirty="0">
                <a:solidFill>
                  <a:srgbClr val="0A1628"/>
                </a:solidFill>
                <a:latin typeface="Calibri" pitchFamily="34" charset="0"/>
                <a:ea typeface="Calibri" pitchFamily="34" charset="-122"/>
                <a:cs typeface="Calibri" pitchFamily="34" charset="-120"/>
              </a:rPr>
              <a:t>Personal/unmanaged ONLY</a:t>
            </a:r>
            <a:endParaRPr lang="en-US" sz="1400" dirty="0"/>
          </a:p>
        </p:txBody>
      </p:sp>
      <p:sp>
        <p:nvSpPr>
          <p:cNvPr id="22" name="Shape 20"/>
          <p:cNvSpPr/>
          <p:nvPr/>
        </p:nvSpPr>
        <p:spPr>
          <a:xfrm>
            <a:off x="320040" y="4023360"/>
            <a:ext cx="11430000" cy="777240"/>
          </a:xfrm>
          <a:prstGeom prst="rect">
            <a:avLst/>
          </a:prstGeom>
          <a:solidFill>
            <a:srgbClr val="FFFFFF"/>
          </a:solidFill>
          <a:ln w="12700">
            <a:solidFill>
              <a:srgbClr val="DDDDDD"/>
            </a:solidFill>
            <a:prstDash val="solid"/>
          </a:ln>
        </p:spPr>
      </p:sp>
      <p:sp>
        <p:nvSpPr>
          <p:cNvPr id="23" name="Text 21"/>
          <p:cNvSpPr/>
          <p:nvPr/>
        </p:nvSpPr>
        <p:spPr>
          <a:xfrm>
            <a:off x="457200" y="4206240"/>
            <a:ext cx="2560320" cy="411480"/>
          </a:xfrm>
          <a:prstGeom prst="rect">
            <a:avLst/>
          </a:prstGeom>
          <a:noFill/>
          <a:ln/>
        </p:spPr>
        <p:txBody>
          <a:bodyPr wrap="square" rtlCol="0" anchor="ctr"/>
          <a:lstStyle/>
          <a:p>
            <a:pPr indent="0" marL="0">
              <a:buNone/>
            </a:pPr>
            <a:r>
              <a:rPr lang="en-US" sz="1700" b="1" dirty="0">
                <a:solidFill>
                  <a:srgbClr val="0A1628"/>
                </a:solidFill>
                <a:latin typeface="Calibri" pitchFamily="34" charset="0"/>
                <a:ea typeface="Calibri" pitchFamily="34" charset="-122"/>
                <a:cs typeface="Calibri" pitchFamily="34" charset="-120"/>
              </a:rPr>
              <a:t>Copilot Studio</a:t>
            </a:r>
            <a:endParaRPr lang="en-US" sz="1700" dirty="0"/>
          </a:p>
        </p:txBody>
      </p:sp>
      <p:sp>
        <p:nvSpPr>
          <p:cNvPr id="24" name="Text 22"/>
          <p:cNvSpPr/>
          <p:nvPr/>
        </p:nvSpPr>
        <p:spPr>
          <a:xfrm>
            <a:off x="3200400" y="4206240"/>
            <a:ext cx="2560320" cy="411480"/>
          </a:xfrm>
          <a:prstGeom prst="rect">
            <a:avLst/>
          </a:prstGeom>
          <a:noFill/>
          <a:ln/>
        </p:spPr>
        <p:txBody>
          <a:bodyPr wrap="square" rtlCol="0" anchor="ctr"/>
          <a:lstStyle/>
          <a:p>
            <a:pPr indent="0" marL="0">
              <a:buNone/>
            </a:pPr>
            <a:r>
              <a:rPr lang="en-US" sz="1500" dirty="0">
                <a:solidFill>
                  <a:srgbClr val="64748B"/>
                </a:solidFill>
                <a:latin typeface="Calibri" pitchFamily="34" charset="0"/>
                <a:ea typeface="Calibri" pitchFamily="34" charset="-122"/>
                <a:cs typeface="Calibri" pitchFamily="34" charset="-120"/>
              </a:rPr>
              <a:t>🔑 Licence required</a:t>
            </a:r>
            <a:endParaRPr lang="en-US" sz="1500" dirty="0"/>
          </a:p>
        </p:txBody>
      </p:sp>
      <p:sp>
        <p:nvSpPr>
          <p:cNvPr id="25" name="Text 23"/>
          <p:cNvSpPr/>
          <p:nvPr/>
        </p:nvSpPr>
        <p:spPr>
          <a:xfrm>
            <a:off x="5943600" y="4206240"/>
            <a:ext cx="2834640" cy="411480"/>
          </a:xfrm>
          <a:prstGeom prst="rect">
            <a:avLst/>
          </a:prstGeom>
          <a:noFill/>
          <a:ln/>
        </p:spPr>
        <p:txBody>
          <a:bodyPr wrap="square" rtlCol="0" anchor="ctr"/>
          <a:lstStyle/>
          <a:p>
            <a:pPr indent="0" marL="0">
              <a:buNone/>
            </a:pPr>
            <a:r>
              <a:rPr lang="en-US" sz="1400" dirty="0">
                <a:solidFill>
                  <a:srgbClr val="0A1628"/>
                </a:solidFill>
                <a:latin typeface="Calibri" pitchFamily="34" charset="0"/>
                <a:ea typeface="Calibri" pitchFamily="34" charset="-122"/>
                <a:cs typeface="Calibri" pitchFamily="34" charset="-120"/>
              </a:rPr>
              <a:t>IT / Power Platform team</a:t>
            </a:r>
            <a:endParaRPr lang="en-US" sz="1400" dirty="0"/>
          </a:p>
        </p:txBody>
      </p:sp>
      <p:sp>
        <p:nvSpPr>
          <p:cNvPr id="26" name="Text 24"/>
          <p:cNvSpPr/>
          <p:nvPr/>
        </p:nvSpPr>
        <p:spPr>
          <a:xfrm>
            <a:off x="8869680" y="4206240"/>
            <a:ext cx="2743200" cy="411480"/>
          </a:xfrm>
          <a:prstGeom prst="rect">
            <a:avLst/>
          </a:prstGeom>
          <a:noFill/>
          <a:ln/>
        </p:spPr>
        <p:txBody>
          <a:bodyPr wrap="square" rtlCol="0" anchor="ctr"/>
          <a:lstStyle/>
          <a:p>
            <a:pPr indent="0" marL="0">
              <a:buNone/>
            </a:pPr>
            <a:r>
              <a:rPr lang="en-US" sz="1400" dirty="0">
                <a:solidFill>
                  <a:srgbClr val="0A1628"/>
                </a:solidFill>
                <a:latin typeface="Calibri" pitchFamily="34" charset="0"/>
                <a:ea typeface="Calibri" pitchFamily="34" charset="-122"/>
                <a:cs typeface="Calibri" pitchFamily="34" charset="-120"/>
              </a:rPr>
              <a:t>Internal (non-sensitive)</a:t>
            </a:r>
            <a:endParaRPr lang="en-US" sz="1400" dirty="0"/>
          </a:p>
        </p:txBody>
      </p:sp>
      <p:sp>
        <p:nvSpPr>
          <p:cNvPr id="27" name="Text 25"/>
          <p:cNvSpPr/>
          <p:nvPr/>
        </p:nvSpPr>
        <p:spPr>
          <a:xfrm>
            <a:off x="457200" y="5943600"/>
            <a:ext cx="11247120" cy="365760"/>
          </a:xfrm>
          <a:prstGeom prst="rect">
            <a:avLst/>
          </a:prstGeom>
          <a:noFill/>
          <a:ln/>
        </p:spPr>
        <p:txBody>
          <a:bodyPr wrap="square" rtlCol="0" anchor="ctr"/>
          <a:lstStyle/>
          <a:p>
            <a:pPr indent="0" marL="0">
              <a:buNone/>
            </a:pPr>
            <a:r>
              <a:rPr lang="en-US" sz="1600" b="1" dirty="0">
                <a:solidFill>
                  <a:srgbClr val="00A3E0"/>
                </a:solidFill>
                <a:latin typeface="Calibri" pitchFamily="34" charset="0"/>
                <a:ea typeface="Calibri" pitchFamily="34" charset="-122"/>
                <a:cs typeface="Calibri" pitchFamily="34" charset="-120"/>
              </a:rPr>
              <a:t>Two tools available right now — no additional barriers needed.</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indent="0" marL="0">
              <a:buNone/>
            </a:pPr>
            <a:r>
              <a:rPr lang="en-US" sz="2800" b="1" dirty="0">
                <a:solidFill>
                  <a:srgbClr val="0A1628"/>
                </a:solidFill>
                <a:latin typeface="Calibri" pitchFamily="34" charset="0"/>
                <a:ea typeface="Calibri" pitchFamily="34" charset="-122"/>
                <a:cs typeface="Calibri" pitchFamily="34" charset="-120"/>
              </a:rPr>
              <a:t>12 Months That Changed Everything</a:t>
            </a:r>
            <a:endParaRPr lang="en-US" sz="2800" dirty="0"/>
          </a:p>
        </p:txBody>
      </p:sp>
      <p:sp>
        <p:nvSpPr>
          <p:cNvPr id="3" name="Shape 1"/>
          <p:cNvSpPr/>
          <p:nvPr/>
        </p:nvSpPr>
        <p:spPr>
          <a:xfrm>
            <a:off x="457200" y="2926080"/>
            <a:ext cx="11247120" cy="45720"/>
          </a:xfrm>
          <a:prstGeom prst="rect">
            <a:avLst/>
          </a:prstGeom>
          <a:solidFill>
            <a:srgbClr val="00A3E0"/>
          </a:solidFill>
          <a:ln w="12700">
            <a:solidFill>
              <a:srgbClr val="00A3E0"/>
            </a:solidFill>
            <a:prstDash val="solid"/>
          </a:ln>
        </p:spPr>
      </p:sp>
      <p:sp>
        <p:nvSpPr>
          <p:cNvPr id="4" name="Shape 2"/>
          <p:cNvSpPr/>
          <p:nvPr/>
        </p:nvSpPr>
        <p:spPr>
          <a:xfrm>
            <a:off x="475488" y="2834640"/>
            <a:ext cx="182880" cy="182880"/>
          </a:xfrm>
          <a:prstGeom prst="ellipse">
            <a:avLst/>
          </a:prstGeom>
          <a:solidFill>
            <a:srgbClr val="00A3E0"/>
          </a:solidFill>
          <a:ln w="12700">
            <a:solidFill>
              <a:srgbClr val="00A3E0"/>
            </a:solidFill>
            <a:prstDash val="solid"/>
          </a:ln>
        </p:spPr>
      </p:sp>
      <p:sp>
        <p:nvSpPr>
          <p:cNvPr id="5" name="Text 3"/>
          <p:cNvSpPr/>
          <p:nvPr/>
        </p:nvSpPr>
        <p:spPr>
          <a:xfrm>
            <a:off x="-45720" y="1371600"/>
            <a:ext cx="1371600" cy="1371600"/>
          </a:xfrm>
          <a:prstGeom prst="rect">
            <a:avLst/>
          </a:prstGeom>
          <a:noFill/>
          <a:ln/>
        </p:spPr>
        <p:txBody>
          <a:bodyPr wrap="square" rtlCol="0" anchor="b"/>
          <a:lstStyle/>
          <a:p>
            <a:pPr algn="ctr" indent="0" marL="0">
              <a:buNone/>
            </a:pPr>
            <a:r>
              <a:rPr lang="en-US" sz="1200" dirty="0">
                <a:solidFill>
                  <a:srgbClr val="0A1628"/>
                </a:solidFill>
                <a:latin typeface="Calibri" pitchFamily="34" charset="0"/>
                <a:ea typeface="Calibri" pitchFamily="34" charset="-122"/>
                <a:cs typeface="Calibri" pitchFamily="34" charset="-120"/>
              </a:rPr>
              <a:t>Claude 3.5 Sonnet</a:t>
            </a:r>
            <a:endParaRPr lang="en-US" sz="1200" dirty="0"/>
          </a:p>
          <a:p>
            <a:pPr algn="ctr" indent="0" marL="0">
              <a:buNone/>
            </a:pPr>
            <a:r>
              <a:rPr lang="en-US" sz="1200" dirty="0">
                <a:solidFill>
                  <a:srgbClr val="0A1628"/>
                </a:solidFill>
                <a:latin typeface="Calibri" pitchFamily="34" charset="0"/>
                <a:ea typeface="Calibri" pitchFamily="34" charset="-122"/>
                <a:cs typeface="Calibri" pitchFamily="34" charset="-120"/>
              </a:rPr>
              <a:t>→ coding standard</a:t>
            </a:r>
            <a:endParaRPr lang="en-US" sz="1200" dirty="0"/>
          </a:p>
        </p:txBody>
      </p:sp>
      <p:sp>
        <p:nvSpPr>
          <p:cNvPr id="6" name="Text 4"/>
          <p:cNvSpPr/>
          <p:nvPr/>
        </p:nvSpPr>
        <p:spPr>
          <a:xfrm>
            <a:off x="-45720" y="2697480"/>
            <a:ext cx="1371600" cy="320040"/>
          </a:xfrm>
          <a:prstGeom prst="rect">
            <a:avLst/>
          </a:prstGeom>
          <a:noFill/>
          <a:ln/>
        </p:spPr>
        <p:txBody>
          <a:bodyPr wrap="square" rtlCol="0" anchor="ctr"/>
          <a:lstStyle/>
          <a:p>
            <a:pPr algn="ctr" indent="0" marL="0">
              <a:buNone/>
            </a:pPr>
            <a:r>
              <a:rPr lang="en-US" sz="1100" b="1" dirty="0">
                <a:solidFill>
                  <a:srgbClr val="00A3E0"/>
                </a:solidFill>
                <a:latin typeface="Calibri" pitchFamily="34" charset="0"/>
                <a:ea typeface="Calibri" pitchFamily="34" charset="-122"/>
                <a:cs typeface="Calibri" pitchFamily="34" charset="-120"/>
              </a:rPr>
              <a:t>Q1 2025</a:t>
            </a:r>
            <a:endParaRPr lang="en-US" sz="1100" dirty="0"/>
          </a:p>
        </p:txBody>
      </p:sp>
      <p:sp>
        <p:nvSpPr>
          <p:cNvPr id="7" name="Shape 5"/>
          <p:cNvSpPr/>
          <p:nvPr/>
        </p:nvSpPr>
        <p:spPr>
          <a:xfrm>
            <a:off x="1892808" y="2834640"/>
            <a:ext cx="182880" cy="182880"/>
          </a:xfrm>
          <a:prstGeom prst="ellipse">
            <a:avLst/>
          </a:prstGeom>
          <a:solidFill>
            <a:srgbClr val="00A3E0"/>
          </a:solidFill>
          <a:ln w="12700">
            <a:solidFill>
              <a:srgbClr val="00A3E0"/>
            </a:solidFill>
            <a:prstDash val="solid"/>
          </a:ln>
        </p:spPr>
      </p:sp>
      <p:sp>
        <p:nvSpPr>
          <p:cNvPr id="8" name="Text 6"/>
          <p:cNvSpPr/>
          <p:nvPr/>
        </p:nvSpPr>
        <p:spPr>
          <a:xfrm>
            <a:off x="1371600" y="3063240"/>
            <a:ext cx="1371600" cy="320040"/>
          </a:xfrm>
          <a:prstGeom prst="rect">
            <a:avLst/>
          </a:prstGeom>
          <a:noFill/>
          <a:ln/>
        </p:spPr>
        <p:txBody>
          <a:bodyPr wrap="square" rtlCol="0" anchor="ctr"/>
          <a:lstStyle/>
          <a:p>
            <a:pPr algn="ctr" indent="0" marL="0">
              <a:buNone/>
            </a:pPr>
            <a:r>
              <a:rPr lang="en-US" sz="1100" b="1" dirty="0">
                <a:solidFill>
                  <a:srgbClr val="00A3E0"/>
                </a:solidFill>
                <a:latin typeface="Calibri" pitchFamily="34" charset="0"/>
                <a:ea typeface="Calibri" pitchFamily="34" charset="-122"/>
                <a:cs typeface="Calibri" pitchFamily="34" charset="-120"/>
              </a:rPr>
              <a:t>Q2 2025</a:t>
            </a:r>
            <a:endParaRPr lang="en-US" sz="1100" dirty="0"/>
          </a:p>
        </p:txBody>
      </p:sp>
      <p:sp>
        <p:nvSpPr>
          <p:cNvPr id="9" name="Text 7"/>
          <p:cNvSpPr/>
          <p:nvPr/>
        </p:nvSpPr>
        <p:spPr>
          <a:xfrm>
            <a:off x="1371600" y="3429000"/>
            <a:ext cx="1371600" cy="1371600"/>
          </a:xfrm>
          <a:prstGeom prst="rect">
            <a:avLst/>
          </a:prstGeom>
          <a:noFill/>
          <a:ln/>
        </p:spPr>
        <p:txBody>
          <a:bodyPr wrap="square" rtlCol="0" anchor="t"/>
          <a:lstStyle/>
          <a:p>
            <a:pPr algn="ctr" indent="0" marL="0">
              <a:buNone/>
            </a:pPr>
            <a:r>
              <a:rPr lang="en-US" sz="1200" dirty="0">
                <a:solidFill>
                  <a:srgbClr val="0A1628"/>
                </a:solidFill>
                <a:latin typeface="Calibri" pitchFamily="34" charset="0"/>
                <a:ea typeface="Calibri" pitchFamily="34" charset="-122"/>
                <a:cs typeface="Calibri" pitchFamily="34" charset="-120"/>
              </a:rPr>
              <a:t>Gemini 2.0</a:t>
            </a:r>
            <a:endParaRPr lang="en-US" sz="1200" dirty="0"/>
          </a:p>
          <a:p>
            <a:pPr algn="ctr" indent="0" marL="0">
              <a:buNone/>
            </a:pPr>
            <a:r>
              <a:rPr lang="en-US" sz="1200" dirty="0">
                <a:solidFill>
                  <a:srgbClr val="0A1628"/>
                </a:solidFill>
                <a:latin typeface="Calibri" pitchFamily="34" charset="0"/>
                <a:ea typeface="Calibri" pitchFamily="34" charset="-122"/>
                <a:cs typeface="Calibri" pitchFamily="34" charset="-120"/>
              </a:rPr>
              <a:t>1M context usable</a:t>
            </a:r>
            <a:endParaRPr lang="en-US" sz="1200" dirty="0"/>
          </a:p>
        </p:txBody>
      </p:sp>
      <p:sp>
        <p:nvSpPr>
          <p:cNvPr id="10" name="Shape 8"/>
          <p:cNvSpPr/>
          <p:nvPr/>
        </p:nvSpPr>
        <p:spPr>
          <a:xfrm>
            <a:off x="3310128" y="2834640"/>
            <a:ext cx="182880" cy="182880"/>
          </a:xfrm>
          <a:prstGeom prst="ellipse">
            <a:avLst/>
          </a:prstGeom>
          <a:solidFill>
            <a:srgbClr val="00A3E0"/>
          </a:solidFill>
          <a:ln w="12700">
            <a:solidFill>
              <a:srgbClr val="00A3E0"/>
            </a:solidFill>
            <a:prstDash val="solid"/>
          </a:ln>
        </p:spPr>
      </p:sp>
      <p:sp>
        <p:nvSpPr>
          <p:cNvPr id="11" name="Text 9"/>
          <p:cNvSpPr/>
          <p:nvPr/>
        </p:nvSpPr>
        <p:spPr>
          <a:xfrm>
            <a:off x="2788920" y="1371600"/>
            <a:ext cx="1371600" cy="1371600"/>
          </a:xfrm>
          <a:prstGeom prst="rect">
            <a:avLst/>
          </a:prstGeom>
          <a:noFill/>
          <a:ln/>
        </p:spPr>
        <p:txBody>
          <a:bodyPr wrap="square" rtlCol="0" anchor="b"/>
          <a:lstStyle/>
          <a:p>
            <a:pPr algn="ctr" indent="0" marL="0">
              <a:buNone/>
            </a:pPr>
            <a:r>
              <a:rPr lang="en-US" sz="1200" dirty="0">
                <a:solidFill>
                  <a:srgbClr val="0A1628"/>
                </a:solidFill>
                <a:latin typeface="Calibri" pitchFamily="34" charset="0"/>
                <a:ea typeface="Calibri" pitchFamily="34" charset="-122"/>
                <a:cs typeface="Calibri" pitchFamily="34" charset="-120"/>
              </a:rPr>
              <a:t>Claude 3.7</a:t>
            </a:r>
            <a:endParaRPr lang="en-US" sz="1200" dirty="0"/>
          </a:p>
          <a:p>
            <a:pPr algn="ctr" indent="0" marL="0">
              <a:buNone/>
            </a:pPr>
            <a:r>
              <a:rPr lang="en-US" sz="1200" dirty="0">
                <a:solidFill>
                  <a:srgbClr val="0A1628"/>
                </a:solidFill>
                <a:latin typeface="Calibri" pitchFamily="34" charset="0"/>
                <a:ea typeface="Calibri" pitchFamily="34" charset="-122"/>
                <a:cs typeface="Calibri" pitchFamily="34" charset="-120"/>
              </a:rPr>
              <a:t>extended thinking</a:t>
            </a:r>
            <a:endParaRPr lang="en-US" sz="1200" dirty="0"/>
          </a:p>
        </p:txBody>
      </p:sp>
      <p:sp>
        <p:nvSpPr>
          <p:cNvPr id="12" name="Text 10"/>
          <p:cNvSpPr/>
          <p:nvPr/>
        </p:nvSpPr>
        <p:spPr>
          <a:xfrm>
            <a:off x="2788920" y="2697480"/>
            <a:ext cx="1371600" cy="320040"/>
          </a:xfrm>
          <a:prstGeom prst="rect">
            <a:avLst/>
          </a:prstGeom>
          <a:noFill/>
          <a:ln/>
        </p:spPr>
        <p:txBody>
          <a:bodyPr wrap="square" rtlCol="0" anchor="ctr"/>
          <a:lstStyle/>
          <a:p>
            <a:pPr algn="ctr" indent="0" marL="0">
              <a:buNone/>
            </a:pPr>
            <a:r>
              <a:rPr lang="en-US" sz="1100" b="1" dirty="0">
                <a:solidFill>
                  <a:srgbClr val="00A3E0"/>
                </a:solidFill>
                <a:latin typeface="Calibri" pitchFamily="34" charset="0"/>
                <a:ea typeface="Calibri" pitchFamily="34" charset="-122"/>
                <a:cs typeface="Calibri" pitchFamily="34" charset="-120"/>
              </a:rPr>
              <a:t>Q2 2025</a:t>
            </a:r>
            <a:endParaRPr lang="en-US" sz="1100" dirty="0"/>
          </a:p>
        </p:txBody>
      </p:sp>
      <p:sp>
        <p:nvSpPr>
          <p:cNvPr id="13" name="Shape 11"/>
          <p:cNvSpPr/>
          <p:nvPr/>
        </p:nvSpPr>
        <p:spPr>
          <a:xfrm>
            <a:off x="4727448" y="2834640"/>
            <a:ext cx="182880" cy="182880"/>
          </a:xfrm>
          <a:prstGeom prst="ellipse">
            <a:avLst/>
          </a:prstGeom>
          <a:solidFill>
            <a:srgbClr val="00A3E0"/>
          </a:solidFill>
          <a:ln w="12700">
            <a:solidFill>
              <a:srgbClr val="00A3E0"/>
            </a:solidFill>
            <a:prstDash val="solid"/>
          </a:ln>
        </p:spPr>
      </p:sp>
      <p:sp>
        <p:nvSpPr>
          <p:cNvPr id="14" name="Text 12"/>
          <p:cNvSpPr/>
          <p:nvPr/>
        </p:nvSpPr>
        <p:spPr>
          <a:xfrm>
            <a:off x="4206240" y="3063240"/>
            <a:ext cx="1371600" cy="320040"/>
          </a:xfrm>
          <a:prstGeom prst="rect">
            <a:avLst/>
          </a:prstGeom>
          <a:noFill/>
          <a:ln/>
        </p:spPr>
        <p:txBody>
          <a:bodyPr wrap="square" rtlCol="0" anchor="ctr"/>
          <a:lstStyle/>
          <a:p>
            <a:pPr algn="ctr" indent="0" marL="0">
              <a:buNone/>
            </a:pPr>
            <a:r>
              <a:rPr lang="en-US" sz="1100" b="1" dirty="0">
                <a:solidFill>
                  <a:srgbClr val="00A3E0"/>
                </a:solidFill>
                <a:latin typeface="Calibri" pitchFamily="34" charset="0"/>
                <a:ea typeface="Calibri" pitchFamily="34" charset="-122"/>
                <a:cs typeface="Calibri" pitchFamily="34" charset="-120"/>
              </a:rPr>
              <a:t>Q3 2025</a:t>
            </a:r>
            <a:endParaRPr lang="en-US" sz="1100" dirty="0"/>
          </a:p>
        </p:txBody>
      </p:sp>
      <p:sp>
        <p:nvSpPr>
          <p:cNvPr id="15" name="Text 13"/>
          <p:cNvSpPr/>
          <p:nvPr/>
        </p:nvSpPr>
        <p:spPr>
          <a:xfrm>
            <a:off x="4206240" y="3429000"/>
            <a:ext cx="1371600" cy="1371600"/>
          </a:xfrm>
          <a:prstGeom prst="rect">
            <a:avLst/>
          </a:prstGeom>
          <a:noFill/>
          <a:ln/>
        </p:spPr>
        <p:txBody>
          <a:bodyPr wrap="square" rtlCol="0" anchor="t"/>
          <a:lstStyle/>
          <a:p>
            <a:pPr algn="ctr" indent="0" marL="0">
              <a:buNone/>
            </a:pPr>
            <a:r>
              <a:rPr lang="en-US" sz="1200" dirty="0">
                <a:solidFill>
                  <a:srgbClr val="0A1628"/>
                </a:solidFill>
                <a:latin typeface="Calibri" pitchFamily="34" charset="0"/>
                <a:ea typeface="Calibri" pitchFamily="34" charset="-122"/>
                <a:cs typeface="Calibri" pitchFamily="34" charset="-120"/>
              </a:rPr>
              <a:t>o3 (OpenAI)</a:t>
            </a:r>
            <a:endParaRPr lang="en-US" sz="1200" dirty="0"/>
          </a:p>
          <a:p>
            <a:pPr algn="ctr" indent="0" marL="0">
              <a:buNone/>
            </a:pPr>
            <a:r>
              <a:rPr lang="en-US" sz="1200" dirty="0">
                <a:solidFill>
                  <a:srgbClr val="0A1628"/>
                </a:solidFill>
                <a:latin typeface="Calibri" pitchFamily="34" charset="0"/>
                <a:ea typeface="Calibri" pitchFamily="34" charset="-122"/>
                <a:cs typeface="Calibri" pitchFamily="34" charset="-120"/>
              </a:rPr>
              <a:t>reasoning model</a:t>
            </a:r>
            <a:endParaRPr lang="en-US" sz="1200" dirty="0"/>
          </a:p>
        </p:txBody>
      </p:sp>
      <p:sp>
        <p:nvSpPr>
          <p:cNvPr id="16" name="Shape 14"/>
          <p:cNvSpPr/>
          <p:nvPr/>
        </p:nvSpPr>
        <p:spPr>
          <a:xfrm>
            <a:off x="6144768" y="2834640"/>
            <a:ext cx="182880" cy="182880"/>
          </a:xfrm>
          <a:prstGeom prst="ellipse">
            <a:avLst/>
          </a:prstGeom>
          <a:solidFill>
            <a:srgbClr val="00A3E0"/>
          </a:solidFill>
          <a:ln w="12700">
            <a:solidFill>
              <a:srgbClr val="00A3E0"/>
            </a:solidFill>
            <a:prstDash val="solid"/>
          </a:ln>
        </p:spPr>
      </p:sp>
      <p:sp>
        <p:nvSpPr>
          <p:cNvPr id="17" name="Text 15"/>
          <p:cNvSpPr/>
          <p:nvPr/>
        </p:nvSpPr>
        <p:spPr>
          <a:xfrm>
            <a:off x="5623560" y="1371600"/>
            <a:ext cx="1371600" cy="1371600"/>
          </a:xfrm>
          <a:prstGeom prst="rect">
            <a:avLst/>
          </a:prstGeom>
          <a:noFill/>
          <a:ln/>
        </p:spPr>
        <p:txBody>
          <a:bodyPr wrap="square" rtlCol="0" anchor="b"/>
          <a:lstStyle/>
          <a:p>
            <a:pPr algn="ctr" indent="0" marL="0">
              <a:buNone/>
            </a:pPr>
            <a:r>
              <a:rPr lang="en-US" sz="1200" dirty="0">
                <a:solidFill>
                  <a:srgbClr val="0A1628"/>
                </a:solidFill>
                <a:latin typeface="Calibri" pitchFamily="34" charset="0"/>
                <a:ea typeface="Calibri" pitchFamily="34" charset="-122"/>
                <a:cs typeface="Calibri" pitchFamily="34" charset="-120"/>
              </a:rPr>
              <a:t>Llama 3.3 70B</a:t>
            </a:r>
            <a:endParaRPr lang="en-US" sz="1200" dirty="0"/>
          </a:p>
          <a:p>
            <a:pPr algn="ctr" indent="0" marL="0">
              <a:buNone/>
            </a:pPr>
            <a:r>
              <a:rPr lang="en-US" sz="1200" dirty="0">
                <a:solidFill>
                  <a:srgbClr val="0A1628"/>
                </a:solidFill>
                <a:latin typeface="Calibri" pitchFamily="34" charset="0"/>
                <a:ea typeface="Calibri" pitchFamily="34" charset="-122"/>
                <a:cs typeface="Calibri" pitchFamily="34" charset="-120"/>
              </a:rPr>
              <a:t>open-source gap narrows</a:t>
            </a:r>
            <a:endParaRPr lang="en-US" sz="1200" dirty="0"/>
          </a:p>
        </p:txBody>
      </p:sp>
      <p:sp>
        <p:nvSpPr>
          <p:cNvPr id="18" name="Text 16"/>
          <p:cNvSpPr/>
          <p:nvPr/>
        </p:nvSpPr>
        <p:spPr>
          <a:xfrm>
            <a:off x="5623560" y="2697480"/>
            <a:ext cx="1371600" cy="320040"/>
          </a:xfrm>
          <a:prstGeom prst="rect">
            <a:avLst/>
          </a:prstGeom>
          <a:noFill/>
          <a:ln/>
        </p:spPr>
        <p:txBody>
          <a:bodyPr wrap="square" rtlCol="0" anchor="ctr"/>
          <a:lstStyle/>
          <a:p>
            <a:pPr algn="ctr" indent="0" marL="0">
              <a:buNone/>
            </a:pPr>
            <a:r>
              <a:rPr lang="en-US" sz="1100" b="1" dirty="0">
                <a:solidFill>
                  <a:srgbClr val="00A3E0"/>
                </a:solidFill>
                <a:latin typeface="Calibri" pitchFamily="34" charset="0"/>
                <a:ea typeface="Calibri" pitchFamily="34" charset="-122"/>
                <a:cs typeface="Calibri" pitchFamily="34" charset="-120"/>
              </a:rPr>
              <a:t>Q3 2025</a:t>
            </a:r>
            <a:endParaRPr lang="en-US" sz="1100" dirty="0"/>
          </a:p>
        </p:txBody>
      </p:sp>
      <p:sp>
        <p:nvSpPr>
          <p:cNvPr id="19" name="Shape 17"/>
          <p:cNvSpPr/>
          <p:nvPr/>
        </p:nvSpPr>
        <p:spPr>
          <a:xfrm>
            <a:off x="7562088" y="2834640"/>
            <a:ext cx="182880" cy="182880"/>
          </a:xfrm>
          <a:prstGeom prst="ellipse">
            <a:avLst/>
          </a:prstGeom>
          <a:solidFill>
            <a:srgbClr val="00A3E0"/>
          </a:solidFill>
          <a:ln w="12700">
            <a:solidFill>
              <a:srgbClr val="00A3E0"/>
            </a:solidFill>
            <a:prstDash val="solid"/>
          </a:ln>
        </p:spPr>
      </p:sp>
      <p:sp>
        <p:nvSpPr>
          <p:cNvPr id="20" name="Text 18"/>
          <p:cNvSpPr/>
          <p:nvPr/>
        </p:nvSpPr>
        <p:spPr>
          <a:xfrm>
            <a:off x="7040880" y="3063240"/>
            <a:ext cx="1371600" cy="320040"/>
          </a:xfrm>
          <a:prstGeom prst="rect">
            <a:avLst/>
          </a:prstGeom>
          <a:noFill/>
          <a:ln/>
        </p:spPr>
        <p:txBody>
          <a:bodyPr wrap="square" rtlCol="0" anchor="ctr"/>
          <a:lstStyle/>
          <a:p>
            <a:pPr algn="ctr" indent="0" marL="0">
              <a:buNone/>
            </a:pPr>
            <a:r>
              <a:rPr lang="en-US" sz="1100" b="1" dirty="0">
                <a:solidFill>
                  <a:srgbClr val="00A3E0"/>
                </a:solidFill>
                <a:latin typeface="Calibri" pitchFamily="34" charset="0"/>
                <a:ea typeface="Calibri" pitchFamily="34" charset="-122"/>
                <a:cs typeface="Calibri" pitchFamily="34" charset="-120"/>
              </a:rPr>
              <a:t>Q4 2025</a:t>
            </a:r>
            <a:endParaRPr lang="en-US" sz="1100" dirty="0"/>
          </a:p>
        </p:txBody>
      </p:sp>
      <p:sp>
        <p:nvSpPr>
          <p:cNvPr id="21" name="Text 19"/>
          <p:cNvSpPr/>
          <p:nvPr/>
        </p:nvSpPr>
        <p:spPr>
          <a:xfrm>
            <a:off x="7040880" y="3429000"/>
            <a:ext cx="1371600" cy="1371600"/>
          </a:xfrm>
          <a:prstGeom prst="rect">
            <a:avLst/>
          </a:prstGeom>
          <a:noFill/>
          <a:ln/>
        </p:spPr>
        <p:txBody>
          <a:bodyPr wrap="square" rtlCol="0" anchor="t"/>
          <a:lstStyle/>
          <a:p>
            <a:pPr algn="ctr" indent="0" marL="0">
              <a:buNone/>
            </a:pPr>
            <a:r>
              <a:rPr lang="en-US" sz="1200" dirty="0">
                <a:solidFill>
                  <a:srgbClr val="0A1628"/>
                </a:solidFill>
                <a:latin typeface="Calibri" pitchFamily="34" charset="0"/>
                <a:ea typeface="Calibri" pitchFamily="34" charset="-122"/>
                <a:cs typeface="Calibri" pitchFamily="34" charset="-120"/>
              </a:rPr>
              <a:t>Claude Sonnet 4.6</a:t>
            </a:r>
            <a:endParaRPr lang="en-US" sz="1200" dirty="0"/>
          </a:p>
          <a:p>
            <a:pPr algn="ctr" indent="0" marL="0">
              <a:buNone/>
            </a:pPr>
            <a:r>
              <a:rPr lang="en-US" sz="1200" dirty="0">
                <a:solidFill>
                  <a:srgbClr val="0A1628"/>
                </a:solidFill>
                <a:latin typeface="Calibri" pitchFamily="34" charset="0"/>
                <a:ea typeface="Calibri" pitchFamily="34" charset="-122"/>
                <a:cs typeface="Calibri" pitchFamily="34" charset="-120"/>
              </a:rPr>
              <a:t>+ Opus 4.6</a:t>
            </a:r>
            <a:endParaRPr lang="en-US" sz="1200" dirty="0"/>
          </a:p>
        </p:txBody>
      </p:sp>
      <p:sp>
        <p:nvSpPr>
          <p:cNvPr id="22" name="Shape 20"/>
          <p:cNvSpPr/>
          <p:nvPr/>
        </p:nvSpPr>
        <p:spPr>
          <a:xfrm>
            <a:off x="8979408" y="2834640"/>
            <a:ext cx="182880" cy="182880"/>
          </a:xfrm>
          <a:prstGeom prst="ellipse">
            <a:avLst/>
          </a:prstGeom>
          <a:solidFill>
            <a:srgbClr val="00A3E0"/>
          </a:solidFill>
          <a:ln w="12700">
            <a:solidFill>
              <a:srgbClr val="00A3E0"/>
            </a:solidFill>
            <a:prstDash val="solid"/>
          </a:ln>
        </p:spPr>
      </p:sp>
      <p:sp>
        <p:nvSpPr>
          <p:cNvPr id="23" name="Text 21"/>
          <p:cNvSpPr/>
          <p:nvPr/>
        </p:nvSpPr>
        <p:spPr>
          <a:xfrm>
            <a:off x="8458200" y="1371600"/>
            <a:ext cx="1371600" cy="1371600"/>
          </a:xfrm>
          <a:prstGeom prst="rect">
            <a:avLst/>
          </a:prstGeom>
          <a:noFill/>
          <a:ln/>
        </p:spPr>
        <p:txBody>
          <a:bodyPr wrap="square" rtlCol="0" anchor="b"/>
          <a:lstStyle/>
          <a:p>
            <a:pPr algn="ctr" indent="0" marL="0">
              <a:buNone/>
            </a:pPr>
            <a:r>
              <a:rPr lang="en-US" sz="1200" dirty="0">
                <a:solidFill>
                  <a:srgbClr val="0A1628"/>
                </a:solidFill>
                <a:latin typeface="Calibri" pitchFamily="34" charset="0"/>
                <a:ea typeface="Calibri" pitchFamily="34" charset="-122"/>
                <a:cs typeface="Calibri" pitchFamily="34" charset="-120"/>
              </a:rPr>
              <a:t>Gemini 2.5</a:t>
            </a:r>
            <a:endParaRPr lang="en-US" sz="1200" dirty="0"/>
          </a:p>
          <a:p>
            <a:pPr algn="ctr" indent="0" marL="0">
              <a:buNone/>
            </a:pPr>
            <a:r>
              <a:rPr lang="en-US" sz="1200" dirty="0">
                <a:solidFill>
                  <a:srgbClr val="0A1628"/>
                </a:solidFill>
                <a:latin typeface="Calibri" pitchFamily="34" charset="0"/>
                <a:ea typeface="Calibri" pitchFamily="34" charset="-122"/>
                <a:cs typeface="Calibri" pitchFamily="34" charset="-120"/>
              </a:rPr>
              <a:t>multimodal + tools</a:t>
            </a:r>
            <a:endParaRPr lang="en-US" sz="1200" dirty="0"/>
          </a:p>
        </p:txBody>
      </p:sp>
      <p:sp>
        <p:nvSpPr>
          <p:cNvPr id="24" name="Text 22"/>
          <p:cNvSpPr/>
          <p:nvPr/>
        </p:nvSpPr>
        <p:spPr>
          <a:xfrm>
            <a:off x="8458200" y="2697480"/>
            <a:ext cx="1371600" cy="320040"/>
          </a:xfrm>
          <a:prstGeom prst="rect">
            <a:avLst/>
          </a:prstGeom>
          <a:noFill/>
          <a:ln/>
        </p:spPr>
        <p:txBody>
          <a:bodyPr wrap="square" rtlCol="0" anchor="ctr"/>
          <a:lstStyle/>
          <a:p>
            <a:pPr algn="ctr" indent="0" marL="0">
              <a:buNone/>
            </a:pPr>
            <a:r>
              <a:rPr lang="en-US" sz="1100" b="1" dirty="0">
                <a:solidFill>
                  <a:srgbClr val="00A3E0"/>
                </a:solidFill>
                <a:latin typeface="Calibri" pitchFamily="34" charset="0"/>
                <a:ea typeface="Calibri" pitchFamily="34" charset="-122"/>
                <a:cs typeface="Calibri" pitchFamily="34" charset="-120"/>
              </a:rPr>
              <a:t>Q4 2025</a:t>
            </a:r>
            <a:endParaRPr lang="en-US" sz="1100" dirty="0"/>
          </a:p>
        </p:txBody>
      </p:sp>
      <p:sp>
        <p:nvSpPr>
          <p:cNvPr id="25" name="Shape 23"/>
          <p:cNvSpPr/>
          <p:nvPr/>
        </p:nvSpPr>
        <p:spPr>
          <a:xfrm>
            <a:off x="10396728" y="2834640"/>
            <a:ext cx="182880" cy="182880"/>
          </a:xfrm>
          <a:prstGeom prst="ellipse">
            <a:avLst/>
          </a:prstGeom>
          <a:solidFill>
            <a:srgbClr val="00A3E0"/>
          </a:solidFill>
          <a:ln w="12700">
            <a:solidFill>
              <a:srgbClr val="00A3E0"/>
            </a:solidFill>
            <a:prstDash val="solid"/>
          </a:ln>
        </p:spPr>
      </p:sp>
      <p:sp>
        <p:nvSpPr>
          <p:cNvPr id="26" name="Text 24"/>
          <p:cNvSpPr/>
          <p:nvPr/>
        </p:nvSpPr>
        <p:spPr>
          <a:xfrm>
            <a:off x="9875520" y="3063240"/>
            <a:ext cx="1371600" cy="320040"/>
          </a:xfrm>
          <a:prstGeom prst="rect">
            <a:avLst/>
          </a:prstGeom>
          <a:noFill/>
          <a:ln/>
        </p:spPr>
        <p:txBody>
          <a:bodyPr wrap="square" rtlCol="0" anchor="ctr"/>
          <a:lstStyle/>
          <a:p>
            <a:pPr algn="ctr" indent="0" marL="0">
              <a:buNone/>
            </a:pPr>
            <a:r>
              <a:rPr lang="en-US" sz="1100" b="1" dirty="0">
                <a:solidFill>
                  <a:srgbClr val="00A3E0"/>
                </a:solidFill>
                <a:latin typeface="Calibri" pitchFamily="34" charset="0"/>
                <a:ea typeface="Calibri" pitchFamily="34" charset="-122"/>
                <a:cs typeface="Calibri" pitchFamily="34" charset="-120"/>
              </a:rPr>
              <a:t>Q1 2026</a:t>
            </a:r>
            <a:endParaRPr lang="en-US" sz="1100" dirty="0"/>
          </a:p>
        </p:txBody>
      </p:sp>
      <p:sp>
        <p:nvSpPr>
          <p:cNvPr id="27" name="Text 25"/>
          <p:cNvSpPr/>
          <p:nvPr/>
        </p:nvSpPr>
        <p:spPr>
          <a:xfrm>
            <a:off x="9875520" y="3429000"/>
            <a:ext cx="1371600" cy="1371600"/>
          </a:xfrm>
          <a:prstGeom prst="rect">
            <a:avLst/>
          </a:prstGeom>
          <a:noFill/>
          <a:ln/>
        </p:spPr>
        <p:txBody>
          <a:bodyPr wrap="square" rtlCol="0" anchor="t"/>
          <a:lstStyle/>
          <a:p>
            <a:pPr algn="ctr" indent="0" marL="0">
              <a:buNone/>
            </a:pPr>
            <a:r>
              <a:rPr lang="en-US" sz="1200" dirty="0">
                <a:solidFill>
                  <a:srgbClr val="0A1628"/>
                </a:solidFill>
                <a:latin typeface="Calibri" pitchFamily="34" charset="0"/>
                <a:ea typeface="Calibri" pitchFamily="34" charset="-122"/>
                <a:cs typeface="Calibri" pitchFamily="34" charset="-120"/>
              </a:rPr>
              <a:t>Claude Opus 4.6</a:t>
            </a:r>
            <a:endParaRPr lang="en-US" sz="1200" dirty="0"/>
          </a:p>
          <a:p>
            <a:pPr algn="ctr" indent="0" marL="0">
              <a:buNone/>
            </a:pPr>
            <a:r>
              <a:rPr lang="en-US" sz="1200" dirty="0">
                <a:solidFill>
                  <a:srgbClr val="0A1628"/>
                </a:solidFill>
                <a:latin typeface="Calibri" pitchFamily="34" charset="0"/>
                <a:ea typeface="Calibri" pitchFamily="34" charset="-122"/>
                <a:cs typeface="Calibri" pitchFamily="34" charset="-120"/>
              </a:rPr>
              <a:t>current flagship</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indent="0" marL="0">
              <a:buNone/>
            </a:pPr>
            <a:r>
              <a:rPr lang="en-US" sz="2800" b="1" dirty="0">
                <a:solidFill>
                  <a:srgbClr val="0A1628"/>
                </a:solidFill>
                <a:latin typeface="Calibri" pitchFamily="34" charset="0"/>
                <a:ea typeface="Calibri" pitchFamily="34" charset="-122"/>
                <a:cs typeface="Calibri" pitchFamily="34" charset="-120"/>
              </a:rPr>
              <a:t>Three Shifts. Not Incremental.</a:t>
            </a:r>
            <a:endParaRPr lang="en-US" sz="2800" dirty="0"/>
          </a:p>
        </p:txBody>
      </p:sp>
      <p:sp>
        <p:nvSpPr>
          <p:cNvPr id="3" name="Text 1"/>
          <p:cNvSpPr/>
          <p:nvPr/>
        </p:nvSpPr>
        <p:spPr>
          <a:xfrm>
            <a:off x="457200" y="1005840"/>
            <a:ext cx="3657600" cy="502920"/>
          </a:xfrm>
          <a:prstGeom prst="rect">
            <a:avLst/>
          </a:prstGeom>
          <a:noFill/>
          <a:ln/>
        </p:spPr>
        <p:txBody>
          <a:bodyPr wrap="square" rtlCol="0" anchor="ctr"/>
          <a:lstStyle/>
          <a:p>
            <a:pPr indent="0" marL="0">
              <a:buNone/>
            </a:pPr>
            <a:r>
              <a:rPr lang="en-US" sz="2000" b="1" dirty="0">
                <a:solidFill>
                  <a:srgbClr val="00A3E0"/>
                </a:solidFill>
                <a:latin typeface="Calibri" pitchFamily="34" charset="0"/>
                <a:ea typeface="Calibri" pitchFamily="34" charset="-122"/>
                <a:cs typeface="Calibri" pitchFamily="34" charset="-120"/>
              </a:rPr>
              <a:t>🔲 Context Windows</a:t>
            </a:r>
            <a:endParaRPr lang="en-US" sz="2000" dirty="0"/>
          </a:p>
        </p:txBody>
      </p:sp>
      <p:sp>
        <p:nvSpPr>
          <p:cNvPr id="4" name="Text 2"/>
          <p:cNvSpPr/>
          <p:nvPr/>
        </p:nvSpPr>
        <p:spPr>
          <a:xfrm>
            <a:off x="457200" y="1600200"/>
            <a:ext cx="3657600" cy="1371600"/>
          </a:xfrm>
          <a:prstGeom prst="rect">
            <a:avLst/>
          </a:prstGeom>
          <a:noFill/>
          <a:ln/>
        </p:spPr>
        <p:txBody>
          <a:bodyPr wrap="square" rtlCol="0" anchor="ctr"/>
          <a:lstStyle/>
          <a:p>
            <a:pPr indent="0" marL="0">
              <a:buNone/>
            </a:pPr>
            <a:r>
              <a:rPr lang="en-US" sz="1700" dirty="0">
                <a:solidFill>
                  <a:srgbClr val="0A1628"/>
                </a:solidFill>
                <a:latin typeface="Calibri" pitchFamily="34" charset="0"/>
                <a:ea typeface="Calibri" pitchFamily="34" charset="-122"/>
                <a:cs typeface="Calibri" pitchFamily="34" charset="-120"/>
              </a:rPr>
              <a:t>Entire Dataiku projects fit in one context</a:t>
            </a:r>
            <a:endParaRPr lang="en-US" sz="1700" dirty="0"/>
          </a:p>
        </p:txBody>
      </p:sp>
      <p:sp>
        <p:nvSpPr>
          <p:cNvPr id="5" name="Shape 3"/>
          <p:cNvSpPr/>
          <p:nvPr/>
        </p:nvSpPr>
        <p:spPr>
          <a:xfrm>
            <a:off x="457200" y="3108960"/>
            <a:ext cx="3657600" cy="36576"/>
          </a:xfrm>
          <a:prstGeom prst="rect">
            <a:avLst/>
          </a:prstGeom>
          <a:solidFill>
            <a:srgbClr val="64748B"/>
          </a:solidFill>
          <a:ln w="12700">
            <a:solidFill>
              <a:srgbClr val="64748B"/>
            </a:solidFill>
            <a:prstDash val="solid"/>
          </a:ln>
        </p:spPr>
      </p:sp>
      <p:sp>
        <p:nvSpPr>
          <p:cNvPr id="6" name="Text 4"/>
          <p:cNvSpPr/>
          <p:nvPr/>
        </p:nvSpPr>
        <p:spPr>
          <a:xfrm>
            <a:off x="457200" y="3246120"/>
            <a:ext cx="3657600" cy="1371600"/>
          </a:xfrm>
          <a:prstGeom prst="rect">
            <a:avLst/>
          </a:prstGeom>
          <a:noFill/>
          <a:ln/>
        </p:spPr>
        <p:txBody>
          <a:bodyPr wrap="square"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FM&amp;I: Architecture-level questions across full pipelines</a:t>
            </a:r>
            <a:endParaRPr lang="en-US" sz="1500" dirty="0"/>
          </a:p>
        </p:txBody>
      </p:sp>
      <p:sp>
        <p:nvSpPr>
          <p:cNvPr id="7" name="Text 5"/>
          <p:cNvSpPr/>
          <p:nvPr/>
        </p:nvSpPr>
        <p:spPr>
          <a:xfrm>
            <a:off x="4389120" y="1005840"/>
            <a:ext cx="3657600" cy="502920"/>
          </a:xfrm>
          <a:prstGeom prst="rect">
            <a:avLst/>
          </a:prstGeom>
          <a:noFill/>
          <a:ln/>
        </p:spPr>
        <p:txBody>
          <a:bodyPr wrap="square" rtlCol="0" anchor="ctr"/>
          <a:lstStyle/>
          <a:p>
            <a:pPr indent="0" marL="0">
              <a:buNone/>
            </a:pPr>
            <a:r>
              <a:rPr lang="en-US" sz="2000" b="1" dirty="0">
                <a:solidFill>
                  <a:srgbClr val="00A3E0"/>
                </a:solidFill>
                <a:latin typeface="Calibri" pitchFamily="34" charset="0"/>
                <a:ea typeface="Calibri" pitchFamily="34" charset="-122"/>
                <a:cs typeface="Calibri" pitchFamily="34" charset="-120"/>
              </a:rPr>
              <a:t>🤖 Agentic Execution</a:t>
            </a:r>
            <a:endParaRPr lang="en-US" sz="2000" dirty="0"/>
          </a:p>
        </p:txBody>
      </p:sp>
      <p:sp>
        <p:nvSpPr>
          <p:cNvPr id="8" name="Text 6"/>
          <p:cNvSpPr/>
          <p:nvPr/>
        </p:nvSpPr>
        <p:spPr>
          <a:xfrm>
            <a:off x="4389120" y="1600200"/>
            <a:ext cx="3657600" cy="1371600"/>
          </a:xfrm>
          <a:prstGeom prst="rect">
            <a:avLst/>
          </a:prstGeom>
          <a:noFill/>
          <a:ln/>
        </p:spPr>
        <p:txBody>
          <a:bodyPr wrap="square" rtlCol="0" anchor="ctr"/>
          <a:lstStyle/>
          <a:p>
            <a:pPr indent="0" marL="0">
              <a:buNone/>
            </a:pPr>
            <a:r>
              <a:rPr lang="en-US" sz="1700" dirty="0">
                <a:solidFill>
                  <a:srgbClr val="0A1628"/>
                </a:solidFill>
                <a:latin typeface="Calibri" pitchFamily="34" charset="0"/>
                <a:ea typeface="Calibri" pitchFamily="34" charset="-122"/>
                <a:cs typeface="Calibri" pitchFamily="34" charset="-120"/>
              </a:rPr>
              <a:t>Multi-step autonomous tasks are production-ready</a:t>
            </a:r>
            <a:endParaRPr lang="en-US" sz="1700" dirty="0"/>
          </a:p>
        </p:txBody>
      </p:sp>
      <p:sp>
        <p:nvSpPr>
          <p:cNvPr id="9" name="Shape 7"/>
          <p:cNvSpPr/>
          <p:nvPr/>
        </p:nvSpPr>
        <p:spPr>
          <a:xfrm>
            <a:off x="4389120" y="3108960"/>
            <a:ext cx="3657600" cy="36576"/>
          </a:xfrm>
          <a:prstGeom prst="rect">
            <a:avLst/>
          </a:prstGeom>
          <a:solidFill>
            <a:srgbClr val="64748B"/>
          </a:solidFill>
          <a:ln w="12700">
            <a:solidFill>
              <a:srgbClr val="64748B"/>
            </a:solidFill>
            <a:prstDash val="solid"/>
          </a:ln>
        </p:spPr>
      </p:sp>
      <p:sp>
        <p:nvSpPr>
          <p:cNvPr id="10" name="Text 8"/>
          <p:cNvSpPr/>
          <p:nvPr/>
        </p:nvSpPr>
        <p:spPr>
          <a:xfrm>
            <a:off x="4389120" y="3246120"/>
            <a:ext cx="3657600" cy="1371600"/>
          </a:xfrm>
          <a:prstGeom prst="rect">
            <a:avLst/>
          </a:prstGeom>
          <a:noFill/>
          <a:ln/>
        </p:spPr>
        <p:txBody>
          <a:bodyPr wrap="square"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FM&amp;I: Overnight pipeline monitors, report generation agents</a:t>
            </a:r>
            <a:endParaRPr lang="en-US" sz="1500" dirty="0"/>
          </a:p>
        </p:txBody>
      </p:sp>
      <p:sp>
        <p:nvSpPr>
          <p:cNvPr id="11" name="Text 9"/>
          <p:cNvSpPr/>
          <p:nvPr/>
        </p:nvSpPr>
        <p:spPr>
          <a:xfrm>
            <a:off x="8321040" y="1005840"/>
            <a:ext cx="3657600" cy="502920"/>
          </a:xfrm>
          <a:prstGeom prst="rect">
            <a:avLst/>
          </a:prstGeom>
          <a:noFill/>
          <a:ln/>
        </p:spPr>
        <p:txBody>
          <a:bodyPr wrap="square" rtlCol="0" anchor="ctr"/>
          <a:lstStyle/>
          <a:p>
            <a:pPr indent="0" marL="0">
              <a:buNone/>
            </a:pPr>
            <a:r>
              <a:rPr lang="en-US" sz="2000" b="1" dirty="0">
                <a:solidFill>
                  <a:srgbClr val="00A3E0"/>
                </a:solidFill>
                <a:latin typeface="Calibri" pitchFamily="34" charset="0"/>
                <a:ea typeface="Calibri" pitchFamily="34" charset="-122"/>
                <a:cs typeface="Calibri" pitchFamily="34" charset="-120"/>
              </a:rPr>
              <a:t>🔌 Tool Calling / MCP</a:t>
            </a:r>
            <a:endParaRPr lang="en-US" sz="2000" dirty="0"/>
          </a:p>
        </p:txBody>
      </p:sp>
      <p:sp>
        <p:nvSpPr>
          <p:cNvPr id="12" name="Text 10"/>
          <p:cNvSpPr/>
          <p:nvPr/>
        </p:nvSpPr>
        <p:spPr>
          <a:xfrm>
            <a:off x="8321040" y="1600200"/>
            <a:ext cx="3657600" cy="1371600"/>
          </a:xfrm>
          <a:prstGeom prst="rect">
            <a:avLst/>
          </a:prstGeom>
          <a:noFill/>
          <a:ln/>
        </p:spPr>
        <p:txBody>
          <a:bodyPr wrap="square" rtlCol="0" anchor="ctr"/>
          <a:lstStyle/>
          <a:p>
            <a:pPr indent="0" marL="0">
              <a:buNone/>
            </a:pPr>
            <a:r>
              <a:rPr lang="en-US" sz="1700" dirty="0">
                <a:solidFill>
                  <a:srgbClr val="0A1628"/>
                </a:solidFill>
                <a:latin typeface="Calibri" pitchFamily="34" charset="0"/>
                <a:ea typeface="Calibri" pitchFamily="34" charset="-122"/>
                <a:cs typeface="Calibri" pitchFamily="34" charset="-120"/>
              </a:rPr>
              <a:t>LLMs now interact with external systems</a:t>
            </a:r>
            <a:endParaRPr lang="en-US" sz="1700" dirty="0"/>
          </a:p>
        </p:txBody>
      </p:sp>
      <p:sp>
        <p:nvSpPr>
          <p:cNvPr id="13" name="Shape 11"/>
          <p:cNvSpPr/>
          <p:nvPr/>
        </p:nvSpPr>
        <p:spPr>
          <a:xfrm>
            <a:off x="8321040" y="3108960"/>
            <a:ext cx="3657600" cy="36576"/>
          </a:xfrm>
          <a:prstGeom prst="rect">
            <a:avLst/>
          </a:prstGeom>
          <a:solidFill>
            <a:srgbClr val="64748B"/>
          </a:solidFill>
          <a:ln w="12700">
            <a:solidFill>
              <a:srgbClr val="64748B"/>
            </a:solidFill>
            <a:prstDash val="solid"/>
          </a:ln>
        </p:spPr>
      </p:sp>
      <p:sp>
        <p:nvSpPr>
          <p:cNvPr id="14" name="Text 12"/>
          <p:cNvSpPr/>
          <p:nvPr/>
        </p:nvSpPr>
        <p:spPr>
          <a:xfrm>
            <a:off x="8321040" y="3246120"/>
            <a:ext cx="3657600" cy="1371600"/>
          </a:xfrm>
          <a:prstGeom prst="rect">
            <a:avLst/>
          </a:prstGeom>
          <a:noFill/>
          <a:ln/>
        </p:spPr>
        <p:txBody>
          <a:bodyPr wrap="square"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FM&amp;I: Connect Cursor or Claude Code to Dataiku, databases, APIs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3A5F"/>
        </a:solidFill>
      </p:bgPr>
    </p:bg>
    <p:spTree>
      <p:nvGrpSpPr>
        <p:cNvPr id="1" name=""/>
        <p:cNvGrpSpPr/>
        <p:nvPr/>
      </p:nvGrpSpPr>
      <p:grpSpPr>
        <a:xfrm>
          <a:off x="0" y="0"/>
          <a:ext cx="0" cy="0"/>
          <a:chOff x="0" y="0"/>
          <a:chExt cx="0" cy="0"/>
        </a:xfrm>
      </p:grpSpPr>
      <p:sp>
        <p:nvSpPr>
          <p:cNvPr id="2" name="Text 0"/>
          <p:cNvSpPr/>
          <p:nvPr/>
        </p:nvSpPr>
        <p:spPr>
          <a:xfrm>
            <a:off x="8686800" y="3200400"/>
            <a:ext cx="3474720" cy="3200400"/>
          </a:xfrm>
          <a:prstGeom prst="rect">
            <a:avLst/>
          </a:prstGeom>
          <a:noFill/>
          <a:ln/>
        </p:spPr>
        <p:txBody>
          <a:bodyPr wrap="square" rtlCol="0" anchor="ctr"/>
          <a:lstStyle/>
          <a:p>
            <a:pPr algn="r" indent="0" marL="0">
              <a:buNone/>
            </a:pPr>
            <a:r>
              <a:rPr lang="en-US" sz="18000" b="1" dirty="0">
                <a:solidFill>
                  <a:srgbClr val="00A3E0">
                    <a:alpha val="20000"/>
                  </a:srgbClr>
                </a:solidFill>
                <a:latin typeface="Calibri" pitchFamily="34" charset="0"/>
                <a:ea typeface="Calibri" pitchFamily="34" charset="-122"/>
                <a:cs typeface="Calibri" pitchFamily="34" charset="-120"/>
              </a:rPr>
              <a:t>03</a:t>
            </a:r>
            <a:endParaRPr lang="en-US" sz="18000" dirty="0"/>
          </a:p>
        </p:txBody>
      </p:sp>
      <p:sp>
        <p:nvSpPr>
          <p:cNvPr id="3" name="Shape 1"/>
          <p:cNvSpPr/>
          <p:nvPr/>
        </p:nvSpPr>
        <p:spPr>
          <a:xfrm>
            <a:off x="548640" y="2194560"/>
            <a:ext cx="73152" cy="1463040"/>
          </a:xfrm>
          <a:prstGeom prst="rect">
            <a:avLst/>
          </a:prstGeom>
          <a:solidFill>
            <a:srgbClr val="00A3E0"/>
          </a:solidFill>
          <a:ln w="12700">
            <a:solidFill>
              <a:srgbClr val="00A3E0"/>
            </a:solidFill>
            <a:prstDash val="solid"/>
          </a:ln>
        </p:spPr>
      </p:sp>
      <p:sp>
        <p:nvSpPr>
          <p:cNvPr id="4" name="Text 2"/>
          <p:cNvSpPr/>
          <p:nvPr/>
        </p:nvSpPr>
        <p:spPr>
          <a:xfrm>
            <a:off x="777240" y="2286000"/>
            <a:ext cx="8229600" cy="6400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Section 3 — FM&amp;I Use Cases</a:t>
            </a:r>
            <a:endParaRPr lang="en-US" sz="3200" dirty="0"/>
          </a:p>
        </p:txBody>
      </p:sp>
      <p:sp>
        <p:nvSpPr>
          <p:cNvPr id="5" name="Text 3"/>
          <p:cNvSpPr/>
          <p:nvPr/>
        </p:nvSpPr>
        <p:spPr>
          <a:xfrm>
            <a:off x="777240" y="3017520"/>
            <a:ext cx="8229600" cy="45720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Concrete workflows with before/after times — then a live demo</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indent="0" marL="0">
              <a:buNone/>
            </a:pPr>
            <a:r>
              <a:rPr lang="en-US" sz="2800" b="1" dirty="0">
                <a:solidFill>
                  <a:srgbClr val="0A1628"/>
                </a:solidFill>
                <a:latin typeface="Calibri" pitchFamily="34" charset="0"/>
                <a:ea typeface="Calibri" pitchFamily="34" charset="-122"/>
                <a:cs typeface="Calibri" pitchFamily="34" charset="-120"/>
              </a:rPr>
              <a:t>Six High-Impact Workflows</a:t>
            </a:r>
            <a:endParaRPr lang="en-US" sz="2800" dirty="0"/>
          </a:p>
        </p:txBody>
      </p:sp>
      <p:sp>
        <p:nvSpPr>
          <p:cNvPr id="3" name="Shape 1"/>
          <p:cNvSpPr/>
          <p:nvPr/>
        </p:nvSpPr>
        <p:spPr>
          <a:xfrm>
            <a:off x="457200" y="1005840"/>
            <a:ext cx="3749040" cy="2103120"/>
          </a:xfrm>
          <a:prstGeom prst="rect">
            <a:avLst/>
          </a:prstGeom>
          <a:solidFill>
            <a:srgbClr val="FFFFFF"/>
          </a:solidFill>
          <a:ln w="12700">
            <a:solidFill>
              <a:srgbClr val="00A3E0"/>
            </a:solidFill>
            <a:prstDash val="solid"/>
          </a:ln>
        </p:spPr>
      </p:sp>
      <p:sp>
        <p:nvSpPr>
          <p:cNvPr id="4" name="Shape 2"/>
          <p:cNvSpPr/>
          <p:nvPr/>
        </p:nvSpPr>
        <p:spPr>
          <a:xfrm>
            <a:off x="457200" y="1005840"/>
            <a:ext cx="3749040" cy="73152"/>
          </a:xfrm>
          <a:prstGeom prst="rect">
            <a:avLst/>
          </a:prstGeom>
          <a:solidFill>
            <a:srgbClr val="00A3E0"/>
          </a:solidFill>
          <a:ln w="12700">
            <a:solidFill>
              <a:srgbClr val="00A3E0"/>
            </a:solidFill>
            <a:prstDash val="solid"/>
          </a:ln>
        </p:spPr>
      </p:sp>
      <p:sp>
        <p:nvSpPr>
          <p:cNvPr id="5" name="Text 3"/>
          <p:cNvSpPr/>
          <p:nvPr/>
        </p:nvSpPr>
        <p:spPr>
          <a:xfrm>
            <a:off x="640080" y="1234440"/>
            <a:ext cx="3383280" cy="457200"/>
          </a:xfrm>
          <a:prstGeom prst="rect">
            <a:avLst/>
          </a:prstGeom>
          <a:noFill/>
          <a:ln/>
        </p:spPr>
        <p:txBody>
          <a:bodyPr wrap="square" rtlCol="0" anchor="ctr"/>
          <a:lstStyle/>
          <a:p>
            <a:pPr indent="0" marL="0">
              <a:buNone/>
            </a:pPr>
            <a:r>
              <a:rPr lang="en-US" sz="1800" b="1" dirty="0">
                <a:solidFill>
                  <a:srgbClr val="0A1628"/>
                </a:solidFill>
                <a:latin typeface="Calibri" pitchFamily="34" charset="0"/>
                <a:ea typeface="Calibri" pitchFamily="34" charset="-122"/>
                <a:cs typeface="Calibri" pitchFamily="34" charset="-120"/>
              </a:rPr>
              <a:t>🔧 Pipeline Debugging</a:t>
            </a:r>
            <a:endParaRPr lang="en-US" sz="1800" dirty="0"/>
          </a:p>
        </p:txBody>
      </p:sp>
      <p:sp>
        <p:nvSpPr>
          <p:cNvPr id="6" name="Text 4"/>
          <p:cNvSpPr/>
          <p:nvPr/>
        </p:nvSpPr>
        <p:spPr>
          <a:xfrm>
            <a:off x="640080" y="1783080"/>
            <a:ext cx="3383280" cy="457200"/>
          </a:xfrm>
          <a:prstGeom prst="rect">
            <a:avLst/>
          </a:prstGeom>
          <a:noFill/>
          <a:ln/>
        </p:spPr>
        <p:txBody>
          <a:bodyPr wrap="square" rtlCol="0" anchor="ctr"/>
          <a:lstStyle/>
          <a:p>
            <a:pPr indent="0" marL="0">
              <a:buNone/>
            </a:pPr>
            <a:r>
              <a:rPr lang="en-US" sz="1700" b="1" dirty="0">
                <a:solidFill>
                  <a:srgbClr val="00A3E0"/>
                </a:solidFill>
                <a:latin typeface="Calibri" pitchFamily="34" charset="0"/>
                <a:ea typeface="Calibri" pitchFamily="34" charset="-122"/>
                <a:cs typeface="Calibri" pitchFamily="34" charset="-120"/>
              </a:rPr>
              <a:t>80 min → 10 min</a:t>
            </a:r>
            <a:endParaRPr lang="en-US" sz="1700" dirty="0"/>
          </a:p>
        </p:txBody>
      </p:sp>
      <p:sp>
        <p:nvSpPr>
          <p:cNvPr id="7" name="Shape 5"/>
          <p:cNvSpPr/>
          <p:nvPr/>
        </p:nvSpPr>
        <p:spPr>
          <a:xfrm>
            <a:off x="4389120" y="1005840"/>
            <a:ext cx="3749040" cy="2103120"/>
          </a:xfrm>
          <a:prstGeom prst="rect">
            <a:avLst/>
          </a:prstGeom>
          <a:solidFill>
            <a:srgbClr val="FFFFFF"/>
          </a:solidFill>
          <a:ln w="12700">
            <a:solidFill>
              <a:srgbClr val="00A3E0"/>
            </a:solidFill>
            <a:prstDash val="solid"/>
          </a:ln>
        </p:spPr>
      </p:sp>
      <p:sp>
        <p:nvSpPr>
          <p:cNvPr id="8" name="Shape 6"/>
          <p:cNvSpPr/>
          <p:nvPr/>
        </p:nvSpPr>
        <p:spPr>
          <a:xfrm>
            <a:off x="4389120" y="1005840"/>
            <a:ext cx="3749040" cy="73152"/>
          </a:xfrm>
          <a:prstGeom prst="rect">
            <a:avLst/>
          </a:prstGeom>
          <a:solidFill>
            <a:srgbClr val="00A3E0"/>
          </a:solidFill>
          <a:ln w="12700">
            <a:solidFill>
              <a:srgbClr val="00A3E0"/>
            </a:solidFill>
            <a:prstDash val="solid"/>
          </a:ln>
        </p:spPr>
      </p:sp>
      <p:sp>
        <p:nvSpPr>
          <p:cNvPr id="9" name="Text 7"/>
          <p:cNvSpPr/>
          <p:nvPr/>
        </p:nvSpPr>
        <p:spPr>
          <a:xfrm>
            <a:off x="4572000" y="1234440"/>
            <a:ext cx="3383280" cy="457200"/>
          </a:xfrm>
          <a:prstGeom prst="rect">
            <a:avLst/>
          </a:prstGeom>
          <a:noFill/>
          <a:ln/>
        </p:spPr>
        <p:txBody>
          <a:bodyPr wrap="square" rtlCol="0" anchor="ctr"/>
          <a:lstStyle/>
          <a:p>
            <a:pPr indent="0" marL="0">
              <a:buNone/>
            </a:pPr>
            <a:r>
              <a:rPr lang="en-US" sz="1800" b="1" dirty="0">
                <a:solidFill>
                  <a:srgbClr val="0A1628"/>
                </a:solidFill>
                <a:latin typeface="Calibri" pitchFamily="34" charset="0"/>
                <a:ea typeface="Calibri" pitchFamily="34" charset="-122"/>
                <a:cs typeface="Calibri" pitchFamily="34" charset="-120"/>
              </a:rPr>
              <a:t>⚡ ELT Code Generation</a:t>
            </a:r>
            <a:endParaRPr lang="en-US" sz="1800" dirty="0"/>
          </a:p>
        </p:txBody>
      </p:sp>
      <p:sp>
        <p:nvSpPr>
          <p:cNvPr id="10" name="Text 8"/>
          <p:cNvSpPr/>
          <p:nvPr/>
        </p:nvSpPr>
        <p:spPr>
          <a:xfrm>
            <a:off x="4572000" y="1783080"/>
            <a:ext cx="3383280" cy="457200"/>
          </a:xfrm>
          <a:prstGeom prst="rect">
            <a:avLst/>
          </a:prstGeom>
          <a:noFill/>
          <a:ln/>
        </p:spPr>
        <p:txBody>
          <a:bodyPr wrap="square" rtlCol="0" anchor="ctr"/>
          <a:lstStyle/>
          <a:p>
            <a:pPr indent="0" marL="0">
              <a:buNone/>
            </a:pPr>
            <a:r>
              <a:rPr lang="en-US" sz="1700" b="1" dirty="0">
                <a:solidFill>
                  <a:srgbClr val="00A3E0"/>
                </a:solidFill>
                <a:latin typeface="Calibri" pitchFamily="34" charset="0"/>
                <a:ea typeface="Calibri" pitchFamily="34" charset="-122"/>
                <a:cs typeface="Calibri" pitchFamily="34" charset="-120"/>
              </a:rPr>
              <a:t>4 hrs → 1 hr</a:t>
            </a:r>
            <a:endParaRPr lang="en-US" sz="1700" dirty="0"/>
          </a:p>
        </p:txBody>
      </p:sp>
      <p:sp>
        <p:nvSpPr>
          <p:cNvPr id="11" name="Shape 9"/>
          <p:cNvSpPr/>
          <p:nvPr/>
        </p:nvSpPr>
        <p:spPr>
          <a:xfrm>
            <a:off x="8321040" y="1005840"/>
            <a:ext cx="3749040" cy="2103120"/>
          </a:xfrm>
          <a:prstGeom prst="rect">
            <a:avLst/>
          </a:prstGeom>
          <a:solidFill>
            <a:srgbClr val="FFFFFF"/>
          </a:solidFill>
          <a:ln w="12700">
            <a:solidFill>
              <a:srgbClr val="00A3E0"/>
            </a:solidFill>
            <a:prstDash val="solid"/>
          </a:ln>
        </p:spPr>
      </p:sp>
      <p:sp>
        <p:nvSpPr>
          <p:cNvPr id="12" name="Shape 10"/>
          <p:cNvSpPr/>
          <p:nvPr/>
        </p:nvSpPr>
        <p:spPr>
          <a:xfrm>
            <a:off x="8321040" y="1005840"/>
            <a:ext cx="3749040" cy="73152"/>
          </a:xfrm>
          <a:prstGeom prst="rect">
            <a:avLst/>
          </a:prstGeom>
          <a:solidFill>
            <a:srgbClr val="00A3E0"/>
          </a:solidFill>
          <a:ln w="12700">
            <a:solidFill>
              <a:srgbClr val="00A3E0"/>
            </a:solidFill>
            <a:prstDash val="solid"/>
          </a:ln>
        </p:spPr>
      </p:sp>
      <p:sp>
        <p:nvSpPr>
          <p:cNvPr id="13" name="Text 11"/>
          <p:cNvSpPr/>
          <p:nvPr/>
        </p:nvSpPr>
        <p:spPr>
          <a:xfrm>
            <a:off x="8503920" y="1234440"/>
            <a:ext cx="3383280" cy="457200"/>
          </a:xfrm>
          <a:prstGeom prst="rect">
            <a:avLst/>
          </a:prstGeom>
          <a:noFill/>
          <a:ln/>
        </p:spPr>
        <p:txBody>
          <a:bodyPr wrap="square" rtlCol="0" anchor="ctr"/>
          <a:lstStyle/>
          <a:p>
            <a:pPr indent="0" marL="0">
              <a:buNone/>
            </a:pPr>
            <a:r>
              <a:rPr lang="en-US" sz="1800" b="1" dirty="0">
                <a:solidFill>
                  <a:srgbClr val="0A1628"/>
                </a:solidFill>
                <a:latin typeface="Calibri" pitchFamily="34" charset="0"/>
                <a:ea typeface="Calibri" pitchFamily="34" charset="-122"/>
                <a:cs typeface="Calibri" pitchFamily="34" charset="-120"/>
              </a:rPr>
              <a:t>📊 Ad Hoc Analysis</a:t>
            </a:r>
            <a:endParaRPr lang="en-US" sz="1800" dirty="0"/>
          </a:p>
        </p:txBody>
      </p:sp>
      <p:sp>
        <p:nvSpPr>
          <p:cNvPr id="14" name="Text 12"/>
          <p:cNvSpPr/>
          <p:nvPr/>
        </p:nvSpPr>
        <p:spPr>
          <a:xfrm>
            <a:off x="8503920" y="1783080"/>
            <a:ext cx="3383280" cy="457200"/>
          </a:xfrm>
          <a:prstGeom prst="rect">
            <a:avLst/>
          </a:prstGeom>
          <a:noFill/>
          <a:ln/>
        </p:spPr>
        <p:txBody>
          <a:bodyPr wrap="square" rtlCol="0" anchor="ctr"/>
          <a:lstStyle/>
          <a:p>
            <a:pPr indent="0" marL="0">
              <a:buNone/>
            </a:pPr>
            <a:r>
              <a:rPr lang="en-US" sz="1700" b="1" dirty="0">
                <a:solidFill>
                  <a:srgbClr val="00A3E0"/>
                </a:solidFill>
                <a:latin typeface="Calibri" pitchFamily="34" charset="0"/>
                <a:ea typeface="Calibri" pitchFamily="34" charset="-122"/>
                <a:cs typeface="Calibri" pitchFamily="34" charset="-120"/>
              </a:rPr>
              <a:t>3 hrs → 45 min</a:t>
            </a:r>
            <a:endParaRPr lang="en-US" sz="1700" dirty="0"/>
          </a:p>
        </p:txBody>
      </p:sp>
      <p:sp>
        <p:nvSpPr>
          <p:cNvPr id="15" name="Shape 13"/>
          <p:cNvSpPr/>
          <p:nvPr/>
        </p:nvSpPr>
        <p:spPr>
          <a:xfrm>
            <a:off x="457200" y="3383280"/>
            <a:ext cx="3749040" cy="2103120"/>
          </a:xfrm>
          <a:prstGeom prst="rect">
            <a:avLst/>
          </a:prstGeom>
          <a:solidFill>
            <a:srgbClr val="FFFFFF"/>
          </a:solidFill>
          <a:ln w="12700">
            <a:solidFill>
              <a:srgbClr val="00A3E0"/>
            </a:solidFill>
            <a:prstDash val="solid"/>
          </a:ln>
        </p:spPr>
      </p:sp>
      <p:sp>
        <p:nvSpPr>
          <p:cNvPr id="16" name="Shape 14"/>
          <p:cNvSpPr/>
          <p:nvPr/>
        </p:nvSpPr>
        <p:spPr>
          <a:xfrm>
            <a:off x="457200" y="3383280"/>
            <a:ext cx="3749040" cy="73152"/>
          </a:xfrm>
          <a:prstGeom prst="rect">
            <a:avLst/>
          </a:prstGeom>
          <a:solidFill>
            <a:srgbClr val="00A3E0"/>
          </a:solidFill>
          <a:ln w="12700">
            <a:solidFill>
              <a:srgbClr val="00A3E0"/>
            </a:solidFill>
            <a:prstDash val="solid"/>
          </a:ln>
        </p:spPr>
      </p:sp>
      <p:sp>
        <p:nvSpPr>
          <p:cNvPr id="17" name="Text 15"/>
          <p:cNvSpPr/>
          <p:nvPr/>
        </p:nvSpPr>
        <p:spPr>
          <a:xfrm>
            <a:off x="640080" y="3611880"/>
            <a:ext cx="3383280" cy="457200"/>
          </a:xfrm>
          <a:prstGeom prst="rect">
            <a:avLst/>
          </a:prstGeom>
          <a:noFill/>
          <a:ln/>
        </p:spPr>
        <p:txBody>
          <a:bodyPr wrap="square" rtlCol="0" anchor="ctr"/>
          <a:lstStyle/>
          <a:p>
            <a:pPr indent="0" marL="0">
              <a:buNone/>
            </a:pPr>
            <a:r>
              <a:rPr lang="en-US" sz="1800" b="1" dirty="0">
                <a:solidFill>
                  <a:srgbClr val="0A1628"/>
                </a:solidFill>
                <a:latin typeface="Calibri" pitchFamily="34" charset="0"/>
                <a:ea typeface="Calibri" pitchFamily="34" charset="-122"/>
                <a:cs typeface="Calibri" pitchFamily="34" charset="-120"/>
              </a:rPr>
              <a:t>📝 Model Documentation</a:t>
            </a:r>
            <a:endParaRPr lang="en-US" sz="1800" dirty="0"/>
          </a:p>
        </p:txBody>
      </p:sp>
      <p:sp>
        <p:nvSpPr>
          <p:cNvPr id="18" name="Text 16"/>
          <p:cNvSpPr/>
          <p:nvPr/>
        </p:nvSpPr>
        <p:spPr>
          <a:xfrm>
            <a:off x="640080" y="4160520"/>
            <a:ext cx="3383280" cy="457200"/>
          </a:xfrm>
          <a:prstGeom prst="rect">
            <a:avLst/>
          </a:prstGeom>
          <a:noFill/>
          <a:ln/>
        </p:spPr>
        <p:txBody>
          <a:bodyPr wrap="square" rtlCol="0" anchor="ctr"/>
          <a:lstStyle/>
          <a:p>
            <a:pPr indent="0" marL="0">
              <a:buNone/>
            </a:pPr>
            <a:r>
              <a:rPr lang="en-US" sz="1700" b="1" dirty="0">
                <a:solidFill>
                  <a:srgbClr val="00A3E0"/>
                </a:solidFill>
                <a:latin typeface="Calibri" pitchFamily="34" charset="0"/>
                <a:ea typeface="Calibri" pitchFamily="34" charset="-122"/>
                <a:cs typeface="Calibri" pitchFamily="34" charset="-120"/>
              </a:rPr>
              <a:t>5 hrs → 90 min</a:t>
            </a:r>
            <a:endParaRPr lang="en-US" sz="1700" dirty="0"/>
          </a:p>
        </p:txBody>
      </p:sp>
      <p:sp>
        <p:nvSpPr>
          <p:cNvPr id="19" name="Shape 17"/>
          <p:cNvSpPr/>
          <p:nvPr/>
        </p:nvSpPr>
        <p:spPr>
          <a:xfrm>
            <a:off x="4389120" y="3383280"/>
            <a:ext cx="3749040" cy="2103120"/>
          </a:xfrm>
          <a:prstGeom prst="rect">
            <a:avLst/>
          </a:prstGeom>
          <a:solidFill>
            <a:srgbClr val="FFFFFF"/>
          </a:solidFill>
          <a:ln w="12700">
            <a:solidFill>
              <a:srgbClr val="00A3E0"/>
            </a:solidFill>
            <a:prstDash val="solid"/>
          </a:ln>
        </p:spPr>
      </p:sp>
      <p:sp>
        <p:nvSpPr>
          <p:cNvPr id="20" name="Shape 18"/>
          <p:cNvSpPr/>
          <p:nvPr/>
        </p:nvSpPr>
        <p:spPr>
          <a:xfrm>
            <a:off x="4389120" y="3383280"/>
            <a:ext cx="3749040" cy="73152"/>
          </a:xfrm>
          <a:prstGeom prst="rect">
            <a:avLst/>
          </a:prstGeom>
          <a:solidFill>
            <a:srgbClr val="00A3E0"/>
          </a:solidFill>
          <a:ln w="12700">
            <a:solidFill>
              <a:srgbClr val="00A3E0"/>
            </a:solidFill>
            <a:prstDash val="solid"/>
          </a:ln>
        </p:spPr>
      </p:sp>
      <p:sp>
        <p:nvSpPr>
          <p:cNvPr id="21" name="Text 19"/>
          <p:cNvSpPr/>
          <p:nvPr/>
        </p:nvSpPr>
        <p:spPr>
          <a:xfrm>
            <a:off x="4572000" y="3611880"/>
            <a:ext cx="3383280" cy="457200"/>
          </a:xfrm>
          <a:prstGeom prst="rect">
            <a:avLst/>
          </a:prstGeom>
          <a:noFill/>
          <a:ln/>
        </p:spPr>
        <p:txBody>
          <a:bodyPr wrap="square" rtlCol="0" anchor="ctr"/>
          <a:lstStyle/>
          <a:p>
            <a:pPr indent="0" marL="0">
              <a:buNone/>
            </a:pPr>
            <a:r>
              <a:rPr lang="en-US" sz="1800" b="1" dirty="0">
                <a:solidFill>
                  <a:srgbClr val="0A1628"/>
                </a:solidFill>
                <a:latin typeface="Calibri" pitchFamily="34" charset="0"/>
                <a:ea typeface="Calibri" pitchFamily="34" charset="-122"/>
                <a:cs typeface="Calibri" pitchFamily="34" charset="-120"/>
              </a:rPr>
              <a:t>📤 Report Automation</a:t>
            </a:r>
            <a:endParaRPr lang="en-US" sz="1800" dirty="0"/>
          </a:p>
        </p:txBody>
      </p:sp>
      <p:sp>
        <p:nvSpPr>
          <p:cNvPr id="22" name="Text 20"/>
          <p:cNvSpPr/>
          <p:nvPr/>
        </p:nvSpPr>
        <p:spPr>
          <a:xfrm>
            <a:off x="4572000" y="4160520"/>
            <a:ext cx="3383280" cy="457200"/>
          </a:xfrm>
          <a:prstGeom prst="rect">
            <a:avLst/>
          </a:prstGeom>
          <a:noFill/>
          <a:ln/>
        </p:spPr>
        <p:txBody>
          <a:bodyPr wrap="square" rtlCol="0" anchor="ctr"/>
          <a:lstStyle/>
          <a:p>
            <a:pPr indent="0" marL="0">
              <a:buNone/>
            </a:pPr>
            <a:r>
              <a:rPr lang="en-US" sz="1700" b="1" dirty="0">
                <a:solidFill>
                  <a:srgbClr val="00A3E0"/>
                </a:solidFill>
                <a:latin typeface="Calibri" pitchFamily="34" charset="0"/>
                <a:ea typeface="Calibri" pitchFamily="34" charset="-122"/>
                <a:cs typeface="Calibri" pitchFamily="34" charset="-120"/>
              </a:rPr>
              <a:t>4 hrs → 30 min</a:t>
            </a:r>
            <a:endParaRPr lang="en-US" sz="1700" dirty="0"/>
          </a:p>
        </p:txBody>
      </p:sp>
      <p:sp>
        <p:nvSpPr>
          <p:cNvPr id="23" name="Shape 21"/>
          <p:cNvSpPr/>
          <p:nvPr/>
        </p:nvSpPr>
        <p:spPr>
          <a:xfrm>
            <a:off x="8321040" y="3383280"/>
            <a:ext cx="3749040" cy="2103120"/>
          </a:xfrm>
          <a:prstGeom prst="rect">
            <a:avLst/>
          </a:prstGeom>
          <a:solidFill>
            <a:srgbClr val="FFFFFF"/>
          </a:solidFill>
          <a:ln w="12700">
            <a:solidFill>
              <a:srgbClr val="00A3E0"/>
            </a:solidFill>
            <a:prstDash val="solid"/>
          </a:ln>
        </p:spPr>
      </p:sp>
      <p:sp>
        <p:nvSpPr>
          <p:cNvPr id="24" name="Shape 22"/>
          <p:cNvSpPr/>
          <p:nvPr/>
        </p:nvSpPr>
        <p:spPr>
          <a:xfrm>
            <a:off x="8321040" y="3383280"/>
            <a:ext cx="3749040" cy="73152"/>
          </a:xfrm>
          <a:prstGeom prst="rect">
            <a:avLst/>
          </a:prstGeom>
          <a:solidFill>
            <a:srgbClr val="00A3E0"/>
          </a:solidFill>
          <a:ln w="12700">
            <a:solidFill>
              <a:srgbClr val="00A3E0"/>
            </a:solidFill>
            <a:prstDash val="solid"/>
          </a:ln>
        </p:spPr>
      </p:sp>
      <p:sp>
        <p:nvSpPr>
          <p:cNvPr id="25" name="Text 23"/>
          <p:cNvSpPr/>
          <p:nvPr/>
        </p:nvSpPr>
        <p:spPr>
          <a:xfrm>
            <a:off x="8503920" y="3611880"/>
            <a:ext cx="3383280" cy="457200"/>
          </a:xfrm>
          <a:prstGeom prst="rect">
            <a:avLst/>
          </a:prstGeom>
          <a:noFill/>
          <a:ln/>
        </p:spPr>
        <p:txBody>
          <a:bodyPr wrap="square" rtlCol="0" anchor="ctr"/>
          <a:lstStyle/>
          <a:p>
            <a:pPr indent="0" marL="0">
              <a:buNone/>
            </a:pPr>
            <a:r>
              <a:rPr lang="en-US" sz="1800" b="1" dirty="0">
                <a:solidFill>
                  <a:srgbClr val="0A1628"/>
                </a:solidFill>
                <a:latin typeface="Calibri" pitchFamily="34" charset="0"/>
                <a:ea typeface="Calibri" pitchFamily="34" charset="-122"/>
                <a:cs typeface="Calibri" pitchFamily="34" charset="-120"/>
              </a:rPr>
              <a:t>✅ Test Writing</a:t>
            </a:r>
            <a:endParaRPr lang="en-US" sz="1800" dirty="0"/>
          </a:p>
        </p:txBody>
      </p:sp>
      <p:sp>
        <p:nvSpPr>
          <p:cNvPr id="26" name="Text 24"/>
          <p:cNvSpPr/>
          <p:nvPr/>
        </p:nvSpPr>
        <p:spPr>
          <a:xfrm>
            <a:off x="8503920" y="4160520"/>
            <a:ext cx="3383280" cy="457200"/>
          </a:xfrm>
          <a:prstGeom prst="rect">
            <a:avLst/>
          </a:prstGeom>
          <a:noFill/>
          <a:ln/>
        </p:spPr>
        <p:txBody>
          <a:bodyPr wrap="square" rtlCol="0" anchor="ctr"/>
          <a:lstStyle/>
          <a:p>
            <a:pPr indent="0" marL="0">
              <a:buNone/>
            </a:pPr>
            <a:r>
              <a:rPr lang="en-US" sz="1700" b="1" dirty="0">
                <a:solidFill>
                  <a:srgbClr val="00A3E0"/>
                </a:solidFill>
                <a:latin typeface="Calibri" pitchFamily="34" charset="0"/>
                <a:ea typeface="Calibri" pitchFamily="34" charset="-122"/>
                <a:cs typeface="Calibri" pitchFamily="34" charset="-120"/>
              </a:rPr>
              <a:t>Previously skipped → 15 min</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320040" y="228600"/>
            <a:ext cx="1645920" cy="347472"/>
          </a:xfrm>
          <a:prstGeom prst="rect">
            <a:avLst/>
          </a:prstGeom>
          <a:solidFill>
            <a:srgbClr val="F5A623"/>
          </a:solidFill>
          <a:ln w="12700">
            <a:solidFill>
              <a:srgbClr val="F5A623"/>
            </a:solidFill>
            <a:prstDash val="solid"/>
          </a:ln>
        </p:spPr>
      </p:sp>
      <p:sp>
        <p:nvSpPr>
          <p:cNvPr id="3" name="Text 1"/>
          <p:cNvSpPr/>
          <p:nvPr/>
        </p:nvSpPr>
        <p:spPr>
          <a:xfrm>
            <a:off x="320040" y="228600"/>
            <a:ext cx="1645920" cy="347472"/>
          </a:xfrm>
          <a:prstGeom prst="rect">
            <a:avLst/>
          </a:prstGeom>
          <a:noFill/>
          <a:ln/>
        </p:spPr>
        <p:txBody>
          <a:bodyPr wrap="square" rtlCol="0" anchor="ctr"/>
          <a:lstStyle/>
          <a:p>
            <a:pPr algn="ctr" indent="0" marL="0">
              <a:buNone/>
            </a:pPr>
            <a:r>
              <a:rPr lang="en-US" sz="1300" b="1" dirty="0">
                <a:solidFill>
                  <a:srgbClr val="0A1628"/>
                </a:solidFill>
                <a:latin typeface="Calibri" pitchFamily="34" charset="0"/>
                <a:ea typeface="Calibri" pitchFamily="34" charset="-122"/>
                <a:cs typeface="Calibri" pitchFamily="34" charset="-120"/>
              </a:rPr>
              <a:t>[LIVE DEMO]</a:t>
            </a:r>
            <a:endParaRPr lang="en-US" sz="1300" dirty="0"/>
          </a:p>
        </p:txBody>
      </p:sp>
      <p:sp>
        <p:nvSpPr>
          <p:cNvPr id="4" name="Text 2"/>
          <p:cNvSpPr/>
          <p:nvPr/>
        </p:nvSpPr>
        <p:spPr>
          <a:xfrm>
            <a:off x="8686800" y="228600"/>
            <a:ext cx="3200400" cy="347472"/>
          </a:xfrm>
          <a:prstGeom prst="rect">
            <a:avLst/>
          </a:prstGeom>
          <a:noFill/>
          <a:ln/>
        </p:spPr>
        <p:txBody>
          <a:bodyPr wrap="square" rtlCol="0" anchor="ctr"/>
          <a:lstStyle/>
          <a:p>
            <a:pPr algn="r" indent="0" marL="0">
              <a:buNone/>
            </a:pPr>
            <a:r>
              <a:rPr lang="en-US" sz="1400" dirty="0">
                <a:solidFill>
                  <a:srgbClr val="00A3E0"/>
                </a:solidFill>
                <a:latin typeface="Calibri" pitchFamily="34" charset="0"/>
                <a:ea typeface="Calibri" pitchFamily="34" charset="-122"/>
                <a:cs typeface="Calibri" pitchFamily="34" charset="-120"/>
              </a:rPr>
              <a:t>GitHub Copilot — VS Code</a:t>
            </a:r>
            <a:endParaRPr lang="en-US" sz="1400" dirty="0"/>
          </a:p>
        </p:txBody>
      </p:sp>
      <p:sp>
        <p:nvSpPr>
          <p:cNvPr id="5" name="Text 3"/>
          <p:cNvSpPr/>
          <p:nvPr/>
        </p:nvSpPr>
        <p:spPr>
          <a:xfrm>
            <a:off x="457200" y="320040"/>
            <a:ext cx="11247120" cy="5029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Pipeline Debugging — Live Demo</a:t>
            </a:r>
            <a:endParaRPr lang="en-US" sz="2800" dirty="0"/>
          </a:p>
        </p:txBody>
      </p:sp>
      <p:sp>
        <p:nvSpPr>
          <p:cNvPr id="6" name="Shape 4"/>
          <p:cNvSpPr/>
          <p:nvPr/>
        </p:nvSpPr>
        <p:spPr>
          <a:xfrm>
            <a:off x="6080760" y="960120"/>
            <a:ext cx="36576" cy="5303520"/>
          </a:xfrm>
          <a:prstGeom prst="rect">
            <a:avLst/>
          </a:prstGeom>
          <a:solidFill>
            <a:srgbClr val="00A3E0"/>
          </a:solidFill>
          <a:ln w="12700">
            <a:solidFill>
              <a:srgbClr val="00A3E0"/>
            </a:solidFill>
            <a:prstDash val="solid"/>
          </a:ln>
        </p:spPr>
      </p:sp>
      <p:sp>
        <p:nvSpPr>
          <p:cNvPr id="7" name="Text 5"/>
          <p:cNvSpPr/>
          <p:nvPr/>
        </p:nvSpPr>
        <p:spPr>
          <a:xfrm>
            <a:off x="457200" y="1051560"/>
            <a:ext cx="5303520" cy="411480"/>
          </a:xfrm>
          <a:prstGeom prst="rect">
            <a:avLst/>
          </a:prstGeom>
          <a:noFill/>
          <a:ln/>
        </p:spPr>
        <p:txBody>
          <a:bodyPr wrap="square" rtlCol="0" anchor="ctr"/>
          <a:lstStyle/>
          <a:p>
            <a:pPr indent="0" marL="0">
              <a:buNone/>
            </a:pPr>
            <a:r>
              <a:rPr lang="en-US" sz="2000" b="1" dirty="0">
                <a:solidFill>
                  <a:srgbClr val="00A3E0"/>
                </a:solidFill>
                <a:latin typeface="Calibri" pitchFamily="34" charset="0"/>
                <a:ea typeface="Calibri" pitchFamily="34" charset="-122"/>
                <a:cs typeface="Calibri" pitchFamily="34" charset="-120"/>
              </a:rPr>
              <a:t>What we're doing</a:t>
            </a:r>
            <a:endParaRPr lang="en-US" sz="2000" dirty="0"/>
          </a:p>
        </p:txBody>
      </p:sp>
      <p:sp>
        <p:nvSpPr>
          <p:cNvPr id="8" name="Text 6"/>
          <p:cNvSpPr/>
          <p:nvPr/>
        </p:nvSpPr>
        <p:spPr>
          <a:xfrm>
            <a:off x="457200" y="1554480"/>
            <a:ext cx="5303520" cy="502920"/>
          </a:xfrm>
          <a:prstGeom prst="rect">
            <a:avLst/>
          </a:prstGeom>
          <a:noFill/>
          <a:ln/>
        </p:spPr>
        <p:txBody>
          <a:bodyPr wrap="square" rtlCol="0" anchor="ctr"/>
          <a:lstStyle/>
          <a:p>
            <a:pPr indent="0" marL="0">
              <a:buNone/>
            </a:pPr>
            <a:r>
              <a:rPr lang="en-US" sz="1700" dirty="0">
                <a:solidFill>
                  <a:srgbClr val="FFFFFF"/>
                </a:solidFill>
                <a:latin typeface="Calibri" pitchFamily="34" charset="0"/>
                <a:ea typeface="Calibri" pitchFamily="34" charset="-122"/>
                <a:cs typeface="Calibri" pitchFamily="34" charset="-120"/>
              </a:rPr>
              <a:t>• Paste a Dataiku recipe stack trace + recipe code</a:t>
            </a:r>
            <a:endParaRPr lang="en-US" sz="1700" dirty="0"/>
          </a:p>
        </p:txBody>
      </p:sp>
      <p:sp>
        <p:nvSpPr>
          <p:cNvPr id="9" name="Text 7"/>
          <p:cNvSpPr/>
          <p:nvPr/>
        </p:nvSpPr>
        <p:spPr>
          <a:xfrm>
            <a:off x="457200" y="2148840"/>
            <a:ext cx="5303520" cy="502920"/>
          </a:xfrm>
          <a:prstGeom prst="rect">
            <a:avLst/>
          </a:prstGeom>
          <a:noFill/>
          <a:ln/>
        </p:spPr>
        <p:txBody>
          <a:bodyPr wrap="square" rtlCol="0" anchor="ctr"/>
          <a:lstStyle/>
          <a:p>
            <a:pPr indent="0" marL="0">
              <a:buNone/>
            </a:pPr>
            <a:r>
              <a:rPr lang="en-US" sz="1700" dirty="0">
                <a:solidFill>
                  <a:srgbClr val="FFFFFF"/>
                </a:solidFill>
                <a:latin typeface="Calibri" pitchFamily="34" charset="0"/>
                <a:ea typeface="Calibri" pitchFamily="34" charset="-122"/>
                <a:cs typeface="Calibri" pitchFamily="34" charset="-120"/>
              </a:rPr>
              <a:t>• Ask Copilot to diagnose the root cause</a:t>
            </a:r>
            <a:endParaRPr lang="en-US" sz="1700" dirty="0"/>
          </a:p>
        </p:txBody>
      </p:sp>
      <p:sp>
        <p:nvSpPr>
          <p:cNvPr id="10" name="Text 8"/>
          <p:cNvSpPr/>
          <p:nvPr/>
        </p:nvSpPr>
        <p:spPr>
          <a:xfrm>
            <a:off x="457200" y="2743200"/>
            <a:ext cx="5303520" cy="502920"/>
          </a:xfrm>
          <a:prstGeom prst="rect">
            <a:avLst/>
          </a:prstGeom>
          <a:noFill/>
          <a:ln/>
        </p:spPr>
        <p:txBody>
          <a:bodyPr wrap="square" rtlCol="0" anchor="ctr"/>
          <a:lstStyle/>
          <a:p>
            <a:pPr indent="0" marL="0">
              <a:buNone/>
            </a:pPr>
            <a:r>
              <a:rPr lang="en-US" sz="1700" dirty="0">
                <a:solidFill>
                  <a:srgbClr val="FFFFFF"/>
                </a:solidFill>
                <a:latin typeface="Calibri" pitchFamily="34" charset="0"/>
                <a:ea typeface="Calibri" pitchFamily="34" charset="-122"/>
                <a:cs typeface="Calibri" pitchFamily="34" charset="-120"/>
              </a:rPr>
              <a:t>• Ask for a fix with a clear explanation</a:t>
            </a:r>
            <a:endParaRPr lang="en-US" sz="1700" dirty="0"/>
          </a:p>
        </p:txBody>
      </p:sp>
      <p:sp>
        <p:nvSpPr>
          <p:cNvPr id="11" name="Text 9"/>
          <p:cNvSpPr/>
          <p:nvPr/>
        </p:nvSpPr>
        <p:spPr>
          <a:xfrm>
            <a:off x="6400800" y="1051560"/>
            <a:ext cx="5303520" cy="411480"/>
          </a:xfrm>
          <a:prstGeom prst="rect">
            <a:avLst/>
          </a:prstGeom>
          <a:noFill/>
          <a:ln/>
        </p:spPr>
        <p:txBody>
          <a:bodyPr wrap="square" rtlCol="0" anchor="ctr"/>
          <a:lstStyle/>
          <a:p>
            <a:pPr indent="0" marL="0">
              <a:buNone/>
            </a:pPr>
            <a:r>
              <a:rPr lang="en-US" sz="2000" b="1" dirty="0">
                <a:solidFill>
                  <a:srgbClr val="F5A623"/>
                </a:solidFill>
                <a:latin typeface="Calibri" pitchFamily="34" charset="0"/>
                <a:ea typeface="Calibri" pitchFamily="34" charset="-122"/>
                <a:cs typeface="Calibri" pitchFamily="34" charset="-120"/>
              </a:rPr>
              <a:t>What to look for</a:t>
            </a:r>
            <a:endParaRPr lang="en-US" sz="2000" dirty="0"/>
          </a:p>
        </p:txBody>
      </p:sp>
      <p:sp>
        <p:nvSpPr>
          <p:cNvPr id="12" name="Text 10"/>
          <p:cNvSpPr/>
          <p:nvPr/>
        </p:nvSpPr>
        <p:spPr>
          <a:xfrm>
            <a:off x="6400800" y="1554480"/>
            <a:ext cx="5303520" cy="502920"/>
          </a:xfrm>
          <a:prstGeom prst="rect">
            <a:avLst/>
          </a:prstGeom>
          <a:noFill/>
          <a:ln/>
        </p:spPr>
        <p:txBody>
          <a:bodyPr wrap="square" rtlCol="0" anchor="ctr"/>
          <a:lstStyle/>
          <a:p>
            <a:pPr indent="0" marL="0">
              <a:buNone/>
            </a:pPr>
            <a:r>
              <a:rPr lang="en-US" sz="1700" dirty="0">
                <a:solidFill>
                  <a:srgbClr val="FFFFFF"/>
                </a:solidFill>
                <a:latin typeface="Calibri" pitchFamily="34" charset="0"/>
                <a:ea typeface="Calibri" pitchFamily="34" charset="-122"/>
                <a:cs typeface="Calibri" pitchFamily="34" charset="-120"/>
              </a:rPr>
              <a:t>• How quickly it traces the error chain to data cause</a:t>
            </a:r>
            <a:endParaRPr lang="en-US" sz="1700" dirty="0"/>
          </a:p>
        </p:txBody>
      </p:sp>
      <p:sp>
        <p:nvSpPr>
          <p:cNvPr id="13" name="Text 11"/>
          <p:cNvSpPr/>
          <p:nvPr/>
        </p:nvSpPr>
        <p:spPr>
          <a:xfrm>
            <a:off x="6400800" y="2148840"/>
            <a:ext cx="5303520" cy="502920"/>
          </a:xfrm>
          <a:prstGeom prst="rect">
            <a:avLst/>
          </a:prstGeom>
          <a:noFill/>
          <a:ln/>
        </p:spPr>
        <p:txBody>
          <a:bodyPr wrap="square" rtlCol="0" anchor="ctr"/>
          <a:lstStyle/>
          <a:p>
            <a:pPr indent="0" marL="0">
              <a:buNone/>
            </a:pPr>
            <a:r>
              <a:rPr lang="en-US" sz="1700" dirty="0">
                <a:solidFill>
                  <a:srgbClr val="FFFFFF"/>
                </a:solidFill>
                <a:latin typeface="Calibri" pitchFamily="34" charset="0"/>
                <a:ea typeface="Calibri" pitchFamily="34" charset="-122"/>
                <a:cs typeface="Calibri" pitchFamily="34" charset="-120"/>
              </a:rPr>
              <a:t>• Whether it understands Pandas/Dataiku context</a:t>
            </a:r>
            <a:endParaRPr lang="en-US" sz="1700" dirty="0"/>
          </a:p>
        </p:txBody>
      </p:sp>
      <p:sp>
        <p:nvSpPr>
          <p:cNvPr id="14" name="Text 12"/>
          <p:cNvSpPr/>
          <p:nvPr/>
        </p:nvSpPr>
        <p:spPr>
          <a:xfrm>
            <a:off x="6400800" y="2743200"/>
            <a:ext cx="5303520" cy="502920"/>
          </a:xfrm>
          <a:prstGeom prst="rect">
            <a:avLst/>
          </a:prstGeom>
          <a:noFill/>
          <a:ln/>
        </p:spPr>
        <p:txBody>
          <a:bodyPr wrap="square" rtlCol="0" anchor="ctr"/>
          <a:lstStyle/>
          <a:p>
            <a:pPr indent="0" marL="0">
              <a:buNone/>
            </a:pPr>
            <a:r>
              <a:rPr lang="en-US" sz="1700" dirty="0">
                <a:solidFill>
                  <a:srgbClr val="FFFFFF"/>
                </a:solidFill>
                <a:latin typeface="Calibri" pitchFamily="34" charset="0"/>
                <a:ea typeface="Calibri" pitchFamily="34" charset="-122"/>
                <a:cs typeface="Calibri" pitchFamily="34" charset="-120"/>
              </a:rPr>
              <a:t>• Quality of explanation vs just restating the error</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indent="0" marL="0">
              <a:buNone/>
            </a:pPr>
            <a:r>
              <a:rPr lang="en-US" sz="2800" b="1" dirty="0">
                <a:solidFill>
                  <a:srgbClr val="0A1628"/>
                </a:solidFill>
                <a:latin typeface="Calibri" pitchFamily="34" charset="0"/>
                <a:ea typeface="Calibri" pitchFamily="34" charset="-122"/>
                <a:cs typeface="Calibri" pitchFamily="34" charset="-120"/>
              </a:rPr>
              <a:t>What We Just Saw</a:t>
            </a:r>
            <a:endParaRPr lang="en-US" sz="2800" dirty="0"/>
          </a:p>
        </p:txBody>
      </p:sp>
      <p:sp>
        <p:nvSpPr>
          <p:cNvPr id="3" name="Shape 1"/>
          <p:cNvSpPr/>
          <p:nvPr/>
        </p:nvSpPr>
        <p:spPr>
          <a:xfrm>
            <a:off x="6080760" y="960120"/>
            <a:ext cx="36576" cy="5303520"/>
          </a:xfrm>
          <a:prstGeom prst="rect">
            <a:avLst/>
          </a:prstGeom>
          <a:solidFill>
            <a:srgbClr val="00A3E0"/>
          </a:solidFill>
          <a:ln w="12700">
            <a:solidFill>
              <a:srgbClr val="00A3E0"/>
            </a:solidFill>
            <a:prstDash val="solid"/>
          </a:ln>
        </p:spPr>
      </p:sp>
      <p:sp>
        <p:nvSpPr>
          <p:cNvPr id="4" name="Text 2"/>
          <p:cNvSpPr/>
          <p:nvPr/>
        </p:nvSpPr>
        <p:spPr>
          <a:xfrm>
            <a:off x="457200" y="1051560"/>
            <a:ext cx="5303520" cy="411480"/>
          </a:xfrm>
          <a:prstGeom prst="rect">
            <a:avLst/>
          </a:prstGeom>
          <a:noFill/>
          <a:ln/>
        </p:spPr>
        <p:txBody>
          <a:bodyPr wrap="square" rtlCol="0" anchor="ctr"/>
          <a:lstStyle/>
          <a:p>
            <a:pPr indent="0" marL="0">
              <a:buNone/>
            </a:pPr>
            <a:r>
              <a:rPr lang="en-US" sz="2000" b="1" dirty="0">
                <a:solidFill>
                  <a:srgbClr val="00A3E0"/>
                </a:solidFill>
                <a:latin typeface="Calibri" pitchFamily="34" charset="0"/>
                <a:ea typeface="Calibri" pitchFamily="34" charset="-122"/>
                <a:cs typeface="Calibri" pitchFamily="34" charset="-120"/>
              </a:rPr>
              <a:t>What worked</a:t>
            </a:r>
            <a:endParaRPr lang="en-US" sz="2000" dirty="0"/>
          </a:p>
        </p:txBody>
      </p:sp>
      <p:sp>
        <p:nvSpPr>
          <p:cNvPr id="5" name="Text 3"/>
          <p:cNvSpPr/>
          <p:nvPr/>
        </p:nvSpPr>
        <p:spPr>
          <a:xfrm>
            <a:off x="457200" y="1554480"/>
            <a:ext cx="5303520" cy="502920"/>
          </a:xfrm>
          <a:prstGeom prst="rect">
            <a:avLst/>
          </a:prstGeom>
          <a:noFill/>
          <a:ln/>
        </p:spPr>
        <p:txBody>
          <a:bodyPr wrap="square" rtlCol="0" anchor="ctr"/>
          <a:lstStyle/>
          <a:p>
            <a:pPr indent="0" marL="0">
              <a:buNone/>
            </a:pPr>
            <a:r>
              <a:rPr lang="en-US" sz="1700" dirty="0">
                <a:solidFill>
                  <a:srgbClr val="0A1628"/>
                </a:solidFill>
                <a:latin typeface="Calibri" pitchFamily="34" charset="0"/>
                <a:ea typeface="Calibri" pitchFamily="34" charset="-122"/>
                <a:cs typeface="Calibri" pitchFamily="34" charset="-120"/>
              </a:rPr>
              <a:t>✓ Root cause from stack trace: fast and accurate</a:t>
            </a:r>
            <a:endParaRPr lang="en-US" sz="1700" dirty="0"/>
          </a:p>
        </p:txBody>
      </p:sp>
      <p:sp>
        <p:nvSpPr>
          <p:cNvPr id="6" name="Text 4"/>
          <p:cNvSpPr/>
          <p:nvPr/>
        </p:nvSpPr>
        <p:spPr>
          <a:xfrm>
            <a:off x="457200" y="2148840"/>
            <a:ext cx="5303520" cy="502920"/>
          </a:xfrm>
          <a:prstGeom prst="rect">
            <a:avLst/>
          </a:prstGeom>
          <a:noFill/>
          <a:ln/>
        </p:spPr>
        <p:txBody>
          <a:bodyPr wrap="square" rtlCol="0" anchor="ctr"/>
          <a:lstStyle/>
          <a:p>
            <a:pPr indent="0" marL="0">
              <a:buNone/>
            </a:pPr>
            <a:r>
              <a:rPr lang="en-US" sz="1700" dirty="0">
                <a:solidFill>
                  <a:srgbClr val="0A1628"/>
                </a:solidFill>
                <a:latin typeface="Calibri" pitchFamily="34" charset="0"/>
                <a:ea typeface="Calibri" pitchFamily="34" charset="-122"/>
                <a:cs typeface="Calibri" pitchFamily="34" charset="-120"/>
              </a:rPr>
              <a:t>✓ Fix with explanation: immediately usable</a:t>
            </a:r>
            <a:endParaRPr lang="en-US" sz="1700" dirty="0"/>
          </a:p>
        </p:txBody>
      </p:sp>
      <p:sp>
        <p:nvSpPr>
          <p:cNvPr id="7" name="Text 5"/>
          <p:cNvSpPr/>
          <p:nvPr/>
        </p:nvSpPr>
        <p:spPr>
          <a:xfrm>
            <a:off x="457200" y="2743200"/>
            <a:ext cx="5303520" cy="502920"/>
          </a:xfrm>
          <a:prstGeom prst="rect">
            <a:avLst/>
          </a:prstGeom>
          <a:noFill/>
          <a:ln/>
        </p:spPr>
        <p:txBody>
          <a:bodyPr wrap="square" rtlCol="0" anchor="ctr"/>
          <a:lstStyle/>
          <a:p>
            <a:pPr indent="0" marL="0">
              <a:buNone/>
            </a:pPr>
            <a:r>
              <a:rPr lang="en-US" sz="1700" dirty="0">
                <a:solidFill>
                  <a:srgbClr val="0A1628"/>
                </a:solidFill>
                <a:latin typeface="Calibri" pitchFamily="34" charset="0"/>
                <a:ea typeface="Calibri" pitchFamily="34" charset="-122"/>
                <a:cs typeface="Calibri" pitchFamily="34" charset="-120"/>
              </a:rPr>
              <a:t>✓ Follow-up proactive scan found 2 more risky merges</a:t>
            </a:r>
            <a:endParaRPr lang="en-US" sz="1700" dirty="0"/>
          </a:p>
        </p:txBody>
      </p:sp>
      <p:sp>
        <p:nvSpPr>
          <p:cNvPr id="8" name="Text 6"/>
          <p:cNvSpPr/>
          <p:nvPr/>
        </p:nvSpPr>
        <p:spPr>
          <a:xfrm>
            <a:off x="6400800" y="1051560"/>
            <a:ext cx="5303520" cy="411480"/>
          </a:xfrm>
          <a:prstGeom prst="rect">
            <a:avLst/>
          </a:prstGeom>
          <a:noFill/>
          <a:ln/>
        </p:spPr>
        <p:txBody>
          <a:bodyPr wrap="square" rtlCol="0" anchor="ctr"/>
          <a:lstStyle/>
          <a:p>
            <a:pPr indent="0" marL="0">
              <a:buNone/>
            </a:pPr>
            <a:r>
              <a:rPr lang="en-US" sz="2000" b="1" dirty="0">
                <a:solidFill>
                  <a:srgbClr val="F5A623"/>
                </a:solidFill>
                <a:latin typeface="Calibri" pitchFamily="34" charset="0"/>
                <a:ea typeface="Calibri" pitchFamily="34" charset="-122"/>
                <a:cs typeface="Calibri" pitchFamily="34" charset="-120"/>
              </a:rPr>
              <a:t>What to watch</a:t>
            </a:r>
            <a:endParaRPr lang="en-US" sz="2000" dirty="0"/>
          </a:p>
        </p:txBody>
      </p:sp>
      <p:sp>
        <p:nvSpPr>
          <p:cNvPr id="9" name="Text 7"/>
          <p:cNvSpPr/>
          <p:nvPr/>
        </p:nvSpPr>
        <p:spPr>
          <a:xfrm>
            <a:off x="6400800" y="1554480"/>
            <a:ext cx="5303520" cy="502920"/>
          </a:xfrm>
          <a:prstGeom prst="rect">
            <a:avLst/>
          </a:prstGeom>
          <a:noFill/>
          <a:ln/>
        </p:spPr>
        <p:txBody>
          <a:bodyPr wrap="square" rtlCol="0" anchor="ctr"/>
          <a:lstStyle/>
          <a:p>
            <a:pPr indent="0" marL="0">
              <a:buNone/>
            </a:pPr>
            <a:r>
              <a:rPr lang="en-US" sz="1700" dirty="0">
                <a:solidFill>
                  <a:srgbClr val="0A1628"/>
                </a:solidFill>
                <a:latin typeface="Calibri" pitchFamily="34" charset="0"/>
                <a:ea typeface="Calibri" pitchFamily="34" charset="-122"/>
                <a:cs typeface="Calibri" pitchFamily="34" charset="-120"/>
              </a:rPr>
              <a:t>⚠ AI may not know your specific Dataiku version's behaviour</a:t>
            </a:r>
            <a:endParaRPr lang="en-US" sz="1700" dirty="0"/>
          </a:p>
        </p:txBody>
      </p:sp>
      <p:sp>
        <p:nvSpPr>
          <p:cNvPr id="10" name="Text 8"/>
          <p:cNvSpPr/>
          <p:nvPr/>
        </p:nvSpPr>
        <p:spPr>
          <a:xfrm>
            <a:off x="6400800" y="2148840"/>
            <a:ext cx="5303520" cy="502920"/>
          </a:xfrm>
          <a:prstGeom prst="rect">
            <a:avLst/>
          </a:prstGeom>
          <a:noFill/>
          <a:ln/>
        </p:spPr>
        <p:txBody>
          <a:bodyPr wrap="square" rtlCol="0" anchor="ctr"/>
          <a:lstStyle/>
          <a:p>
            <a:pPr indent="0" marL="0">
              <a:buNone/>
            </a:pPr>
            <a:r>
              <a:rPr lang="en-US" sz="1700" dirty="0">
                <a:solidFill>
                  <a:srgbClr val="0A1628"/>
                </a:solidFill>
                <a:latin typeface="Calibri" pitchFamily="34" charset="0"/>
                <a:ea typeface="Calibri" pitchFamily="34" charset="-122"/>
                <a:cs typeface="Calibri" pitchFamily="34" charset="-120"/>
              </a:rPr>
              <a:t>⚠ Always verify the fix against the actual data</a:t>
            </a:r>
            <a:endParaRPr lang="en-US" sz="1700" dirty="0"/>
          </a:p>
        </p:txBody>
      </p:sp>
      <p:sp>
        <p:nvSpPr>
          <p:cNvPr id="11" name="Text 9"/>
          <p:cNvSpPr/>
          <p:nvPr/>
        </p:nvSpPr>
        <p:spPr>
          <a:xfrm>
            <a:off x="6400800" y="2743200"/>
            <a:ext cx="5303520" cy="502920"/>
          </a:xfrm>
          <a:prstGeom prst="rect">
            <a:avLst/>
          </a:prstGeom>
          <a:noFill/>
          <a:ln/>
        </p:spPr>
        <p:txBody>
          <a:bodyPr wrap="square" rtlCol="0" anchor="ctr"/>
          <a:lstStyle/>
          <a:p>
            <a:pPr indent="0" marL="0">
              <a:buNone/>
            </a:pPr>
            <a:r>
              <a:rPr lang="en-US" sz="1700" dirty="0">
                <a:solidFill>
                  <a:srgbClr val="0A1628"/>
                </a:solidFill>
                <a:latin typeface="Calibri" pitchFamily="34" charset="0"/>
                <a:ea typeface="Calibri" pitchFamily="34" charset="-122"/>
                <a:cs typeface="Calibri" pitchFamily="34" charset="-120"/>
              </a:rPr>
              <a:t>⚠ Explanation quality drops if context is thin</a:t>
            </a:r>
            <a:endParaRPr lang="en-US" sz="1700" dirty="0"/>
          </a:p>
        </p:txBody>
      </p:sp>
      <p:sp>
        <p:nvSpPr>
          <p:cNvPr id="12" name="Text 10"/>
          <p:cNvSpPr/>
          <p:nvPr/>
        </p:nvSpPr>
        <p:spPr>
          <a:xfrm>
            <a:off x="457200" y="6217920"/>
            <a:ext cx="11247120" cy="320040"/>
          </a:xfrm>
          <a:prstGeom prst="rect">
            <a:avLst/>
          </a:prstGeom>
          <a:noFill/>
          <a:ln/>
        </p:spPr>
        <p:txBody>
          <a:bodyPr wrap="square" rtlCol="0" anchor="ctr"/>
          <a:lstStyle/>
          <a:p>
            <a:pPr algn="ctr" indent="0" marL="0">
              <a:buNone/>
            </a:pPr>
            <a:r>
              <a:rPr lang="en-US" sz="1400" i="1" dirty="0">
                <a:solidFill>
                  <a:srgbClr val="64748B"/>
                </a:solidFill>
                <a:latin typeface="Calibri" pitchFamily="34" charset="0"/>
                <a:ea typeface="Calibri" pitchFamily="34" charset="-122"/>
                <a:cs typeface="Calibri" pitchFamily="34" charset="-120"/>
              </a:rPr>
              <a:t>The value isn't magic — it's eliminating the mechanical search time. Judgment stays with you.</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3A5F"/>
        </a:solidFill>
      </p:bgPr>
    </p:bg>
    <p:spTree>
      <p:nvGrpSpPr>
        <p:cNvPr id="1" name=""/>
        <p:cNvGrpSpPr/>
        <p:nvPr/>
      </p:nvGrpSpPr>
      <p:grpSpPr>
        <a:xfrm>
          <a:off x="0" y="0"/>
          <a:ext cx="0" cy="0"/>
          <a:chOff x="0" y="0"/>
          <a:chExt cx="0" cy="0"/>
        </a:xfrm>
      </p:grpSpPr>
      <p:sp>
        <p:nvSpPr>
          <p:cNvPr id="2" name="Text 0"/>
          <p:cNvSpPr/>
          <p:nvPr/>
        </p:nvSpPr>
        <p:spPr>
          <a:xfrm>
            <a:off x="8686800" y="3200400"/>
            <a:ext cx="3474720" cy="3200400"/>
          </a:xfrm>
          <a:prstGeom prst="rect">
            <a:avLst/>
          </a:prstGeom>
          <a:noFill/>
          <a:ln/>
        </p:spPr>
        <p:txBody>
          <a:bodyPr wrap="square" rtlCol="0" anchor="ctr"/>
          <a:lstStyle/>
          <a:p>
            <a:pPr algn="r" indent="0" marL="0">
              <a:buNone/>
            </a:pPr>
            <a:r>
              <a:rPr lang="en-US" sz="18000" b="1" dirty="0">
                <a:solidFill>
                  <a:srgbClr val="00A3E0">
                    <a:alpha val="20000"/>
                  </a:srgbClr>
                </a:solidFill>
                <a:latin typeface="Calibri" pitchFamily="34" charset="0"/>
                <a:ea typeface="Calibri" pitchFamily="34" charset="-122"/>
                <a:cs typeface="Calibri" pitchFamily="34" charset="-120"/>
              </a:rPr>
              <a:t>04</a:t>
            </a:r>
            <a:endParaRPr lang="en-US" sz="18000" dirty="0"/>
          </a:p>
        </p:txBody>
      </p:sp>
      <p:sp>
        <p:nvSpPr>
          <p:cNvPr id="3" name="Shape 1"/>
          <p:cNvSpPr/>
          <p:nvPr/>
        </p:nvSpPr>
        <p:spPr>
          <a:xfrm>
            <a:off x="548640" y="2194560"/>
            <a:ext cx="73152" cy="1463040"/>
          </a:xfrm>
          <a:prstGeom prst="rect">
            <a:avLst/>
          </a:prstGeom>
          <a:solidFill>
            <a:srgbClr val="00A3E0"/>
          </a:solidFill>
          <a:ln w="12700">
            <a:solidFill>
              <a:srgbClr val="00A3E0"/>
            </a:solidFill>
            <a:prstDash val="solid"/>
          </a:ln>
        </p:spPr>
      </p:sp>
      <p:sp>
        <p:nvSpPr>
          <p:cNvPr id="4" name="Text 2"/>
          <p:cNvSpPr/>
          <p:nvPr/>
        </p:nvSpPr>
        <p:spPr>
          <a:xfrm>
            <a:off x="777240" y="2286000"/>
            <a:ext cx="8229600" cy="6400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Section 4 — Tool Deep-Dives</a:t>
            </a:r>
            <a:endParaRPr lang="en-US" sz="3200" dirty="0"/>
          </a:p>
        </p:txBody>
      </p:sp>
      <p:sp>
        <p:nvSpPr>
          <p:cNvPr id="5" name="Text 3"/>
          <p:cNvSpPr/>
          <p:nvPr/>
        </p:nvSpPr>
        <p:spPr>
          <a:xfrm>
            <a:off x="777240" y="3017520"/>
            <a:ext cx="8229600" cy="45720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Microsoft Copilot · GitHub Copilot · Cursor · Prompting · Advanced Features</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indent="0" marL="0">
              <a:buNone/>
            </a:pPr>
            <a:r>
              <a:rPr lang="en-US" sz="2800" b="1" dirty="0">
                <a:solidFill>
                  <a:srgbClr val="0A1628"/>
                </a:solidFill>
                <a:latin typeface="Calibri" pitchFamily="34" charset="0"/>
                <a:ea typeface="Calibri" pitchFamily="34" charset="-122"/>
                <a:cs typeface="Calibri" pitchFamily="34" charset="-120"/>
              </a:rPr>
              <a:t>Microsoft Copilot: Already in Your Tools</a:t>
            </a:r>
            <a:endParaRPr lang="en-US" sz="2800" dirty="0"/>
          </a:p>
        </p:txBody>
      </p:sp>
      <p:sp>
        <p:nvSpPr>
          <p:cNvPr id="3" name="Shape 1"/>
          <p:cNvSpPr/>
          <p:nvPr/>
        </p:nvSpPr>
        <p:spPr>
          <a:xfrm>
            <a:off x="457200" y="1005840"/>
            <a:ext cx="3749040" cy="2011680"/>
          </a:xfrm>
          <a:prstGeom prst="rect">
            <a:avLst/>
          </a:prstGeom>
          <a:solidFill>
            <a:srgbClr val="FFFFFF"/>
          </a:solidFill>
          <a:ln w="12700">
            <a:solidFill>
              <a:srgbClr val="00A3E0"/>
            </a:solidFill>
            <a:prstDash val="solid"/>
          </a:ln>
        </p:spPr>
      </p:sp>
      <p:sp>
        <p:nvSpPr>
          <p:cNvPr id="4" name="Shape 2"/>
          <p:cNvSpPr/>
          <p:nvPr/>
        </p:nvSpPr>
        <p:spPr>
          <a:xfrm>
            <a:off x="457200" y="1005840"/>
            <a:ext cx="3749040" cy="73152"/>
          </a:xfrm>
          <a:prstGeom prst="rect">
            <a:avLst/>
          </a:prstGeom>
          <a:solidFill>
            <a:srgbClr val="00A3E0"/>
          </a:solidFill>
          <a:ln w="12700">
            <a:solidFill>
              <a:srgbClr val="00A3E0"/>
            </a:solidFill>
            <a:prstDash val="solid"/>
          </a:ln>
        </p:spPr>
      </p:sp>
      <p:sp>
        <p:nvSpPr>
          <p:cNvPr id="5" name="Text 3"/>
          <p:cNvSpPr/>
          <p:nvPr/>
        </p:nvSpPr>
        <p:spPr>
          <a:xfrm>
            <a:off x="640080" y="1188720"/>
            <a:ext cx="3383280" cy="457200"/>
          </a:xfrm>
          <a:prstGeom prst="rect">
            <a:avLst/>
          </a:prstGeom>
          <a:noFill/>
          <a:ln/>
        </p:spPr>
        <p:txBody>
          <a:bodyPr wrap="square" rtlCol="0" anchor="ctr"/>
          <a:lstStyle/>
          <a:p>
            <a:pPr indent="0" marL="0">
              <a:buNone/>
            </a:pPr>
            <a:r>
              <a:rPr lang="en-US" sz="2000" b="1" dirty="0">
                <a:solidFill>
                  <a:srgbClr val="0A1628"/>
                </a:solidFill>
                <a:latin typeface="Calibri" pitchFamily="34" charset="0"/>
                <a:ea typeface="Calibri" pitchFamily="34" charset="-122"/>
                <a:cs typeface="Calibri" pitchFamily="34" charset="-120"/>
              </a:rPr>
              <a:t>Teams</a:t>
            </a:r>
            <a:endParaRPr lang="en-US" sz="2000" dirty="0"/>
          </a:p>
        </p:txBody>
      </p:sp>
      <p:sp>
        <p:nvSpPr>
          <p:cNvPr id="6" name="Text 4"/>
          <p:cNvSpPr/>
          <p:nvPr/>
        </p:nvSpPr>
        <p:spPr>
          <a:xfrm>
            <a:off x="640080" y="1737360"/>
            <a:ext cx="3383280" cy="1005840"/>
          </a:xfrm>
          <a:prstGeom prst="rect">
            <a:avLst/>
          </a:prstGeom>
          <a:noFill/>
          <a:ln/>
        </p:spPr>
        <p:txBody>
          <a:bodyPr wrap="square" rtlCol="0" anchor="ctr"/>
          <a:lstStyle/>
          <a:p>
            <a:pPr indent="0" marL="0">
              <a:buNone/>
            </a:pPr>
            <a:r>
              <a:rPr lang="en-US" sz="1600" dirty="0">
                <a:solidFill>
                  <a:srgbClr val="0A1628"/>
                </a:solidFill>
                <a:latin typeface="Calibri" pitchFamily="34" charset="0"/>
                <a:ea typeface="Calibri" pitchFamily="34" charset="-122"/>
                <a:cs typeface="Calibri" pitchFamily="34" charset="-120"/>
              </a:rPr>
              <a:t>Meeting summaries + action extraction</a:t>
            </a:r>
            <a:endParaRPr lang="en-US" sz="1600" dirty="0"/>
          </a:p>
        </p:txBody>
      </p:sp>
      <p:sp>
        <p:nvSpPr>
          <p:cNvPr id="7" name="Shape 5"/>
          <p:cNvSpPr/>
          <p:nvPr/>
        </p:nvSpPr>
        <p:spPr>
          <a:xfrm>
            <a:off x="4389120" y="1005840"/>
            <a:ext cx="3749040" cy="2011680"/>
          </a:xfrm>
          <a:prstGeom prst="rect">
            <a:avLst/>
          </a:prstGeom>
          <a:solidFill>
            <a:srgbClr val="FFFFFF"/>
          </a:solidFill>
          <a:ln w="12700">
            <a:solidFill>
              <a:srgbClr val="00A3E0"/>
            </a:solidFill>
            <a:prstDash val="solid"/>
          </a:ln>
        </p:spPr>
      </p:sp>
      <p:sp>
        <p:nvSpPr>
          <p:cNvPr id="8" name="Shape 6"/>
          <p:cNvSpPr/>
          <p:nvPr/>
        </p:nvSpPr>
        <p:spPr>
          <a:xfrm>
            <a:off x="4389120" y="1005840"/>
            <a:ext cx="3749040" cy="73152"/>
          </a:xfrm>
          <a:prstGeom prst="rect">
            <a:avLst/>
          </a:prstGeom>
          <a:solidFill>
            <a:srgbClr val="00A3E0"/>
          </a:solidFill>
          <a:ln w="12700">
            <a:solidFill>
              <a:srgbClr val="00A3E0"/>
            </a:solidFill>
            <a:prstDash val="solid"/>
          </a:ln>
        </p:spPr>
      </p:sp>
      <p:sp>
        <p:nvSpPr>
          <p:cNvPr id="9" name="Text 7"/>
          <p:cNvSpPr/>
          <p:nvPr/>
        </p:nvSpPr>
        <p:spPr>
          <a:xfrm>
            <a:off x="4572000" y="1188720"/>
            <a:ext cx="3383280" cy="457200"/>
          </a:xfrm>
          <a:prstGeom prst="rect">
            <a:avLst/>
          </a:prstGeom>
          <a:noFill/>
          <a:ln/>
        </p:spPr>
        <p:txBody>
          <a:bodyPr wrap="square" rtlCol="0" anchor="ctr"/>
          <a:lstStyle/>
          <a:p>
            <a:pPr indent="0" marL="0">
              <a:buNone/>
            </a:pPr>
            <a:r>
              <a:rPr lang="en-US" sz="2000" b="1" dirty="0">
                <a:solidFill>
                  <a:srgbClr val="0A1628"/>
                </a:solidFill>
                <a:latin typeface="Calibri" pitchFamily="34" charset="0"/>
                <a:ea typeface="Calibri" pitchFamily="34" charset="-122"/>
                <a:cs typeface="Calibri" pitchFamily="34" charset="-120"/>
              </a:rPr>
              <a:t>Outlook</a:t>
            </a:r>
            <a:endParaRPr lang="en-US" sz="2000" dirty="0"/>
          </a:p>
        </p:txBody>
      </p:sp>
      <p:sp>
        <p:nvSpPr>
          <p:cNvPr id="10" name="Text 8"/>
          <p:cNvSpPr/>
          <p:nvPr/>
        </p:nvSpPr>
        <p:spPr>
          <a:xfrm>
            <a:off x="4572000" y="1737360"/>
            <a:ext cx="3383280" cy="1005840"/>
          </a:xfrm>
          <a:prstGeom prst="rect">
            <a:avLst/>
          </a:prstGeom>
          <a:noFill/>
          <a:ln/>
        </p:spPr>
        <p:txBody>
          <a:bodyPr wrap="square" rtlCol="0" anchor="ctr"/>
          <a:lstStyle/>
          <a:p>
            <a:pPr indent="0" marL="0">
              <a:buNone/>
            </a:pPr>
            <a:r>
              <a:rPr lang="en-US" sz="1600" dirty="0">
                <a:solidFill>
                  <a:srgbClr val="0A1628"/>
                </a:solidFill>
                <a:latin typeface="Calibri" pitchFamily="34" charset="0"/>
                <a:ea typeface="Calibri" pitchFamily="34" charset="-122"/>
                <a:cs typeface="Calibri" pitchFamily="34" charset="-120"/>
              </a:rPr>
              <a:t>Thread summary + draft generation</a:t>
            </a:r>
            <a:endParaRPr lang="en-US" sz="1600" dirty="0"/>
          </a:p>
        </p:txBody>
      </p:sp>
      <p:sp>
        <p:nvSpPr>
          <p:cNvPr id="11" name="Shape 9"/>
          <p:cNvSpPr/>
          <p:nvPr/>
        </p:nvSpPr>
        <p:spPr>
          <a:xfrm>
            <a:off x="8321040" y="1005840"/>
            <a:ext cx="3749040" cy="2011680"/>
          </a:xfrm>
          <a:prstGeom prst="rect">
            <a:avLst/>
          </a:prstGeom>
          <a:solidFill>
            <a:srgbClr val="FFFFFF"/>
          </a:solidFill>
          <a:ln w="12700">
            <a:solidFill>
              <a:srgbClr val="00A3E0"/>
            </a:solidFill>
            <a:prstDash val="solid"/>
          </a:ln>
        </p:spPr>
      </p:sp>
      <p:sp>
        <p:nvSpPr>
          <p:cNvPr id="12" name="Shape 10"/>
          <p:cNvSpPr/>
          <p:nvPr/>
        </p:nvSpPr>
        <p:spPr>
          <a:xfrm>
            <a:off x="8321040" y="1005840"/>
            <a:ext cx="3749040" cy="73152"/>
          </a:xfrm>
          <a:prstGeom prst="rect">
            <a:avLst/>
          </a:prstGeom>
          <a:solidFill>
            <a:srgbClr val="00A3E0"/>
          </a:solidFill>
          <a:ln w="12700">
            <a:solidFill>
              <a:srgbClr val="00A3E0"/>
            </a:solidFill>
            <a:prstDash val="solid"/>
          </a:ln>
        </p:spPr>
      </p:sp>
      <p:sp>
        <p:nvSpPr>
          <p:cNvPr id="13" name="Text 11"/>
          <p:cNvSpPr/>
          <p:nvPr/>
        </p:nvSpPr>
        <p:spPr>
          <a:xfrm>
            <a:off x="8503920" y="1188720"/>
            <a:ext cx="3383280" cy="457200"/>
          </a:xfrm>
          <a:prstGeom prst="rect">
            <a:avLst/>
          </a:prstGeom>
          <a:noFill/>
          <a:ln/>
        </p:spPr>
        <p:txBody>
          <a:bodyPr wrap="square" rtlCol="0" anchor="ctr"/>
          <a:lstStyle/>
          <a:p>
            <a:pPr indent="0" marL="0">
              <a:buNone/>
            </a:pPr>
            <a:r>
              <a:rPr lang="en-US" sz="2000" b="1" dirty="0">
                <a:solidFill>
                  <a:srgbClr val="0A1628"/>
                </a:solidFill>
                <a:latin typeface="Calibri" pitchFamily="34" charset="0"/>
                <a:ea typeface="Calibri" pitchFamily="34" charset="-122"/>
                <a:cs typeface="Calibri" pitchFamily="34" charset="-120"/>
              </a:rPr>
              <a:t>Word</a:t>
            </a:r>
            <a:endParaRPr lang="en-US" sz="2000" dirty="0"/>
          </a:p>
        </p:txBody>
      </p:sp>
      <p:sp>
        <p:nvSpPr>
          <p:cNvPr id="14" name="Text 12"/>
          <p:cNvSpPr/>
          <p:nvPr/>
        </p:nvSpPr>
        <p:spPr>
          <a:xfrm>
            <a:off x="8503920" y="1737360"/>
            <a:ext cx="3383280" cy="1005840"/>
          </a:xfrm>
          <a:prstGeom prst="rect">
            <a:avLst/>
          </a:prstGeom>
          <a:noFill/>
          <a:ln/>
        </p:spPr>
        <p:txBody>
          <a:bodyPr wrap="square" rtlCol="0" anchor="ctr"/>
          <a:lstStyle/>
          <a:p>
            <a:pPr indent="0" marL="0">
              <a:buNone/>
            </a:pPr>
            <a:r>
              <a:rPr lang="en-US" sz="1600" dirty="0">
                <a:solidFill>
                  <a:srgbClr val="0A1628"/>
                </a:solidFill>
                <a:latin typeface="Calibri" pitchFamily="34" charset="0"/>
                <a:ea typeface="Calibri" pitchFamily="34" charset="-122"/>
                <a:cs typeface="Calibri" pitchFamily="34" charset="-120"/>
              </a:rPr>
              <a:t>Document drafting + rewriting</a:t>
            </a:r>
            <a:endParaRPr lang="en-US" sz="1600" dirty="0"/>
          </a:p>
        </p:txBody>
      </p:sp>
      <p:sp>
        <p:nvSpPr>
          <p:cNvPr id="15" name="Shape 13"/>
          <p:cNvSpPr/>
          <p:nvPr/>
        </p:nvSpPr>
        <p:spPr>
          <a:xfrm>
            <a:off x="457200" y="3383280"/>
            <a:ext cx="3749040" cy="2011680"/>
          </a:xfrm>
          <a:prstGeom prst="rect">
            <a:avLst/>
          </a:prstGeom>
          <a:solidFill>
            <a:srgbClr val="FFFFFF"/>
          </a:solidFill>
          <a:ln w="12700">
            <a:solidFill>
              <a:srgbClr val="00A3E0"/>
            </a:solidFill>
            <a:prstDash val="solid"/>
          </a:ln>
        </p:spPr>
      </p:sp>
      <p:sp>
        <p:nvSpPr>
          <p:cNvPr id="16" name="Shape 14"/>
          <p:cNvSpPr/>
          <p:nvPr/>
        </p:nvSpPr>
        <p:spPr>
          <a:xfrm>
            <a:off x="457200" y="3383280"/>
            <a:ext cx="3749040" cy="73152"/>
          </a:xfrm>
          <a:prstGeom prst="rect">
            <a:avLst/>
          </a:prstGeom>
          <a:solidFill>
            <a:srgbClr val="00A3E0"/>
          </a:solidFill>
          <a:ln w="12700">
            <a:solidFill>
              <a:srgbClr val="00A3E0"/>
            </a:solidFill>
            <a:prstDash val="solid"/>
          </a:ln>
        </p:spPr>
      </p:sp>
      <p:sp>
        <p:nvSpPr>
          <p:cNvPr id="17" name="Text 15"/>
          <p:cNvSpPr/>
          <p:nvPr/>
        </p:nvSpPr>
        <p:spPr>
          <a:xfrm>
            <a:off x="640080" y="3566160"/>
            <a:ext cx="3383280" cy="457200"/>
          </a:xfrm>
          <a:prstGeom prst="rect">
            <a:avLst/>
          </a:prstGeom>
          <a:noFill/>
          <a:ln/>
        </p:spPr>
        <p:txBody>
          <a:bodyPr wrap="square" rtlCol="0" anchor="ctr"/>
          <a:lstStyle/>
          <a:p>
            <a:pPr indent="0" marL="0">
              <a:buNone/>
            </a:pPr>
            <a:r>
              <a:rPr lang="en-US" sz="2000" b="1" dirty="0">
                <a:solidFill>
                  <a:srgbClr val="0A1628"/>
                </a:solidFill>
                <a:latin typeface="Calibri" pitchFamily="34" charset="0"/>
                <a:ea typeface="Calibri" pitchFamily="34" charset="-122"/>
                <a:cs typeface="Calibri" pitchFamily="34" charset="-120"/>
              </a:rPr>
              <a:t>Excel</a:t>
            </a:r>
            <a:endParaRPr lang="en-US" sz="2000" dirty="0"/>
          </a:p>
        </p:txBody>
      </p:sp>
      <p:sp>
        <p:nvSpPr>
          <p:cNvPr id="18" name="Text 16"/>
          <p:cNvSpPr/>
          <p:nvPr/>
        </p:nvSpPr>
        <p:spPr>
          <a:xfrm>
            <a:off x="640080" y="4114800"/>
            <a:ext cx="3383280" cy="1005840"/>
          </a:xfrm>
          <a:prstGeom prst="rect">
            <a:avLst/>
          </a:prstGeom>
          <a:noFill/>
          <a:ln/>
        </p:spPr>
        <p:txBody>
          <a:bodyPr wrap="square" rtlCol="0" anchor="ctr"/>
          <a:lstStyle/>
          <a:p>
            <a:pPr indent="0" marL="0">
              <a:buNone/>
            </a:pPr>
            <a:r>
              <a:rPr lang="en-US" sz="1600" dirty="0">
                <a:solidFill>
                  <a:srgbClr val="0A1628"/>
                </a:solidFill>
                <a:latin typeface="Calibri" pitchFamily="34" charset="0"/>
                <a:ea typeface="Calibri" pitchFamily="34" charset="-122"/>
                <a:cs typeface="Calibri" pitchFamily="34" charset="-120"/>
              </a:rPr>
              <a:t>NL formulas + Python in Excel</a:t>
            </a:r>
            <a:endParaRPr lang="en-US" sz="1600" dirty="0"/>
          </a:p>
        </p:txBody>
      </p:sp>
      <p:sp>
        <p:nvSpPr>
          <p:cNvPr id="19" name="Shape 17"/>
          <p:cNvSpPr/>
          <p:nvPr/>
        </p:nvSpPr>
        <p:spPr>
          <a:xfrm>
            <a:off x="4389120" y="3383280"/>
            <a:ext cx="3749040" cy="2011680"/>
          </a:xfrm>
          <a:prstGeom prst="rect">
            <a:avLst/>
          </a:prstGeom>
          <a:solidFill>
            <a:srgbClr val="FFFFFF"/>
          </a:solidFill>
          <a:ln w="12700">
            <a:solidFill>
              <a:srgbClr val="00A3E0"/>
            </a:solidFill>
            <a:prstDash val="solid"/>
          </a:ln>
        </p:spPr>
      </p:sp>
      <p:sp>
        <p:nvSpPr>
          <p:cNvPr id="20" name="Shape 18"/>
          <p:cNvSpPr/>
          <p:nvPr/>
        </p:nvSpPr>
        <p:spPr>
          <a:xfrm>
            <a:off x="4389120" y="3383280"/>
            <a:ext cx="3749040" cy="73152"/>
          </a:xfrm>
          <a:prstGeom prst="rect">
            <a:avLst/>
          </a:prstGeom>
          <a:solidFill>
            <a:srgbClr val="00A3E0"/>
          </a:solidFill>
          <a:ln w="12700">
            <a:solidFill>
              <a:srgbClr val="00A3E0"/>
            </a:solidFill>
            <a:prstDash val="solid"/>
          </a:ln>
        </p:spPr>
      </p:sp>
      <p:sp>
        <p:nvSpPr>
          <p:cNvPr id="21" name="Text 19"/>
          <p:cNvSpPr/>
          <p:nvPr/>
        </p:nvSpPr>
        <p:spPr>
          <a:xfrm>
            <a:off x="4572000" y="3566160"/>
            <a:ext cx="3383280" cy="457200"/>
          </a:xfrm>
          <a:prstGeom prst="rect">
            <a:avLst/>
          </a:prstGeom>
          <a:noFill/>
          <a:ln/>
        </p:spPr>
        <p:txBody>
          <a:bodyPr wrap="square" rtlCol="0" anchor="ctr"/>
          <a:lstStyle/>
          <a:p>
            <a:pPr indent="0" marL="0">
              <a:buNone/>
            </a:pPr>
            <a:r>
              <a:rPr lang="en-US" sz="2000" b="1" dirty="0">
                <a:solidFill>
                  <a:srgbClr val="0A1628"/>
                </a:solidFill>
                <a:latin typeface="Calibri" pitchFamily="34" charset="0"/>
                <a:ea typeface="Calibri" pitchFamily="34" charset="-122"/>
                <a:cs typeface="Calibri" pitchFamily="34" charset="-120"/>
              </a:rPr>
              <a:t>PowerPoint</a:t>
            </a:r>
            <a:endParaRPr lang="en-US" sz="2000" dirty="0"/>
          </a:p>
        </p:txBody>
      </p:sp>
      <p:sp>
        <p:nvSpPr>
          <p:cNvPr id="22" name="Text 20"/>
          <p:cNvSpPr/>
          <p:nvPr/>
        </p:nvSpPr>
        <p:spPr>
          <a:xfrm>
            <a:off x="4572000" y="4114800"/>
            <a:ext cx="3383280" cy="1005840"/>
          </a:xfrm>
          <a:prstGeom prst="rect">
            <a:avLst/>
          </a:prstGeom>
          <a:noFill/>
          <a:ln/>
        </p:spPr>
        <p:txBody>
          <a:bodyPr wrap="square" rtlCol="0" anchor="ctr"/>
          <a:lstStyle/>
          <a:p>
            <a:pPr indent="0" marL="0">
              <a:buNone/>
            </a:pPr>
            <a:r>
              <a:rPr lang="en-US" sz="1600" dirty="0">
                <a:solidFill>
                  <a:srgbClr val="0A1628"/>
                </a:solidFill>
                <a:latin typeface="Calibri" pitchFamily="34" charset="0"/>
                <a:ea typeface="Calibri" pitchFamily="34" charset="-122"/>
                <a:cs typeface="Calibri" pitchFamily="34" charset="-120"/>
              </a:rPr>
              <a:t>Deck generation from prompts</a:t>
            </a:r>
            <a:endParaRPr lang="en-US" sz="1600" dirty="0"/>
          </a:p>
        </p:txBody>
      </p:sp>
      <p:sp>
        <p:nvSpPr>
          <p:cNvPr id="23" name="Shape 21"/>
          <p:cNvSpPr/>
          <p:nvPr/>
        </p:nvSpPr>
        <p:spPr>
          <a:xfrm>
            <a:off x="8321040" y="3383280"/>
            <a:ext cx="3749040" cy="2011680"/>
          </a:xfrm>
          <a:prstGeom prst="rect">
            <a:avLst/>
          </a:prstGeom>
          <a:solidFill>
            <a:srgbClr val="FFFFFF"/>
          </a:solidFill>
          <a:ln w="12700">
            <a:solidFill>
              <a:srgbClr val="00A3E0"/>
            </a:solidFill>
            <a:prstDash val="solid"/>
          </a:ln>
        </p:spPr>
      </p:sp>
      <p:sp>
        <p:nvSpPr>
          <p:cNvPr id="24" name="Shape 22"/>
          <p:cNvSpPr/>
          <p:nvPr/>
        </p:nvSpPr>
        <p:spPr>
          <a:xfrm>
            <a:off x="8321040" y="3383280"/>
            <a:ext cx="3749040" cy="73152"/>
          </a:xfrm>
          <a:prstGeom prst="rect">
            <a:avLst/>
          </a:prstGeom>
          <a:solidFill>
            <a:srgbClr val="00A3E0"/>
          </a:solidFill>
          <a:ln w="12700">
            <a:solidFill>
              <a:srgbClr val="00A3E0"/>
            </a:solidFill>
            <a:prstDash val="solid"/>
          </a:ln>
        </p:spPr>
      </p:sp>
      <p:sp>
        <p:nvSpPr>
          <p:cNvPr id="25" name="Text 23"/>
          <p:cNvSpPr/>
          <p:nvPr/>
        </p:nvSpPr>
        <p:spPr>
          <a:xfrm>
            <a:off x="8503920" y="3566160"/>
            <a:ext cx="3383280" cy="457200"/>
          </a:xfrm>
          <a:prstGeom prst="rect">
            <a:avLst/>
          </a:prstGeom>
          <a:noFill/>
          <a:ln/>
        </p:spPr>
        <p:txBody>
          <a:bodyPr wrap="square" rtlCol="0" anchor="ctr"/>
          <a:lstStyle/>
          <a:p>
            <a:pPr indent="0" marL="0">
              <a:buNone/>
            </a:pPr>
            <a:r>
              <a:rPr lang="en-US" sz="2000" b="1" dirty="0">
                <a:solidFill>
                  <a:srgbClr val="0A1628"/>
                </a:solidFill>
                <a:latin typeface="Calibri" pitchFamily="34" charset="0"/>
                <a:ea typeface="Calibri" pitchFamily="34" charset="-122"/>
                <a:cs typeface="Calibri" pitchFamily="34" charset="-120"/>
              </a:rPr>
              <a:t>OneNote</a:t>
            </a:r>
            <a:endParaRPr lang="en-US" sz="2000" dirty="0"/>
          </a:p>
        </p:txBody>
      </p:sp>
      <p:sp>
        <p:nvSpPr>
          <p:cNvPr id="26" name="Text 24"/>
          <p:cNvSpPr/>
          <p:nvPr/>
        </p:nvSpPr>
        <p:spPr>
          <a:xfrm>
            <a:off x="8503920" y="4114800"/>
            <a:ext cx="3383280" cy="1005840"/>
          </a:xfrm>
          <a:prstGeom prst="rect">
            <a:avLst/>
          </a:prstGeom>
          <a:noFill/>
          <a:ln/>
        </p:spPr>
        <p:txBody>
          <a:bodyPr wrap="square" rtlCol="0" anchor="ctr"/>
          <a:lstStyle/>
          <a:p>
            <a:pPr indent="0" marL="0">
              <a:buNone/>
            </a:pPr>
            <a:r>
              <a:rPr lang="en-US" sz="1600" dirty="0">
                <a:solidFill>
                  <a:srgbClr val="0A1628"/>
                </a:solidFill>
                <a:latin typeface="Calibri" pitchFamily="34" charset="0"/>
                <a:ea typeface="Calibri" pitchFamily="34" charset="-122"/>
                <a:cs typeface="Calibri" pitchFamily="34" charset="-120"/>
              </a:rPr>
              <a:t>Action items + cross-notebook search</a:t>
            </a:r>
            <a:endParaRPr lang="en-US" sz="1600" dirty="0"/>
          </a:p>
        </p:txBody>
      </p:sp>
      <p:sp>
        <p:nvSpPr>
          <p:cNvPr id="27" name="Text 25"/>
          <p:cNvSpPr/>
          <p:nvPr/>
        </p:nvSpPr>
        <p:spPr>
          <a:xfrm>
            <a:off x="457200" y="5943600"/>
            <a:ext cx="11247120" cy="365760"/>
          </a:xfrm>
          <a:prstGeom prst="rect">
            <a:avLst/>
          </a:prstGeom>
          <a:noFill/>
          <a:ln/>
        </p:spPr>
        <p:txBody>
          <a:bodyPr wrap="square" rtlCol="0" anchor="ctr"/>
          <a:lstStyle/>
          <a:p>
            <a:pPr indent="0" marL="0">
              <a:buNone/>
            </a:pPr>
            <a:r>
              <a:rPr lang="en-US" sz="1600" b="1" dirty="0">
                <a:solidFill>
                  <a:srgbClr val="00A3E0"/>
                </a:solidFill>
                <a:latin typeface="Calibri" pitchFamily="34" charset="0"/>
                <a:ea typeface="Calibri" pitchFamily="34" charset="-122"/>
                <a:cs typeface="Calibri" pitchFamily="34" charset="-120"/>
              </a:rPr>
              <a:t>Available now with your M365 licence. Open Teams → look for the Copilot icon.</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320040" y="228600"/>
            <a:ext cx="1645920" cy="347472"/>
          </a:xfrm>
          <a:prstGeom prst="rect">
            <a:avLst/>
          </a:prstGeom>
          <a:solidFill>
            <a:srgbClr val="F5A623"/>
          </a:solidFill>
          <a:ln w="12700">
            <a:solidFill>
              <a:srgbClr val="F5A623"/>
            </a:solidFill>
            <a:prstDash val="solid"/>
          </a:ln>
        </p:spPr>
      </p:sp>
      <p:sp>
        <p:nvSpPr>
          <p:cNvPr id="3" name="Text 1"/>
          <p:cNvSpPr/>
          <p:nvPr/>
        </p:nvSpPr>
        <p:spPr>
          <a:xfrm>
            <a:off x="320040" y="228600"/>
            <a:ext cx="1645920" cy="347472"/>
          </a:xfrm>
          <a:prstGeom prst="rect">
            <a:avLst/>
          </a:prstGeom>
          <a:noFill/>
          <a:ln/>
        </p:spPr>
        <p:txBody>
          <a:bodyPr wrap="square" rtlCol="0" anchor="ctr"/>
          <a:lstStyle/>
          <a:p>
            <a:pPr algn="ctr" indent="0" marL="0">
              <a:buNone/>
            </a:pPr>
            <a:r>
              <a:rPr lang="en-US" sz="1300" b="1" dirty="0">
                <a:solidFill>
                  <a:srgbClr val="0A1628"/>
                </a:solidFill>
                <a:latin typeface="Calibri" pitchFamily="34" charset="0"/>
                <a:ea typeface="Calibri" pitchFamily="34" charset="-122"/>
                <a:cs typeface="Calibri" pitchFamily="34" charset="-120"/>
              </a:rPr>
              <a:t>[LIVE DEMO]</a:t>
            </a:r>
            <a:endParaRPr lang="en-US" sz="1300" dirty="0"/>
          </a:p>
        </p:txBody>
      </p:sp>
      <p:sp>
        <p:nvSpPr>
          <p:cNvPr id="4" name="Text 2"/>
          <p:cNvSpPr/>
          <p:nvPr/>
        </p:nvSpPr>
        <p:spPr>
          <a:xfrm>
            <a:off x="6858000" y="228600"/>
            <a:ext cx="5029200" cy="347472"/>
          </a:xfrm>
          <a:prstGeom prst="rect">
            <a:avLst/>
          </a:prstGeom>
          <a:noFill/>
          <a:ln/>
        </p:spPr>
        <p:txBody>
          <a:bodyPr wrap="square" rtlCol="0" anchor="ctr"/>
          <a:lstStyle/>
          <a:p>
            <a:pPr algn="r" indent="0" marL="0">
              <a:buNone/>
            </a:pPr>
            <a:r>
              <a:rPr lang="en-US" sz="1400" dirty="0">
                <a:solidFill>
                  <a:srgbClr val="00A3E0"/>
                </a:solidFill>
                <a:latin typeface="Calibri" pitchFamily="34" charset="0"/>
                <a:ea typeface="Calibri" pitchFamily="34" charset="-122"/>
                <a:cs typeface="Calibri" pitchFamily="34" charset="-120"/>
              </a:rPr>
              <a:t>M365 Copilot — Teams / Business Chat</a:t>
            </a:r>
            <a:endParaRPr lang="en-US" sz="1400" dirty="0"/>
          </a:p>
        </p:txBody>
      </p:sp>
      <p:sp>
        <p:nvSpPr>
          <p:cNvPr id="5" name="Text 3"/>
          <p:cNvSpPr/>
          <p:nvPr/>
        </p:nvSpPr>
        <p:spPr>
          <a:xfrm>
            <a:off x="457200" y="320040"/>
            <a:ext cx="11247120" cy="5029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Teams Meeting Summary — Live Demo</a:t>
            </a:r>
            <a:endParaRPr lang="en-US" sz="2800" dirty="0"/>
          </a:p>
        </p:txBody>
      </p:sp>
      <p:sp>
        <p:nvSpPr>
          <p:cNvPr id="6" name="Shape 4"/>
          <p:cNvSpPr/>
          <p:nvPr/>
        </p:nvSpPr>
        <p:spPr>
          <a:xfrm>
            <a:off x="6080760" y="960120"/>
            <a:ext cx="36576" cy="5303520"/>
          </a:xfrm>
          <a:prstGeom prst="rect">
            <a:avLst/>
          </a:prstGeom>
          <a:solidFill>
            <a:srgbClr val="00A3E0"/>
          </a:solidFill>
          <a:ln w="12700">
            <a:solidFill>
              <a:srgbClr val="00A3E0"/>
            </a:solidFill>
            <a:prstDash val="solid"/>
          </a:ln>
        </p:spPr>
      </p:sp>
      <p:sp>
        <p:nvSpPr>
          <p:cNvPr id="7" name="Text 5"/>
          <p:cNvSpPr/>
          <p:nvPr/>
        </p:nvSpPr>
        <p:spPr>
          <a:xfrm>
            <a:off x="457200" y="1051560"/>
            <a:ext cx="5303520" cy="411480"/>
          </a:xfrm>
          <a:prstGeom prst="rect">
            <a:avLst/>
          </a:prstGeom>
          <a:noFill/>
          <a:ln/>
        </p:spPr>
        <p:txBody>
          <a:bodyPr wrap="square" rtlCol="0" anchor="ctr"/>
          <a:lstStyle/>
          <a:p>
            <a:pPr indent="0" marL="0">
              <a:buNone/>
            </a:pPr>
            <a:r>
              <a:rPr lang="en-US" sz="2000" b="1" dirty="0">
                <a:solidFill>
                  <a:srgbClr val="00A3E0"/>
                </a:solidFill>
                <a:latin typeface="Calibri" pitchFamily="34" charset="0"/>
                <a:ea typeface="Calibri" pitchFamily="34" charset="-122"/>
                <a:cs typeface="Calibri" pitchFamily="34" charset="-120"/>
              </a:rPr>
              <a:t>What we're doing</a:t>
            </a:r>
            <a:endParaRPr lang="en-US" sz="2000" dirty="0"/>
          </a:p>
        </p:txBody>
      </p:sp>
      <p:sp>
        <p:nvSpPr>
          <p:cNvPr id="8" name="Text 6"/>
          <p:cNvSpPr/>
          <p:nvPr/>
        </p:nvSpPr>
        <p:spPr>
          <a:xfrm>
            <a:off x="457200" y="1554480"/>
            <a:ext cx="5303520" cy="502920"/>
          </a:xfrm>
          <a:prstGeom prst="rect">
            <a:avLst/>
          </a:prstGeom>
          <a:noFill/>
          <a:ln/>
        </p:spPr>
        <p:txBody>
          <a:bodyPr wrap="square" rtlCol="0" anchor="ctr"/>
          <a:lstStyle/>
          <a:p>
            <a:pPr indent="0" marL="0">
              <a:buNone/>
            </a:pPr>
            <a:r>
              <a:rPr lang="en-US" sz="1700" dirty="0">
                <a:solidFill>
                  <a:srgbClr val="FFFFFF"/>
                </a:solidFill>
                <a:latin typeface="Calibri" pitchFamily="34" charset="0"/>
                <a:ea typeface="Calibri" pitchFamily="34" charset="-122"/>
                <a:cs typeface="Calibri" pitchFamily="34" charset="-120"/>
              </a:rPr>
              <a:t>• Open Teams meeting summary in Copilot</a:t>
            </a:r>
            <a:endParaRPr lang="en-US" sz="1700" dirty="0"/>
          </a:p>
        </p:txBody>
      </p:sp>
      <p:sp>
        <p:nvSpPr>
          <p:cNvPr id="9" name="Text 7"/>
          <p:cNvSpPr/>
          <p:nvPr/>
        </p:nvSpPr>
        <p:spPr>
          <a:xfrm>
            <a:off x="457200" y="2148840"/>
            <a:ext cx="5303520" cy="502920"/>
          </a:xfrm>
          <a:prstGeom prst="rect">
            <a:avLst/>
          </a:prstGeom>
          <a:noFill/>
          <a:ln/>
        </p:spPr>
        <p:txBody>
          <a:bodyPr wrap="square" rtlCol="0" anchor="ctr"/>
          <a:lstStyle/>
          <a:p>
            <a:pPr indent="0" marL="0">
              <a:buNone/>
            </a:pPr>
            <a:r>
              <a:rPr lang="en-US" sz="1700" dirty="0">
                <a:solidFill>
                  <a:srgbClr val="FFFFFF"/>
                </a:solidFill>
                <a:latin typeface="Calibri" pitchFamily="34" charset="0"/>
                <a:ea typeface="Calibri" pitchFamily="34" charset="-122"/>
                <a:cs typeface="Calibri" pitchFamily="34" charset="-120"/>
              </a:rPr>
              <a:t>• Ask: 'What action items were assigned to FM&amp;I?'</a:t>
            </a:r>
            <a:endParaRPr lang="en-US" sz="1700" dirty="0"/>
          </a:p>
        </p:txBody>
      </p:sp>
      <p:sp>
        <p:nvSpPr>
          <p:cNvPr id="10" name="Text 8"/>
          <p:cNvSpPr/>
          <p:nvPr/>
        </p:nvSpPr>
        <p:spPr>
          <a:xfrm>
            <a:off x="457200" y="2743200"/>
            <a:ext cx="5303520" cy="502920"/>
          </a:xfrm>
          <a:prstGeom prst="rect">
            <a:avLst/>
          </a:prstGeom>
          <a:noFill/>
          <a:ln/>
        </p:spPr>
        <p:txBody>
          <a:bodyPr wrap="square" rtlCol="0" anchor="ctr"/>
          <a:lstStyle/>
          <a:p>
            <a:pPr indent="0" marL="0">
              <a:buNone/>
            </a:pPr>
            <a:r>
              <a:rPr lang="en-US" sz="1700" dirty="0">
                <a:solidFill>
                  <a:srgbClr val="FFFFFF"/>
                </a:solidFill>
                <a:latin typeface="Calibri" pitchFamily="34" charset="0"/>
                <a:ea typeface="Calibri" pitchFamily="34" charset="-122"/>
                <a:cs typeface="Calibri" pitchFamily="34" charset="-120"/>
              </a:rPr>
              <a:t>• Ask: 'Draft a follow-up email about the pipeline timeline'</a:t>
            </a:r>
            <a:endParaRPr lang="en-US" sz="1700" dirty="0"/>
          </a:p>
        </p:txBody>
      </p:sp>
      <p:sp>
        <p:nvSpPr>
          <p:cNvPr id="11" name="Text 9"/>
          <p:cNvSpPr/>
          <p:nvPr/>
        </p:nvSpPr>
        <p:spPr>
          <a:xfrm>
            <a:off x="6400800" y="1051560"/>
            <a:ext cx="5303520" cy="411480"/>
          </a:xfrm>
          <a:prstGeom prst="rect">
            <a:avLst/>
          </a:prstGeom>
          <a:noFill/>
          <a:ln/>
        </p:spPr>
        <p:txBody>
          <a:bodyPr wrap="square" rtlCol="0" anchor="ctr"/>
          <a:lstStyle/>
          <a:p>
            <a:pPr indent="0" marL="0">
              <a:buNone/>
            </a:pPr>
            <a:r>
              <a:rPr lang="en-US" sz="2000" b="1" dirty="0">
                <a:solidFill>
                  <a:srgbClr val="F5A623"/>
                </a:solidFill>
                <a:latin typeface="Calibri" pitchFamily="34" charset="0"/>
                <a:ea typeface="Calibri" pitchFamily="34" charset="-122"/>
                <a:cs typeface="Calibri" pitchFamily="34" charset="-120"/>
              </a:rPr>
              <a:t>What to look for</a:t>
            </a:r>
            <a:endParaRPr lang="en-US" sz="2000" dirty="0"/>
          </a:p>
        </p:txBody>
      </p:sp>
      <p:sp>
        <p:nvSpPr>
          <p:cNvPr id="12" name="Text 10"/>
          <p:cNvSpPr/>
          <p:nvPr/>
        </p:nvSpPr>
        <p:spPr>
          <a:xfrm>
            <a:off x="6400800" y="1554480"/>
            <a:ext cx="5303520" cy="502920"/>
          </a:xfrm>
          <a:prstGeom prst="rect">
            <a:avLst/>
          </a:prstGeom>
          <a:noFill/>
          <a:ln/>
        </p:spPr>
        <p:txBody>
          <a:bodyPr wrap="square" rtlCol="0" anchor="ctr"/>
          <a:lstStyle/>
          <a:p>
            <a:pPr indent="0" marL="0">
              <a:buNone/>
            </a:pPr>
            <a:r>
              <a:rPr lang="en-US" sz="1700" dirty="0">
                <a:solidFill>
                  <a:srgbClr val="FFFFFF"/>
                </a:solidFill>
                <a:latin typeface="Calibri" pitchFamily="34" charset="0"/>
                <a:ea typeface="Calibri" pitchFamily="34" charset="-122"/>
                <a:cs typeface="Calibri" pitchFamily="34" charset="-120"/>
              </a:rPr>
              <a:t>• Accuracy of action item extraction</a:t>
            </a:r>
            <a:endParaRPr lang="en-US" sz="1700" dirty="0"/>
          </a:p>
        </p:txBody>
      </p:sp>
      <p:sp>
        <p:nvSpPr>
          <p:cNvPr id="13" name="Text 11"/>
          <p:cNvSpPr/>
          <p:nvPr/>
        </p:nvSpPr>
        <p:spPr>
          <a:xfrm>
            <a:off x="6400800" y="2148840"/>
            <a:ext cx="5303520" cy="502920"/>
          </a:xfrm>
          <a:prstGeom prst="rect">
            <a:avLst/>
          </a:prstGeom>
          <a:noFill/>
          <a:ln/>
        </p:spPr>
        <p:txBody>
          <a:bodyPr wrap="square" rtlCol="0" anchor="ctr"/>
          <a:lstStyle/>
          <a:p>
            <a:pPr indent="0" marL="0">
              <a:buNone/>
            </a:pPr>
            <a:r>
              <a:rPr lang="en-US" sz="1700" dirty="0">
                <a:solidFill>
                  <a:srgbClr val="FFFFFF"/>
                </a:solidFill>
                <a:latin typeface="Calibri" pitchFamily="34" charset="0"/>
                <a:ea typeface="Calibri" pitchFamily="34" charset="-122"/>
                <a:cs typeface="Calibri" pitchFamily="34" charset="-120"/>
              </a:rPr>
              <a:t>• Whether names are correctly attributed</a:t>
            </a:r>
            <a:endParaRPr lang="en-US" sz="1700" dirty="0"/>
          </a:p>
        </p:txBody>
      </p:sp>
      <p:sp>
        <p:nvSpPr>
          <p:cNvPr id="14" name="Text 12"/>
          <p:cNvSpPr/>
          <p:nvPr/>
        </p:nvSpPr>
        <p:spPr>
          <a:xfrm>
            <a:off x="6400800" y="2743200"/>
            <a:ext cx="5303520" cy="502920"/>
          </a:xfrm>
          <a:prstGeom prst="rect">
            <a:avLst/>
          </a:prstGeom>
          <a:noFill/>
          <a:ln/>
        </p:spPr>
        <p:txBody>
          <a:bodyPr wrap="square" rtlCol="0" anchor="ctr"/>
          <a:lstStyle/>
          <a:p>
            <a:pPr indent="0" marL="0">
              <a:buNone/>
            </a:pPr>
            <a:r>
              <a:rPr lang="en-US" sz="1700" dirty="0">
                <a:solidFill>
                  <a:srgbClr val="FFFFFF"/>
                </a:solidFill>
                <a:latin typeface="Calibri" pitchFamily="34" charset="0"/>
                <a:ea typeface="Calibri" pitchFamily="34" charset="-122"/>
                <a:cs typeface="Calibri" pitchFamily="34" charset="-120"/>
              </a:rPr>
              <a:t>• Speed vs doing this manually (15 min → 90 sec)</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indent="0" marL="0">
              <a:buNone/>
            </a:pPr>
            <a:r>
              <a:rPr lang="en-US" sz="2800" b="1" dirty="0">
                <a:solidFill>
                  <a:srgbClr val="0A1628"/>
                </a:solidFill>
                <a:latin typeface="Calibri" pitchFamily="34" charset="0"/>
                <a:ea typeface="Calibri" pitchFamily="34" charset="-122"/>
                <a:cs typeface="Calibri" pitchFamily="34" charset="-120"/>
              </a:rPr>
              <a:t>Copilot Agents: No Code Required</a:t>
            </a:r>
            <a:endParaRPr lang="en-US" sz="2800" dirty="0"/>
          </a:p>
        </p:txBody>
      </p:sp>
      <p:sp>
        <p:nvSpPr>
          <p:cNvPr id="3" name="Shape 1"/>
          <p:cNvSpPr/>
          <p:nvPr/>
        </p:nvSpPr>
        <p:spPr>
          <a:xfrm>
            <a:off x="1371600" y="1371600"/>
            <a:ext cx="1828800" cy="1828800"/>
          </a:xfrm>
          <a:prstGeom prst="ellipse">
            <a:avLst/>
          </a:prstGeom>
          <a:solidFill>
            <a:srgbClr val="00A3E0"/>
          </a:solidFill>
          <a:ln w="12700">
            <a:solidFill>
              <a:srgbClr val="00A3E0"/>
            </a:solidFill>
            <a:prstDash val="solid"/>
          </a:ln>
        </p:spPr>
      </p:sp>
      <p:sp>
        <p:nvSpPr>
          <p:cNvPr id="4" name="Text 2"/>
          <p:cNvSpPr/>
          <p:nvPr/>
        </p:nvSpPr>
        <p:spPr>
          <a:xfrm>
            <a:off x="1371600" y="1554480"/>
            <a:ext cx="1828800" cy="731520"/>
          </a:xfrm>
          <a:prstGeom prst="rect">
            <a:avLst/>
          </a:prstGeom>
          <a:noFill/>
          <a:ln/>
        </p:spPr>
        <p:txBody>
          <a:bodyPr wrap="square" rtlCol="0" anchor="ctr"/>
          <a:lstStyle/>
          <a:p>
            <a:pPr algn="ctr" indent="0" marL="0">
              <a:buNone/>
            </a:pPr>
            <a:r>
              <a:rPr lang="en-US" sz="3200" dirty="0">
                <a:solidFill>
                  <a:srgbClr val="000000"/>
                </a:solidFill>
                <a:latin typeface="Calibri" pitchFamily="34" charset="0"/>
                <a:ea typeface="Calibri" pitchFamily="34" charset="-122"/>
                <a:cs typeface="Calibri" pitchFamily="34" charset="-120"/>
              </a:rPr>
              <a:t>💬</a:t>
            </a:r>
            <a:endParaRPr lang="en-US" sz="3200" dirty="0"/>
          </a:p>
        </p:txBody>
      </p:sp>
      <p:sp>
        <p:nvSpPr>
          <p:cNvPr id="5" name="Text 3"/>
          <p:cNvSpPr/>
          <p:nvPr/>
        </p:nvSpPr>
        <p:spPr>
          <a:xfrm>
            <a:off x="1371600" y="2286000"/>
            <a:ext cx="1828800" cy="4572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Define</a:t>
            </a:r>
            <a:endParaRPr lang="en-US" sz="2000" dirty="0"/>
          </a:p>
        </p:txBody>
      </p:sp>
      <p:sp>
        <p:nvSpPr>
          <p:cNvPr id="6" name="Text 4"/>
          <p:cNvSpPr/>
          <p:nvPr/>
        </p:nvSpPr>
        <p:spPr>
          <a:xfrm>
            <a:off x="1097280" y="3383280"/>
            <a:ext cx="2377440" cy="914400"/>
          </a:xfrm>
          <a:prstGeom prst="rect">
            <a:avLst/>
          </a:prstGeom>
          <a:noFill/>
          <a:ln/>
        </p:spPr>
        <p:txBody>
          <a:bodyPr wrap="square" rtlCol="0" anchor="ctr"/>
          <a:lstStyle/>
          <a:p>
            <a:pPr algn="ctr" indent="0" marL="0">
              <a:buNone/>
            </a:pPr>
            <a:r>
              <a:rPr lang="en-US" sz="1500" dirty="0">
                <a:solidFill>
                  <a:srgbClr val="0A1628"/>
                </a:solidFill>
                <a:latin typeface="Calibri" pitchFamily="34" charset="0"/>
                <a:ea typeface="Calibri" pitchFamily="34" charset="-122"/>
                <a:cs typeface="Calibri" pitchFamily="34" charset="-120"/>
              </a:rPr>
              <a:t>Name, purpose, personality</a:t>
            </a:r>
            <a:endParaRPr lang="en-US" sz="1500" dirty="0"/>
          </a:p>
          <a:p>
            <a:pPr algn="ctr" indent="0" marL="0">
              <a:buNone/>
            </a:pPr>
            <a:r>
              <a:rPr lang="en-US" sz="1500" dirty="0">
                <a:solidFill>
                  <a:srgbClr val="0A1628"/>
                </a:solidFill>
                <a:latin typeface="Calibri" pitchFamily="34" charset="0"/>
                <a:ea typeface="Calibri" pitchFamily="34" charset="-122"/>
                <a:cs typeface="Calibri" pitchFamily="34" charset="-120"/>
              </a:rPr>
              <a:t>— in plain English</a:t>
            </a:r>
            <a:endParaRPr lang="en-US" sz="1500" dirty="0"/>
          </a:p>
        </p:txBody>
      </p:sp>
      <p:sp>
        <p:nvSpPr>
          <p:cNvPr id="7" name="Text 5"/>
          <p:cNvSpPr/>
          <p:nvPr/>
        </p:nvSpPr>
        <p:spPr>
          <a:xfrm>
            <a:off x="3291840" y="1920240"/>
            <a:ext cx="1645920" cy="731520"/>
          </a:xfrm>
          <a:prstGeom prst="rect">
            <a:avLst/>
          </a:prstGeom>
          <a:noFill/>
          <a:ln/>
        </p:spPr>
        <p:txBody>
          <a:bodyPr wrap="square" rtlCol="0" anchor="ctr"/>
          <a:lstStyle/>
          <a:p>
            <a:pPr algn="ctr" indent="0" marL="0">
              <a:buNone/>
            </a:pPr>
            <a:r>
              <a:rPr lang="en-US" sz="2800" dirty="0">
                <a:solidFill>
                  <a:srgbClr val="F5A623"/>
                </a:solidFill>
              </a:rPr>
              <a:t>→</a:t>
            </a:r>
            <a:endParaRPr lang="en-US" sz="2800" dirty="0"/>
          </a:p>
        </p:txBody>
      </p:sp>
      <p:sp>
        <p:nvSpPr>
          <p:cNvPr id="8" name="Shape 6"/>
          <p:cNvSpPr/>
          <p:nvPr/>
        </p:nvSpPr>
        <p:spPr>
          <a:xfrm>
            <a:off x="5029200" y="1371600"/>
            <a:ext cx="1828800" cy="1828800"/>
          </a:xfrm>
          <a:prstGeom prst="ellipse">
            <a:avLst/>
          </a:prstGeom>
          <a:solidFill>
            <a:srgbClr val="00A3E0"/>
          </a:solidFill>
          <a:ln w="12700">
            <a:solidFill>
              <a:srgbClr val="00A3E0"/>
            </a:solidFill>
            <a:prstDash val="solid"/>
          </a:ln>
        </p:spPr>
      </p:sp>
      <p:sp>
        <p:nvSpPr>
          <p:cNvPr id="9" name="Text 7"/>
          <p:cNvSpPr/>
          <p:nvPr/>
        </p:nvSpPr>
        <p:spPr>
          <a:xfrm>
            <a:off x="5029200" y="1554480"/>
            <a:ext cx="1828800" cy="731520"/>
          </a:xfrm>
          <a:prstGeom prst="rect">
            <a:avLst/>
          </a:prstGeom>
          <a:noFill/>
          <a:ln/>
        </p:spPr>
        <p:txBody>
          <a:bodyPr wrap="square" rtlCol="0" anchor="ctr"/>
          <a:lstStyle/>
          <a:p>
            <a:pPr algn="ctr" indent="0" marL="0">
              <a:buNone/>
            </a:pPr>
            <a:r>
              <a:rPr lang="en-US" sz="3200" dirty="0">
                <a:solidFill>
                  <a:srgbClr val="000000"/>
                </a:solidFill>
                <a:latin typeface="Calibri" pitchFamily="34" charset="0"/>
                <a:ea typeface="Calibri" pitchFamily="34" charset="-122"/>
                <a:cs typeface="Calibri" pitchFamily="34" charset="-120"/>
              </a:rPr>
              <a:t>🔗</a:t>
            </a:r>
            <a:endParaRPr lang="en-US" sz="3200" dirty="0"/>
          </a:p>
        </p:txBody>
      </p:sp>
      <p:sp>
        <p:nvSpPr>
          <p:cNvPr id="10" name="Text 8"/>
          <p:cNvSpPr/>
          <p:nvPr/>
        </p:nvSpPr>
        <p:spPr>
          <a:xfrm>
            <a:off x="5029200" y="2286000"/>
            <a:ext cx="1828800" cy="4572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Connect</a:t>
            </a:r>
            <a:endParaRPr lang="en-US" sz="2000" dirty="0"/>
          </a:p>
        </p:txBody>
      </p:sp>
      <p:sp>
        <p:nvSpPr>
          <p:cNvPr id="11" name="Text 9"/>
          <p:cNvSpPr/>
          <p:nvPr/>
        </p:nvSpPr>
        <p:spPr>
          <a:xfrm>
            <a:off x="4754880" y="3383280"/>
            <a:ext cx="2377440" cy="914400"/>
          </a:xfrm>
          <a:prstGeom prst="rect">
            <a:avLst/>
          </a:prstGeom>
          <a:noFill/>
          <a:ln/>
        </p:spPr>
        <p:txBody>
          <a:bodyPr wrap="square" rtlCol="0" anchor="ctr"/>
          <a:lstStyle/>
          <a:p>
            <a:pPr algn="ctr" indent="0" marL="0">
              <a:buNone/>
            </a:pPr>
            <a:r>
              <a:rPr lang="en-US" sz="1500" dirty="0">
                <a:solidFill>
                  <a:srgbClr val="0A1628"/>
                </a:solidFill>
                <a:latin typeface="Calibri" pitchFamily="34" charset="0"/>
                <a:ea typeface="Calibri" pitchFamily="34" charset="-122"/>
                <a:cs typeface="Calibri" pitchFamily="34" charset="-120"/>
              </a:rPr>
              <a:t>SharePoint, documents,</a:t>
            </a:r>
            <a:endParaRPr lang="en-US" sz="1500" dirty="0"/>
          </a:p>
          <a:p>
            <a:pPr algn="ctr" indent="0" marL="0">
              <a:buNone/>
            </a:pPr>
            <a:r>
              <a:rPr lang="en-US" sz="1500" dirty="0">
                <a:solidFill>
                  <a:srgbClr val="0A1628"/>
                </a:solidFill>
                <a:latin typeface="Calibri" pitchFamily="34" charset="0"/>
                <a:ea typeface="Calibri" pitchFamily="34" charset="-122"/>
                <a:cs typeface="Calibri" pitchFamily="34" charset="-120"/>
              </a:rPr>
              <a:t>web URLs, APIs</a:t>
            </a:r>
            <a:endParaRPr lang="en-US" sz="1500" dirty="0"/>
          </a:p>
        </p:txBody>
      </p:sp>
      <p:sp>
        <p:nvSpPr>
          <p:cNvPr id="12" name="Text 10"/>
          <p:cNvSpPr/>
          <p:nvPr/>
        </p:nvSpPr>
        <p:spPr>
          <a:xfrm>
            <a:off x="6949440" y="1920240"/>
            <a:ext cx="1645920" cy="731520"/>
          </a:xfrm>
          <a:prstGeom prst="rect">
            <a:avLst/>
          </a:prstGeom>
          <a:noFill/>
          <a:ln/>
        </p:spPr>
        <p:txBody>
          <a:bodyPr wrap="square" rtlCol="0" anchor="ctr"/>
          <a:lstStyle/>
          <a:p>
            <a:pPr algn="ctr" indent="0" marL="0">
              <a:buNone/>
            </a:pPr>
            <a:r>
              <a:rPr lang="en-US" sz="2800" dirty="0">
                <a:solidFill>
                  <a:srgbClr val="F5A623"/>
                </a:solidFill>
              </a:rPr>
              <a:t>→</a:t>
            </a:r>
            <a:endParaRPr lang="en-US" sz="2800" dirty="0"/>
          </a:p>
        </p:txBody>
      </p:sp>
      <p:sp>
        <p:nvSpPr>
          <p:cNvPr id="13" name="Shape 11"/>
          <p:cNvSpPr/>
          <p:nvPr/>
        </p:nvSpPr>
        <p:spPr>
          <a:xfrm>
            <a:off x="8686800" y="1371600"/>
            <a:ext cx="1828800" cy="1828800"/>
          </a:xfrm>
          <a:prstGeom prst="ellipse">
            <a:avLst/>
          </a:prstGeom>
          <a:solidFill>
            <a:srgbClr val="00A3E0"/>
          </a:solidFill>
          <a:ln w="12700">
            <a:solidFill>
              <a:srgbClr val="00A3E0"/>
            </a:solidFill>
            <a:prstDash val="solid"/>
          </a:ln>
        </p:spPr>
      </p:sp>
      <p:sp>
        <p:nvSpPr>
          <p:cNvPr id="14" name="Text 12"/>
          <p:cNvSpPr/>
          <p:nvPr/>
        </p:nvSpPr>
        <p:spPr>
          <a:xfrm>
            <a:off x="8686800" y="1554480"/>
            <a:ext cx="1828800" cy="731520"/>
          </a:xfrm>
          <a:prstGeom prst="rect">
            <a:avLst/>
          </a:prstGeom>
          <a:noFill/>
          <a:ln/>
        </p:spPr>
        <p:txBody>
          <a:bodyPr wrap="square" rtlCol="0" anchor="ctr"/>
          <a:lstStyle/>
          <a:p>
            <a:pPr algn="ctr" indent="0" marL="0">
              <a:buNone/>
            </a:pPr>
            <a:r>
              <a:rPr lang="en-US" sz="3200" dirty="0">
                <a:solidFill>
                  <a:srgbClr val="000000"/>
                </a:solidFill>
                <a:latin typeface="Calibri" pitchFamily="34" charset="0"/>
                <a:ea typeface="Calibri" pitchFamily="34" charset="-122"/>
                <a:cs typeface="Calibri" pitchFamily="34" charset="-120"/>
              </a:rPr>
              <a:t>🚀</a:t>
            </a:r>
            <a:endParaRPr lang="en-US" sz="3200" dirty="0"/>
          </a:p>
        </p:txBody>
      </p:sp>
      <p:sp>
        <p:nvSpPr>
          <p:cNvPr id="15" name="Text 13"/>
          <p:cNvSpPr/>
          <p:nvPr/>
        </p:nvSpPr>
        <p:spPr>
          <a:xfrm>
            <a:off x="8686800" y="2286000"/>
            <a:ext cx="1828800" cy="4572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Publish</a:t>
            </a:r>
            <a:endParaRPr lang="en-US" sz="2000" dirty="0"/>
          </a:p>
        </p:txBody>
      </p:sp>
      <p:sp>
        <p:nvSpPr>
          <p:cNvPr id="16" name="Text 14"/>
          <p:cNvSpPr/>
          <p:nvPr/>
        </p:nvSpPr>
        <p:spPr>
          <a:xfrm>
            <a:off x="8412480" y="3383280"/>
            <a:ext cx="2377440" cy="914400"/>
          </a:xfrm>
          <a:prstGeom prst="rect">
            <a:avLst/>
          </a:prstGeom>
          <a:noFill/>
          <a:ln/>
        </p:spPr>
        <p:txBody>
          <a:bodyPr wrap="square" rtlCol="0" anchor="ctr"/>
          <a:lstStyle/>
          <a:p>
            <a:pPr algn="ctr" indent="0" marL="0">
              <a:buNone/>
            </a:pPr>
            <a:r>
              <a:rPr lang="en-US" sz="1500" dirty="0">
                <a:solidFill>
                  <a:srgbClr val="0A1628"/>
                </a:solidFill>
                <a:latin typeface="Calibri" pitchFamily="34" charset="0"/>
                <a:ea typeface="Calibri" pitchFamily="34" charset="-122"/>
                <a:cs typeface="Calibri" pitchFamily="34" charset="-120"/>
              </a:rPr>
              <a:t>Teams bot, SharePoint,</a:t>
            </a:r>
            <a:endParaRPr lang="en-US" sz="1500" dirty="0"/>
          </a:p>
          <a:p>
            <a:pPr algn="ctr" indent="0" marL="0">
              <a:buNone/>
            </a:pPr>
            <a:r>
              <a:rPr lang="en-US" sz="1500" dirty="0">
                <a:solidFill>
                  <a:srgbClr val="0A1628"/>
                </a:solidFill>
                <a:latin typeface="Calibri" pitchFamily="34" charset="0"/>
                <a:ea typeface="Calibri" pitchFamily="34" charset="-122"/>
                <a:cs typeface="Calibri" pitchFamily="34" charset="-120"/>
              </a:rPr>
              <a:t>web chatbot</a:t>
            </a:r>
            <a:endParaRPr lang="en-US" sz="1500" dirty="0"/>
          </a:p>
        </p:txBody>
      </p:sp>
      <p:sp>
        <p:nvSpPr>
          <p:cNvPr id="17" name="Shape 15"/>
          <p:cNvSpPr/>
          <p:nvPr/>
        </p:nvSpPr>
        <p:spPr>
          <a:xfrm>
            <a:off x="457200" y="4846320"/>
            <a:ext cx="11247120" cy="1005840"/>
          </a:xfrm>
          <a:prstGeom prst="rect">
            <a:avLst/>
          </a:prstGeom>
          <a:solidFill>
            <a:srgbClr val="EBF8FF"/>
          </a:solidFill>
          <a:ln w="12700">
            <a:solidFill>
              <a:srgbClr val="00A3E0"/>
            </a:solidFill>
            <a:prstDash val="solid"/>
          </a:ln>
        </p:spPr>
      </p:sp>
      <p:sp>
        <p:nvSpPr>
          <p:cNvPr id="18" name="Shape 16"/>
          <p:cNvSpPr/>
          <p:nvPr/>
        </p:nvSpPr>
        <p:spPr>
          <a:xfrm>
            <a:off x="457200" y="4846320"/>
            <a:ext cx="73152" cy="1005840"/>
          </a:xfrm>
          <a:prstGeom prst="rect">
            <a:avLst/>
          </a:prstGeom>
          <a:solidFill>
            <a:srgbClr val="00A3E0"/>
          </a:solidFill>
          <a:ln w="12700">
            <a:solidFill>
              <a:srgbClr val="00A3E0"/>
            </a:solidFill>
            <a:prstDash val="solid"/>
          </a:ln>
        </p:spPr>
      </p:sp>
      <p:sp>
        <p:nvSpPr>
          <p:cNvPr id="19" name="Text 17"/>
          <p:cNvSpPr/>
          <p:nvPr/>
        </p:nvSpPr>
        <p:spPr>
          <a:xfrm>
            <a:off x="731520" y="4983480"/>
            <a:ext cx="10789920" cy="731520"/>
          </a:xfrm>
          <a:prstGeom prst="rect">
            <a:avLst/>
          </a:prstGeom>
          <a:noFill/>
          <a:ln/>
        </p:spPr>
        <p:txBody>
          <a:bodyPr wrap="square" rtlCol="0" anchor="ctr"/>
          <a:lstStyle/>
          <a:p>
            <a:pPr indent="0" marL="0">
              <a:buNone/>
            </a:pPr>
            <a:r>
              <a:rPr lang="en-US" sz="1600" dirty="0">
                <a:solidFill>
                  <a:srgbClr val="0A1628"/>
                </a:solidFill>
                <a:latin typeface="Calibri" pitchFamily="34" charset="0"/>
                <a:ea typeface="Calibri" pitchFamily="34" charset="-122"/>
                <a:cs typeface="Calibri" pitchFamily="34" charset="-120"/>
              </a:rPr>
              <a:t>The refinement trick: give it instructions → ask it to improve its own instructions → iterate 2–3 times → production-quality agent without prompt engineering expertise.</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320040" y="228600"/>
            <a:ext cx="1645920" cy="347472"/>
          </a:xfrm>
          <a:prstGeom prst="rect">
            <a:avLst/>
          </a:prstGeom>
          <a:solidFill>
            <a:srgbClr val="F5A623"/>
          </a:solidFill>
          <a:ln w="12700">
            <a:solidFill>
              <a:srgbClr val="F5A623"/>
            </a:solidFill>
            <a:prstDash val="solid"/>
          </a:ln>
        </p:spPr>
      </p:sp>
      <p:sp>
        <p:nvSpPr>
          <p:cNvPr id="3" name="Text 1"/>
          <p:cNvSpPr/>
          <p:nvPr/>
        </p:nvSpPr>
        <p:spPr>
          <a:xfrm>
            <a:off x="320040" y="228600"/>
            <a:ext cx="1645920" cy="347472"/>
          </a:xfrm>
          <a:prstGeom prst="rect">
            <a:avLst/>
          </a:prstGeom>
          <a:noFill/>
          <a:ln/>
        </p:spPr>
        <p:txBody>
          <a:bodyPr wrap="square" rtlCol="0" anchor="ctr"/>
          <a:lstStyle/>
          <a:p>
            <a:pPr algn="ctr" indent="0" marL="0">
              <a:buNone/>
            </a:pPr>
            <a:r>
              <a:rPr lang="en-US" sz="1300" b="1" dirty="0">
                <a:solidFill>
                  <a:srgbClr val="0A1628"/>
                </a:solidFill>
                <a:latin typeface="Calibri" pitchFamily="34" charset="0"/>
                <a:ea typeface="Calibri" pitchFamily="34" charset="-122"/>
                <a:cs typeface="Calibri" pitchFamily="34" charset="-120"/>
              </a:rPr>
              <a:t>[LIVE DEMO]</a:t>
            </a:r>
            <a:endParaRPr lang="en-US" sz="1300" dirty="0"/>
          </a:p>
        </p:txBody>
      </p:sp>
      <p:sp>
        <p:nvSpPr>
          <p:cNvPr id="4" name="Text 2"/>
          <p:cNvSpPr/>
          <p:nvPr/>
        </p:nvSpPr>
        <p:spPr>
          <a:xfrm>
            <a:off x="9601200" y="228600"/>
            <a:ext cx="2286000" cy="347472"/>
          </a:xfrm>
          <a:prstGeom prst="rect">
            <a:avLst/>
          </a:prstGeom>
          <a:noFill/>
          <a:ln/>
        </p:spPr>
        <p:txBody>
          <a:bodyPr wrap="square" rtlCol="0" anchor="ctr"/>
          <a:lstStyle/>
          <a:p>
            <a:pPr algn="r" indent="0" marL="0">
              <a:buNone/>
            </a:pPr>
            <a:r>
              <a:rPr lang="en-US" sz="1400" dirty="0">
                <a:solidFill>
                  <a:srgbClr val="00A3E0"/>
                </a:solidFill>
                <a:latin typeface="Calibri" pitchFamily="34" charset="0"/>
                <a:ea typeface="Calibri" pitchFamily="34" charset="-122"/>
                <a:cs typeface="Calibri" pitchFamily="34" charset="-120"/>
              </a:rPr>
              <a:t>Copilot Studio</a:t>
            </a:r>
            <a:endParaRPr lang="en-US" sz="1400" dirty="0"/>
          </a:p>
        </p:txBody>
      </p:sp>
      <p:sp>
        <p:nvSpPr>
          <p:cNvPr id="5" name="Text 3"/>
          <p:cNvSpPr/>
          <p:nvPr/>
        </p:nvSpPr>
        <p:spPr>
          <a:xfrm>
            <a:off x="457200" y="320040"/>
            <a:ext cx="11247120" cy="5029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Creating a Copilot Agent — Live Demo</a:t>
            </a:r>
            <a:endParaRPr lang="en-US" sz="2800" dirty="0"/>
          </a:p>
        </p:txBody>
      </p:sp>
      <p:sp>
        <p:nvSpPr>
          <p:cNvPr id="6" name="Shape 4"/>
          <p:cNvSpPr/>
          <p:nvPr/>
        </p:nvSpPr>
        <p:spPr>
          <a:xfrm>
            <a:off x="6080760" y="960120"/>
            <a:ext cx="36576" cy="5303520"/>
          </a:xfrm>
          <a:prstGeom prst="rect">
            <a:avLst/>
          </a:prstGeom>
          <a:solidFill>
            <a:srgbClr val="00A3E0"/>
          </a:solidFill>
          <a:ln w="12700">
            <a:solidFill>
              <a:srgbClr val="00A3E0"/>
            </a:solidFill>
            <a:prstDash val="solid"/>
          </a:ln>
        </p:spPr>
      </p:sp>
      <p:sp>
        <p:nvSpPr>
          <p:cNvPr id="7" name="Text 5"/>
          <p:cNvSpPr/>
          <p:nvPr/>
        </p:nvSpPr>
        <p:spPr>
          <a:xfrm>
            <a:off x="457200" y="1051560"/>
            <a:ext cx="5303520" cy="411480"/>
          </a:xfrm>
          <a:prstGeom prst="rect">
            <a:avLst/>
          </a:prstGeom>
          <a:noFill/>
          <a:ln/>
        </p:spPr>
        <p:txBody>
          <a:bodyPr wrap="square" rtlCol="0" anchor="ctr"/>
          <a:lstStyle/>
          <a:p>
            <a:pPr indent="0" marL="0">
              <a:buNone/>
            </a:pPr>
            <a:r>
              <a:rPr lang="en-US" sz="2000" b="1" dirty="0">
                <a:solidFill>
                  <a:srgbClr val="00A3E0"/>
                </a:solidFill>
                <a:latin typeface="Calibri" pitchFamily="34" charset="0"/>
                <a:ea typeface="Calibri" pitchFamily="34" charset="-122"/>
                <a:cs typeface="Calibri" pitchFamily="34" charset="-120"/>
              </a:rPr>
              <a:t>What we're doing</a:t>
            </a:r>
            <a:endParaRPr lang="en-US" sz="2000" dirty="0"/>
          </a:p>
        </p:txBody>
      </p:sp>
      <p:sp>
        <p:nvSpPr>
          <p:cNvPr id="8" name="Text 6"/>
          <p:cNvSpPr/>
          <p:nvPr/>
        </p:nvSpPr>
        <p:spPr>
          <a:xfrm>
            <a:off x="457200" y="1554480"/>
            <a:ext cx="5303520" cy="502920"/>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 Create new FM&amp;I Pipeline Assistant agent</a:t>
            </a:r>
            <a:endParaRPr lang="en-US" sz="1600" dirty="0"/>
          </a:p>
        </p:txBody>
      </p:sp>
      <p:sp>
        <p:nvSpPr>
          <p:cNvPr id="9" name="Text 7"/>
          <p:cNvSpPr/>
          <p:nvPr/>
        </p:nvSpPr>
        <p:spPr>
          <a:xfrm>
            <a:off x="457200" y="2148840"/>
            <a:ext cx="5303520" cy="502920"/>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 Give it initial FM&amp;I pipeline Q&amp;A instructions</a:t>
            </a:r>
            <a:endParaRPr lang="en-US" sz="1600" dirty="0"/>
          </a:p>
        </p:txBody>
      </p:sp>
      <p:sp>
        <p:nvSpPr>
          <p:cNvPr id="10" name="Text 8"/>
          <p:cNvSpPr/>
          <p:nvPr/>
        </p:nvSpPr>
        <p:spPr>
          <a:xfrm>
            <a:off x="457200" y="2743200"/>
            <a:ext cx="5303520" cy="502920"/>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 Ask it: 'How can you improve your own instructions?'</a:t>
            </a:r>
            <a:endParaRPr lang="en-US" sz="1600" dirty="0"/>
          </a:p>
        </p:txBody>
      </p:sp>
      <p:sp>
        <p:nvSpPr>
          <p:cNvPr id="11" name="Text 9"/>
          <p:cNvSpPr/>
          <p:nvPr/>
        </p:nvSpPr>
        <p:spPr>
          <a:xfrm>
            <a:off x="457200" y="3337560"/>
            <a:ext cx="5303520" cy="502920"/>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 Paste improved instructions back — compare quality</a:t>
            </a:r>
            <a:endParaRPr lang="en-US" sz="1600" dirty="0"/>
          </a:p>
        </p:txBody>
      </p:sp>
      <p:sp>
        <p:nvSpPr>
          <p:cNvPr id="12" name="Text 10"/>
          <p:cNvSpPr/>
          <p:nvPr/>
        </p:nvSpPr>
        <p:spPr>
          <a:xfrm>
            <a:off x="6400800" y="1051560"/>
            <a:ext cx="5303520" cy="411480"/>
          </a:xfrm>
          <a:prstGeom prst="rect">
            <a:avLst/>
          </a:prstGeom>
          <a:noFill/>
          <a:ln/>
        </p:spPr>
        <p:txBody>
          <a:bodyPr wrap="square" rtlCol="0" anchor="ctr"/>
          <a:lstStyle/>
          <a:p>
            <a:pPr indent="0" marL="0">
              <a:buNone/>
            </a:pPr>
            <a:r>
              <a:rPr lang="en-US" sz="2000" b="1" dirty="0">
                <a:solidFill>
                  <a:srgbClr val="F5A623"/>
                </a:solidFill>
                <a:latin typeface="Calibri" pitchFamily="34" charset="0"/>
                <a:ea typeface="Calibri" pitchFamily="34" charset="-122"/>
                <a:cs typeface="Calibri" pitchFamily="34" charset="-120"/>
              </a:rPr>
              <a:t>What to look for</a:t>
            </a:r>
            <a:endParaRPr lang="en-US" sz="2000" dirty="0"/>
          </a:p>
        </p:txBody>
      </p:sp>
      <p:sp>
        <p:nvSpPr>
          <p:cNvPr id="13" name="Text 11"/>
          <p:cNvSpPr/>
          <p:nvPr/>
        </p:nvSpPr>
        <p:spPr>
          <a:xfrm>
            <a:off x="6400800" y="1554480"/>
            <a:ext cx="5303520" cy="502920"/>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 Quality gap: generic vs well-instructed response</a:t>
            </a:r>
            <a:endParaRPr lang="en-US" sz="1600" dirty="0"/>
          </a:p>
        </p:txBody>
      </p:sp>
      <p:sp>
        <p:nvSpPr>
          <p:cNvPr id="14" name="Text 12"/>
          <p:cNvSpPr/>
          <p:nvPr/>
        </p:nvSpPr>
        <p:spPr>
          <a:xfrm>
            <a:off x="6400800" y="2148840"/>
            <a:ext cx="5303520" cy="502920"/>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 How the agent refines its own specification</a:t>
            </a:r>
            <a:endParaRPr lang="en-US" sz="1600" dirty="0"/>
          </a:p>
        </p:txBody>
      </p:sp>
      <p:sp>
        <p:nvSpPr>
          <p:cNvPr id="15" name="Text 13"/>
          <p:cNvSpPr/>
          <p:nvPr/>
        </p:nvSpPr>
        <p:spPr>
          <a:xfrm>
            <a:off x="6400800" y="2743200"/>
            <a:ext cx="5303520" cy="502920"/>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 Knowledge source connection possibilities</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indent="0" marL="0">
              <a:buNone/>
            </a:pPr>
            <a:r>
              <a:rPr lang="en-US" sz="2800" b="1" dirty="0">
                <a:solidFill>
                  <a:srgbClr val="0A1628"/>
                </a:solidFill>
                <a:latin typeface="Calibri" pitchFamily="34" charset="0"/>
                <a:ea typeface="Calibri" pitchFamily="34" charset="-122"/>
                <a:cs typeface="Calibri" pitchFamily="34" charset="-120"/>
              </a:rPr>
              <a:t>Microsoft Copilot Roadmap</a:t>
            </a:r>
            <a:endParaRPr lang="en-US" sz="2800" dirty="0"/>
          </a:p>
        </p:txBody>
      </p:sp>
      <p:sp>
        <p:nvSpPr>
          <p:cNvPr id="3" name="Text 1"/>
          <p:cNvSpPr/>
          <p:nvPr/>
        </p:nvSpPr>
        <p:spPr>
          <a:xfrm>
            <a:off x="457200" y="1371600"/>
            <a:ext cx="11247120" cy="457200"/>
          </a:xfrm>
          <a:prstGeom prst="rect">
            <a:avLst/>
          </a:prstGeom>
          <a:noFill/>
          <a:ln/>
        </p:spPr>
        <p:txBody>
          <a:bodyPr wrap="square" rtlCol="0" anchor="ctr"/>
          <a:lstStyle/>
          <a:p>
            <a:pPr indent="0" marL="0">
              <a:buNone/>
            </a:pPr>
            <a:r>
              <a:rPr lang="en-US" sz="1600" dirty="0">
                <a:solidFill>
                  <a:srgbClr val="64748B"/>
                </a:solidFill>
                <a:latin typeface="Calibri" pitchFamily="34" charset="0"/>
                <a:ea typeface="Calibri" pitchFamily="34" charset="-122"/>
                <a:cs typeface="Calibri" pitchFamily="34" charset="-120"/>
              </a:rPr>
              <a:t>See speaker notes for full content.</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indent="0" marL="0">
              <a:buNone/>
            </a:pPr>
            <a:r>
              <a:rPr lang="en-US" sz="2800" b="1" dirty="0">
                <a:solidFill>
                  <a:srgbClr val="0A1628"/>
                </a:solidFill>
                <a:latin typeface="Calibri" pitchFamily="34" charset="0"/>
                <a:ea typeface="Calibri" pitchFamily="34" charset="-122"/>
                <a:cs typeface="Calibri" pitchFamily="34" charset="-120"/>
              </a:rPr>
              <a:t>GitHub Copilot vs Cursor</a:t>
            </a:r>
            <a:endParaRPr lang="en-US" sz="2800" dirty="0"/>
          </a:p>
        </p:txBody>
      </p:sp>
      <p:sp>
        <p:nvSpPr>
          <p:cNvPr id="3" name="Text 1"/>
          <p:cNvSpPr/>
          <p:nvPr/>
        </p:nvSpPr>
        <p:spPr>
          <a:xfrm>
            <a:off x="457200" y="1371600"/>
            <a:ext cx="11247120" cy="457200"/>
          </a:xfrm>
          <a:prstGeom prst="rect">
            <a:avLst/>
          </a:prstGeom>
          <a:noFill/>
          <a:ln/>
        </p:spPr>
        <p:txBody>
          <a:bodyPr wrap="square" rtlCol="0" anchor="ctr"/>
          <a:lstStyle/>
          <a:p>
            <a:pPr indent="0" marL="0">
              <a:buNone/>
            </a:pPr>
            <a:r>
              <a:rPr lang="en-US" sz="1600" dirty="0">
                <a:solidFill>
                  <a:srgbClr val="64748B"/>
                </a:solidFill>
                <a:latin typeface="Calibri" pitchFamily="34" charset="0"/>
                <a:ea typeface="Calibri" pitchFamily="34" charset="-122"/>
                <a:cs typeface="Calibri" pitchFamily="34" charset="-120"/>
              </a:rPr>
              <a:t>See speaker notes for full content.</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indent="0" marL="0">
              <a:buNone/>
            </a:pPr>
            <a:r>
              <a:rPr lang="en-US" sz="2800" b="1" dirty="0">
                <a:solidFill>
                  <a:srgbClr val="0A1628"/>
                </a:solidFill>
                <a:latin typeface="Calibri" pitchFamily="34" charset="0"/>
                <a:ea typeface="Calibri" pitchFamily="34" charset="-122"/>
                <a:cs typeface="Calibri" pitchFamily="34" charset="-120"/>
              </a:rPr>
              <a:t>Beyond Autocomplete</a:t>
            </a:r>
            <a:endParaRPr lang="en-US" sz="2800" dirty="0"/>
          </a:p>
        </p:txBody>
      </p:sp>
      <p:sp>
        <p:nvSpPr>
          <p:cNvPr id="3" name="Text 1"/>
          <p:cNvSpPr/>
          <p:nvPr/>
        </p:nvSpPr>
        <p:spPr>
          <a:xfrm>
            <a:off x="457200" y="1371600"/>
            <a:ext cx="11247120" cy="457200"/>
          </a:xfrm>
          <a:prstGeom prst="rect">
            <a:avLst/>
          </a:prstGeom>
          <a:noFill/>
          <a:ln/>
        </p:spPr>
        <p:txBody>
          <a:bodyPr wrap="square" rtlCol="0" anchor="ctr"/>
          <a:lstStyle/>
          <a:p>
            <a:pPr indent="0" marL="0">
              <a:buNone/>
            </a:pPr>
            <a:r>
              <a:rPr lang="en-US" sz="1600" dirty="0">
                <a:solidFill>
                  <a:srgbClr val="64748B"/>
                </a:solidFill>
                <a:latin typeface="Calibri" pitchFamily="34" charset="0"/>
                <a:ea typeface="Calibri" pitchFamily="34" charset="-122"/>
                <a:cs typeface="Calibri" pitchFamily="34" charset="-120"/>
              </a:rPr>
              <a:t>See speaker notes for full content.</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indent="0" marL="0">
              <a:buNone/>
            </a:pPr>
            <a:r>
              <a:rPr lang="en-US" sz="2800" b="1" dirty="0">
                <a:solidFill>
                  <a:srgbClr val="0A1628"/>
                </a:solidFill>
                <a:latin typeface="Calibri" pitchFamily="34" charset="0"/>
                <a:ea typeface="Calibri" pitchFamily="34" charset="-122"/>
                <a:cs typeface="Calibri" pitchFamily="34" charset="-120"/>
              </a:rPr>
              <a:t>Template Project Setup</a:t>
            </a:r>
            <a:endParaRPr lang="en-US" sz="2800" dirty="0"/>
          </a:p>
        </p:txBody>
      </p:sp>
      <p:sp>
        <p:nvSpPr>
          <p:cNvPr id="3" name="Text 1"/>
          <p:cNvSpPr/>
          <p:nvPr/>
        </p:nvSpPr>
        <p:spPr>
          <a:xfrm>
            <a:off x="457200" y="1371600"/>
            <a:ext cx="11247120" cy="457200"/>
          </a:xfrm>
          <a:prstGeom prst="rect">
            <a:avLst/>
          </a:prstGeom>
          <a:noFill/>
          <a:ln/>
        </p:spPr>
        <p:txBody>
          <a:bodyPr wrap="square" rtlCol="0" anchor="ctr"/>
          <a:lstStyle/>
          <a:p>
            <a:pPr indent="0" marL="0">
              <a:buNone/>
            </a:pPr>
            <a:r>
              <a:rPr lang="en-US" sz="1600" dirty="0">
                <a:solidFill>
                  <a:srgbClr val="64748B"/>
                </a:solidFill>
                <a:latin typeface="Calibri" pitchFamily="34" charset="0"/>
                <a:ea typeface="Calibri" pitchFamily="34" charset="-122"/>
                <a:cs typeface="Calibri" pitchFamily="34" charset="-120"/>
              </a:rPr>
              <a:t>See speaker notes for full content.</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indent="0" marL="0">
              <a:buNone/>
            </a:pPr>
            <a:r>
              <a:rPr lang="en-US" sz="2800" b="1" dirty="0">
                <a:solidFill>
                  <a:srgbClr val="0A1628"/>
                </a:solidFill>
                <a:latin typeface="Calibri" pitchFamily="34" charset="0"/>
                <a:ea typeface="Calibri" pitchFamily="34" charset="-122"/>
                <a:cs typeface="Calibri" pitchFamily="34" charset="-120"/>
              </a:rPr>
              <a:t>Ask / Agent / Plan Modes</a:t>
            </a:r>
            <a:endParaRPr lang="en-US" sz="2800" dirty="0"/>
          </a:p>
        </p:txBody>
      </p:sp>
      <p:sp>
        <p:nvSpPr>
          <p:cNvPr id="3" name="Text 1"/>
          <p:cNvSpPr/>
          <p:nvPr/>
        </p:nvSpPr>
        <p:spPr>
          <a:xfrm>
            <a:off x="457200" y="1371600"/>
            <a:ext cx="11247120" cy="457200"/>
          </a:xfrm>
          <a:prstGeom prst="rect">
            <a:avLst/>
          </a:prstGeom>
          <a:noFill/>
          <a:ln/>
        </p:spPr>
        <p:txBody>
          <a:bodyPr wrap="square" rtlCol="0" anchor="ctr"/>
          <a:lstStyle/>
          <a:p>
            <a:pPr indent="0" marL="0">
              <a:buNone/>
            </a:pPr>
            <a:r>
              <a:rPr lang="en-US" sz="1600" dirty="0">
                <a:solidFill>
                  <a:srgbClr val="64748B"/>
                </a:solidFill>
                <a:latin typeface="Calibri" pitchFamily="34" charset="0"/>
                <a:ea typeface="Calibri" pitchFamily="34" charset="-122"/>
                <a:cs typeface="Calibri" pitchFamily="34" charset="-120"/>
              </a:rPr>
              <a:t>See speaker notes for full content.</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indent="0" marL="0">
              <a:buNone/>
            </a:pPr>
            <a:r>
              <a:rPr lang="en-US" sz="2800" b="1" dirty="0">
                <a:solidFill>
                  <a:srgbClr val="0A1628"/>
                </a:solidFill>
                <a:latin typeface="Calibri" pitchFamily="34" charset="0"/>
                <a:ea typeface="Calibri" pitchFamily="34" charset="-122"/>
                <a:cs typeface="Calibri" pitchFamily="34" charset="-120"/>
              </a:rPr>
              <a:t>Prompting: The Multiplier</a:t>
            </a:r>
            <a:endParaRPr lang="en-US" sz="2800" dirty="0"/>
          </a:p>
        </p:txBody>
      </p:sp>
      <p:sp>
        <p:nvSpPr>
          <p:cNvPr id="3" name="Text 1"/>
          <p:cNvSpPr/>
          <p:nvPr/>
        </p:nvSpPr>
        <p:spPr>
          <a:xfrm>
            <a:off x="457200" y="1371600"/>
            <a:ext cx="11247120" cy="457200"/>
          </a:xfrm>
          <a:prstGeom prst="rect">
            <a:avLst/>
          </a:prstGeom>
          <a:noFill/>
          <a:ln/>
        </p:spPr>
        <p:txBody>
          <a:bodyPr wrap="square" rtlCol="0" anchor="ctr"/>
          <a:lstStyle/>
          <a:p>
            <a:pPr indent="0" marL="0">
              <a:buNone/>
            </a:pPr>
            <a:r>
              <a:rPr lang="en-US" sz="1600" dirty="0">
                <a:solidFill>
                  <a:srgbClr val="64748B"/>
                </a:solidFill>
                <a:latin typeface="Calibri" pitchFamily="34" charset="0"/>
                <a:ea typeface="Calibri" pitchFamily="34" charset="-122"/>
                <a:cs typeface="Calibri" pitchFamily="34" charset="-120"/>
              </a:rPr>
              <a:t>See speaker notes for full content.</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indent="0" marL="0">
              <a:buNone/>
            </a:pPr>
            <a:r>
              <a:rPr lang="en-US" sz="2800" b="1" dirty="0">
                <a:solidFill>
                  <a:srgbClr val="0A1628"/>
                </a:solidFill>
                <a:latin typeface="Calibri" pitchFamily="34" charset="0"/>
                <a:ea typeface="Calibri" pitchFamily="34" charset="-122"/>
                <a:cs typeface="Calibri" pitchFamily="34" charset="-120"/>
              </a:rPr>
              <a:t>Cursor Advanced: Background Agents &amp; Git Worktrees</a:t>
            </a:r>
            <a:endParaRPr lang="en-US" sz="2800" dirty="0"/>
          </a:p>
        </p:txBody>
      </p:sp>
      <p:sp>
        <p:nvSpPr>
          <p:cNvPr id="3" name="Text 1"/>
          <p:cNvSpPr/>
          <p:nvPr/>
        </p:nvSpPr>
        <p:spPr>
          <a:xfrm>
            <a:off x="457200" y="1371600"/>
            <a:ext cx="11247120" cy="457200"/>
          </a:xfrm>
          <a:prstGeom prst="rect">
            <a:avLst/>
          </a:prstGeom>
          <a:noFill/>
          <a:ln/>
        </p:spPr>
        <p:txBody>
          <a:bodyPr wrap="square" rtlCol="0" anchor="ctr"/>
          <a:lstStyle/>
          <a:p>
            <a:pPr indent="0" marL="0">
              <a:buNone/>
            </a:pPr>
            <a:r>
              <a:rPr lang="en-US" sz="1600" dirty="0">
                <a:solidFill>
                  <a:srgbClr val="64748B"/>
                </a:solidFill>
                <a:latin typeface="Calibri" pitchFamily="34" charset="0"/>
                <a:ea typeface="Calibri" pitchFamily="34" charset="-122"/>
                <a:cs typeface="Calibri" pitchFamily="34" charset="-120"/>
              </a:rPr>
              <a:t>See speaker notes for full content.</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Cursor Advanced: @ Context + Multi-Agent</a:t>
            </a:r>
            <a:endParaRPr lang="en-US" sz="2800" dirty="0"/>
          </a:p>
        </p:txBody>
      </p:sp>
      <p:sp>
        <p:nvSpPr>
          <p:cNvPr id="3" name="Text 1"/>
          <p:cNvSpPr/>
          <p:nvPr/>
        </p:nvSpPr>
        <p:spPr>
          <a:xfrm>
            <a:off x="457200" y="1371600"/>
            <a:ext cx="11247120" cy="457200"/>
          </a:xfrm>
          <a:prstGeom prst="rect">
            <a:avLst/>
          </a:prstGeom>
          <a:noFill/>
          <a:ln/>
        </p:spPr>
        <p:txBody>
          <a:bodyPr wrap="square" rtlCol="0" anchor="ctr"/>
          <a:lstStyle/>
          <a:p>
            <a:pPr indent="0" marL="0">
              <a:buNone/>
            </a:pPr>
            <a:r>
              <a:rPr lang="en-US" sz="1600" dirty="0">
                <a:solidFill>
                  <a:srgbClr val="64748B"/>
                </a:solidFill>
                <a:latin typeface="Calibri" pitchFamily="34" charset="0"/>
                <a:ea typeface="Calibri" pitchFamily="34" charset="-122"/>
                <a:cs typeface="Calibri" pitchFamily="34" charset="-120"/>
              </a:rPr>
              <a:t>See speaker notes for full content.</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Mid-Session Core Message</a:t>
            </a:r>
            <a:endParaRPr lang="en-US" sz="2800" dirty="0"/>
          </a:p>
        </p:txBody>
      </p:sp>
      <p:sp>
        <p:nvSpPr>
          <p:cNvPr id="3" name="Text 1"/>
          <p:cNvSpPr/>
          <p:nvPr/>
        </p:nvSpPr>
        <p:spPr>
          <a:xfrm>
            <a:off x="457200" y="1371600"/>
            <a:ext cx="11247120" cy="457200"/>
          </a:xfrm>
          <a:prstGeom prst="rect">
            <a:avLst/>
          </a:prstGeom>
          <a:noFill/>
          <a:ln/>
        </p:spPr>
        <p:txBody>
          <a:bodyPr wrap="square" rtlCol="0" anchor="ctr"/>
          <a:lstStyle/>
          <a:p>
            <a:pPr indent="0" marL="0">
              <a:buNone/>
            </a:pPr>
            <a:r>
              <a:rPr lang="en-US" sz="1600" dirty="0">
                <a:solidFill>
                  <a:srgbClr val="64748B"/>
                </a:solidFill>
                <a:latin typeface="Calibri" pitchFamily="34" charset="0"/>
                <a:ea typeface="Calibri" pitchFamily="34" charset="-122"/>
                <a:cs typeface="Calibri" pitchFamily="34" charset="-120"/>
              </a:rPr>
              <a:t>See speaker notes for full content.</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indent="0" marL="0">
              <a:buNone/>
            </a:pPr>
            <a:r>
              <a:rPr lang="en-US" sz="2800" b="1" dirty="0">
                <a:solidFill>
                  <a:srgbClr val="0A1628"/>
                </a:solidFill>
                <a:latin typeface="Calibri" pitchFamily="34" charset="0"/>
                <a:ea typeface="Calibri" pitchFamily="34" charset="-122"/>
                <a:cs typeface="Calibri" pitchFamily="34" charset="-120"/>
              </a:rPr>
              <a:t>GitHub Copilot: Advanced Features</a:t>
            </a:r>
            <a:endParaRPr lang="en-US" sz="2800" dirty="0"/>
          </a:p>
        </p:txBody>
      </p:sp>
      <p:sp>
        <p:nvSpPr>
          <p:cNvPr id="3" name="Text 1"/>
          <p:cNvSpPr/>
          <p:nvPr/>
        </p:nvSpPr>
        <p:spPr>
          <a:xfrm>
            <a:off x="457200" y="1371600"/>
            <a:ext cx="11247120" cy="457200"/>
          </a:xfrm>
          <a:prstGeom prst="rect">
            <a:avLst/>
          </a:prstGeom>
          <a:noFill/>
          <a:ln/>
        </p:spPr>
        <p:txBody>
          <a:bodyPr wrap="square" rtlCol="0" anchor="ctr"/>
          <a:lstStyle/>
          <a:p>
            <a:pPr indent="0" marL="0">
              <a:buNone/>
            </a:pPr>
            <a:r>
              <a:rPr lang="en-US" sz="1600" dirty="0">
                <a:solidFill>
                  <a:srgbClr val="64748B"/>
                </a:solidFill>
                <a:latin typeface="Calibri" pitchFamily="34" charset="0"/>
                <a:ea typeface="Calibri" pitchFamily="34" charset="-122"/>
                <a:cs typeface="Calibri" pitchFamily="34" charset="-120"/>
              </a:rPr>
              <a:t>See speaker notes for full content.</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indent="0" marL="0">
              <a:buNone/>
            </a:pPr>
            <a:r>
              <a:rPr lang="en-US" sz="2800" b="1" dirty="0">
                <a:solidFill>
                  <a:srgbClr val="0A1628"/>
                </a:solidFill>
                <a:latin typeface="Calibri" pitchFamily="34" charset="0"/>
                <a:ea typeface="Calibri" pitchFamily="34" charset="-122"/>
                <a:cs typeface="Calibri" pitchFamily="34" charset="-120"/>
              </a:rPr>
              <a:t>GitHub Copilot: Future Roadmap</a:t>
            </a:r>
            <a:endParaRPr lang="en-US" sz="2800" dirty="0"/>
          </a:p>
        </p:txBody>
      </p:sp>
      <p:sp>
        <p:nvSpPr>
          <p:cNvPr id="3" name="Text 1"/>
          <p:cNvSpPr/>
          <p:nvPr/>
        </p:nvSpPr>
        <p:spPr>
          <a:xfrm>
            <a:off x="457200" y="1371600"/>
            <a:ext cx="11247120" cy="457200"/>
          </a:xfrm>
          <a:prstGeom prst="rect">
            <a:avLst/>
          </a:prstGeom>
          <a:noFill/>
          <a:ln/>
        </p:spPr>
        <p:txBody>
          <a:bodyPr wrap="square" rtlCol="0" anchor="ctr"/>
          <a:lstStyle/>
          <a:p>
            <a:pPr indent="0" marL="0">
              <a:buNone/>
            </a:pPr>
            <a:r>
              <a:rPr lang="en-US" sz="1600" dirty="0">
                <a:solidFill>
                  <a:srgbClr val="64748B"/>
                </a:solidFill>
                <a:latin typeface="Calibri" pitchFamily="34" charset="0"/>
                <a:ea typeface="Calibri" pitchFamily="34" charset="-122"/>
                <a:cs typeface="Calibri" pitchFamily="34" charset="-120"/>
              </a:rPr>
              <a:t>See speaker notes for full content.</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indent="0" marL="0">
              <a:buNone/>
            </a:pPr>
            <a:r>
              <a:rPr lang="en-US" sz="2800" b="1" dirty="0">
                <a:solidFill>
                  <a:srgbClr val="0A1628"/>
                </a:solidFill>
                <a:latin typeface="Calibri" pitchFamily="34" charset="0"/>
                <a:ea typeface="Calibri" pitchFamily="34" charset="-122"/>
                <a:cs typeface="Calibri" pitchFamily="34" charset="-120"/>
              </a:rPr>
              <a:t>Cursor: Future Roadmap</a:t>
            </a:r>
            <a:endParaRPr lang="en-US" sz="2800" dirty="0"/>
          </a:p>
        </p:txBody>
      </p:sp>
      <p:sp>
        <p:nvSpPr>
          <p:cNvPr id="3" name="Text 1"/>
          <p:cNvSpPr/>
          <p:nvPr/>
        </p:nvSpPr>
        <p:spPr>
          <a:xfrm>
            <a:off x="457200" y="1371600"/>
            <a:ext cx="11247120" cy="457200"/>
          </a:xfrm>
          <a:prstGeom prst="rect">
            <a:avLst/>
          </a:prstGeom>
          <a:noFill/>
          <a:ln/>
        </p:spPr>
        <p:txBody>
          <a:bodyPr wrap="square" rtlCol="0" anchor="ctr"/>
          <a:lstStyle/>
          <a:p>
            <a:pPr indent="0" marL="0">
              <a:buNone/>
            </a:pPr>
            <a:r>
              <a:rPr lang="en-US" sz="1600" dirty="0">
                <a:solidFill>
                  <a:srgbClr val="64748B"/>
                </a:solidFill>
                <a:latin typeface="Calibri" pitchFamily="34" charset="0"/>
                <a:ea typeface="Calibri" pitchFamily="34" charset="-122"/>
                <a:cs typeface="Calibri" pitchFamily="34" charset="-120"/>
              </a:rPr>
              <a:t>See speaker notes for full content.</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indent="0" marL="0">
              <a:buNone/>
            </a:pPr>
            <a:r>
              <a:rPr lang="en-US" sz="2800" b="1" dirty="0">
                <a:solidFill>
                  <a:srgbClr val="0A1628"/>
                </a:solidFill>
                <a:latin typeface="Calibri" pitchFamily="34" charset="0"/>
                <a:ea typeface="Calibri" pitchFamily="34" charset="-122"/>
                <a:cs typeface="Calibri" pitchFamily="34" charset="-120"/>
              </a:rPr>
              <a:t>Section 4 Summary: Your Daily Driver Setup</a:t>
            </a:r>
            <a:endParaRPr lang="en-US" sz="2800" dirty="0"/>
          </a:p>
        </p:txBody>
      </p:sp>
      <p:sp>
        <p:nvSpPr>
          <p:cNvPr id="3" name="Text 1"/>
          <p:cNvSpPr/>
          <p:nvPr/>
        </p:nvSpPr>
        <p:spPr>
          <a:xfrm>
            <a:off x="457200" y="1371600"/>
            <a:ext cx="11247120" cy="457200"/>
          </a:xfrm>
          <a:prstGeom prst="rect">
            <a:avLst/>
          </a:prstGeom>
          <a:noFill/>
          <a:ln/>
        </p:spPr>
        <p:txBody>
          <a:bodyPr wrap="square" rtlCol="0" anchor="ctr"/>
          <a:lstStyle/>
          <a:p>
            <a:pPr indent="0" marL="0">
              <a:buNone/>
            </a:pPr>
            <a:r>
              <a:rPr lang="en-US" sz="1600" dirty="0">
                <a:solidFill>
                  <a:srgbClr val="64748B"/>
                </a:solidFill>
                <a:latin typeface="Calibri" pitchFamily="34" charset="0"/>
                <a:ea typeface="Calibri" pitchFamily="34" charset="-122"/>
                <a:cs typeface="Calibri" pitchFamily="34" charset="-120"/>
              </a:rPr>
              <a:t>See speaker notes for full content.</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E3A5F"/>
        </a:solidFill>
      </p:bgPr>
    </p:bg>
    <p:spTree>
      <p:nvGrpSpPr>
        <p:cNvPr id="1" name=""/>
        <p:cNvGrpSpPr/>
        <p:nvPr/>
      </p:nvGrpSpPr>
      <p:grpSpPr>
        <a:xfrm>
          <a:off x="0" y="0"/>
          <a:ext cx="0" cy="0"/>
          <a:chOff x="0" y="0"/>
          <a:chExt cx="0" cy="0"/>
        </a:xfrm>
      </p:grpSpPr>
      <p:sp>
        <p:nvSpPr>
          <p:cNvPr id="2" name="Text 0"/>
          <p:cNvSpPr/>
          <p:nvPr/>
        </p:nvSpPr>
        <p:spPr>
          <a:xfrm>
            <a:off x="8686800" y="3200400"/>
            <a:ext cx="3474720" cy="3200400"/>
          </a:xfrm>
          <a:prstGeom prst="rect">
            <a:avLst/>
          </a:prstGeom>
          <a:noFill/>
          <a:ln/>
        </p:spPr>
        <p:txBody>
          <a:bodyPr wrap="square" rtlCol="0" anchor="ctr"/>
          <a:lstStyle/>
          <a:p>
            <a:pPr algn="r" indent="0" marL="0">
              <a:buNone/>
            </a:pPr>
            <a:r>
              <a:rPr lang="en-US" sz="18000" b="1" dirty="0">
                <a:solidFill>
                  <a:srgbClr val="00A3E0">
                    <a:alpha val="20000"/>
                  </a:srgbClr>
                </a:solidFill>
                <a:latin typeface="Calibri" pitchFamily="34" charset="0"/>
                <a:ea typeface="Calibri" pitchFamily="34" charset="-122"/>
                <a:cs typeface="Calibri" pitchFamily="34" charset="-120"/>
              </a:rPr>
              <a:t>05</a:t>
            </a:r>
            <a:endParaRPr lang="en-US" sz="18000" dirty="0"/>
          </a:p>
        </p:txBody>
      </p:sp>
      <p:sp>
        <p:nvSpPr>
          <p:cNvPr id="3" name="Shape 1"/>
          <p:cNvSpPr/>
          <p:nvPr/>
        </p:nvSpPr>
        <p:spPr>
          <a:xfrm>
            <a:off x="548640" y="2194560"/>
            <a:ext cx="73152" cy="1463040"/>
          </a:xfrm>
          <a:prstGeom prst="rect">
            <a:avLst/>
          </a:prstGeom>
          <a:solidFill>
            <a:srgbClr val="00A3E0"/>
          </a:solidFill>
          <a:ln w="12700">
            <a:solidFill>
              <a:srgbClr val="00A3E0"/>
            </a:solidFill>
            <a:prstDash val="solid"/>
          </a:ln>
        </p:spPr>
      </p:sp>
      <p:sp>
        <p:nvSpPr>
          <p:cNvPr id="4" name="Text 2"/>
          <p:cNvSpPr/>
          <p:nvPr/>
        </p:nvSpPr>
        <p:spPr>
          <a:xfrm>
            <a:off x="777240" y="2286000"/>
            <a:ext cx="8229600" cy="6400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Section Divider: The Model Landscape</a:t>
            </a:r>
            <a:endParaRPr lang="en-US" sz="3200" dirty="0"/>
          </a:p>
        </p:txBody>
      </p:sp>
      <p:sp>
        <p:nvSpPr>
          <p:cNvPr id="5" name="Text 3"/>
          <p:cNvSpPr/>
          <p:nvPr/>
        </p:nvSpPr>
        <p:spPr>
          <a:xfrm>
            <a:off x="777240" y="3017520"/>
            <a:ext cx="8229600" cy="45720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Which model for which task — and why the answer changes quarterly</a:t>
            </a:r>
            <a:endParaRPr lang="en-US" sz="1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indent="0" marL="0">
              <a:buNone/>
            </a:pPr>
            <a:r>
              <a:rPr lang="en-US" sz="2800" b="1" dirty="0">
                <a:solidFill>
                  <a:srgbClr val="0A1628"/>
                </a:solidFill>
                <a:latin typeface="Calibri" pitchFamily="34" charset="0"/>
                <a:ea typeface="Calibri" pitchFamily="34" charset="-122"/>
                <a:cs typeface="Calibri" pitchFamily="34" charset="-120"/>
              </a:rPr>
              <a:t>Current Models: Strengths at a Glance</a:t>
            </a:r>
            <a:endParaRPr lang="en-US" sz="2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indent="0" marL="0">
              <a:buNone/>
            </a:pPr>
            <a:r>
              <a:rPr lang="en-US" sz="2800" b="1" dirty="0">
                <a:solidFill>
                  <a:srgbClr val="0A1628"/>
                </a:solidFill>
                <a:latin typeface="Calibri" pitchFamily="34" charset="0"/>
                <a:ea typeface="Calibri" pitchFamily="34" charset="-122"/>
                <a:cs typeface="Calibri" pitchFamily="34" charset="-120"/>
              </a:rPr>
              <a:t>The Model Decision Framework</a:t>
            </a:r>
            <a:endParaRPr lang="en-US" sz="2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indent="0" marL="0">
              <a:buNone/>
            </a:pPr>
            <a:r>
              <a:rPr lang="en-US" sz="2800" b="1" dirty="0">
                <a:solidFill>
                  <a:srgbClr val="0A1628"/>
                </a:solidFill>
                <a:latin typeface="Calibri" pitchFamily="34" charset="0"/>
                <a:ea typeface="Calibri" pitchFamily="34" charset="-122"/>
                <a:cs typeface="Calibri" pitchFamily="34" charset="-120"/>
              </a:rPr>
              <a:t>Token Cost Awareness</a:t>
            </a:r>
            <a:endParaRPr lang="en-US" sz="2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indent="0" marL="0">
              <a:buNone/>
            </a:pPr>
            <a:r>
              <a:rPr lang="en-US" sz="2800" b="1" dirty="0">
                <a:solidFill>
                  <a:srgbClr val="0A1628"/>
                </a:solidFill>
                <a:latin typeface="Calibri" pitchFamily="34" charset="0"/>
                <a:ea typeface="Calibri" pitchFamily="34" charset="-122"/>
                <a:cs typeface="Calibri" pitchFamily="34" charset="-120"/>
              </a:rPr>
              <a:t>The Open Source Gap Is Closing</a:t>
            </a:r>
            <a:endParaRPr lang="en-US" sz="2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E3A5F"/>
        </a:solidFill>
      </p:bgPr>
    </p:bg>
    <p:spTree>
      <p:nvGrpSpPr>
        <p:cNvPr id="1" name=""/>
        <p:cNvGrpSpPr/>
        <p:nvPr/>
      </p:nvGrpSpPr>
      <p:grpSpPr>
        <a:xfrm>
          <a:off x="0" y="0"/>
          <a:ext cx="0" cy="0"/>
          <a:chOff x="0" y="0"/>
          <a:chExt cx="0" cy="0"/>
        </a:xfrm>
      </p:grpSpPr>
      <p:sp>
        <p:nvSpPr>
          <p:cNvPr id="2" name="Text 0"/>
          <p:cNvSpPr/>
          <p:nvPr/>
        </p:nvSpPr>
        <p:spPr>
          <a:xfrm>
            <a:off x="8686800" y="3200400"/>
            <a:ext cx="3474720" cy="3200400"/>
          </a:xfrm>
          <a:prstGeom prst="rect">
            <a:avLst/>
          </a:prstGeom>
          <a:noFill/>
          <a:ln/>
        </p:spPr>
        <p:txBody>
          <a:bodyPr wrap="square" rtlCol="0" anchor="ctr"/>
          <a:lstStyle/>
          <a:p>
            <a:pPr algn="r" indent="0" marL="0">
              <a:buNone/>
            </a:pPr>
            <a:r>
              <a:rPr lang="en-US" sz="18000" b="1" dirty="0">
                <a:solidFill>
                  <a:srgbClr val="00A3E0">
                    <a:alpha val="20000"/>
                  </a:srgbClr>
                </a:solidFill>
                <a:latin typeface="Calibri" pitchFamily="34" charset="0"/>
                <a:ea typeface="Calibri" pitchFamily="34" charset="-122"/>
                <a:cs typeface="Calibri" pitchFamily="34" charset="-120"/>
              </a:rPr>
              <a:t>06</a:t>
            </a:r>
            <a:endParaRPr lang="en-US" sz="18000" dirty="0"/>
          </a:p>
        </p:txBody>
      </p:sp>
      <p:sp>
        <p:nvSpPr>
          <p:cNvPr id="3" name="Shape 1"/>
          <p:cNvSpPr/>
          <p:nvPr/>
        </p:nvSpPr>
        <p:spPr>
          <a:xfrm>
            <a:off x="548640" y="2194560"/>
            <a:ext cx="73152" cy="1463040"/>
          </a:xfrm>
          <a:prstGeom prst="rect">
            <a:avLst/>
          </a:prstGeom>
          <a:solidFill>
            <a:srgbClr val="00A3E0"/>
          </a:solidFill>
          <a:ln w="12700">
            <a:solidFill>
              <a:srgbClr val="00A3E0"/>
            </a:solidFill>
            <a:prstDash val="solid"/>
          </a:ln>
        </p:spPr>
      </p:sp>
      <p:sp>
        <p:nvSpPr>
          <p:cNvPr id="4" name="Text 2"/>
          <p:cNvSpPr/>
          <p:nvPr/>
        </p:nvSpPr>
        <p:spPr>
          <a:xfrm>
            <a:off x="777240" y="2286000"/>
            <a:ext cx="8229600" cy="6400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Section Divider: Ethics &amp; Compliance</a:t>
            </a:r>
            <a:endParaRPr lang="en-US" sz="3200" dirty="0"/>
          </a:p>
        </p:txBody>
      </p:sp>
      <p:sp>
        <p:nvSpPr>
          <p:cNvPr id="5" name="Text 3"/>
          <p:cNvSpPr/>
          <p:nvPr/>
        </p:nvSpPr>
        <p:spPr>
          <a:xfrm>
            <a:off x="777240" y="3017520"/>
            <a:ext cx="8229600" cy="45720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The non-negotiables for front-office AI use</a:t>
            </a:r>
            <a:endParaRPr lang="en-US" sz="1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indent="0" marL="0">
              <a:buNone/>
            </a:pPr>
            <a:r>
              <a:rPr lang="en-US" sz="2800" b="1" dirty="0">
                <a:solidFill>
                  <a:srgbClr val="0A1628"/>
                </a:solidFill>
                <a:latin typeface="Calibri" pitchFamily="34" charset="0"/>
                <a:ea typeface="Calibri" pitchFamily="34" charset="-122"/>
                <a:cs typeface="Calibri" pitchFamily="34" charset="-120"/>
              </a:rPr>
              <a:t>What Can and Cannot Go Into These Tools</a:t>
            </a:r>
            <a:endParaRPr lang="en-US" sz="2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indent="0" marL="0">
              <a:buNone/>
            </a:pPr>
            <a:r>
              <a:rPr lang="en-US" sz="2800" b="1" dirty="0">
                <a:solidFill>
                  <a:srgbClr val="0A1628"/>
                </a:solidFill>
                <a:latin typeface="Calibri" pitchFamily="34" charset="0"/>
                <a:ea typeface="Calibri" pitchFamily="34" charset="-122"/>
                <a:cs typeface="Calibri" pitchFamily="34" charset="-120"/>
              </a:rPr>
              <a:t>The Data Handling Matrix</a:t>
            </a:r>
            <a:endParaRPr lang="en-US" sz="2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indent="0" marL="0">
              <a:buNone/>
            </a:pPr>
            <a:r>
              <a:rPr lang="en-US" sz="2800" b="1" dirty="0">
                <a:solidFill>
                  <a:srgbClr val="0A1628"/>
                </a:solidFill>
                <a:latin typeface="Calibri" pitchFamily="34" charset="0"/>
                <a:ea typeface="Calibri" pitchFamily="34" charset="-122"/>
                <a:cs typeface="Calibri" pitchFamily="34" charset="-120"/>
              </a:rPr>
              <a:t>Practical Rules for FM&amp;I</a:t>
            </a:r>
            <a:endParaRPr lang="en-US" sz="2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E3A5F"/>
        </a:solidFill>
      </p:bgPr>
    </p:bg>
    <p:spTree>
      <p:nvGrpSpPr>
        <p:cNvPr id="1" name=""/>
        <p:cNvGrpSpPr/>
        <p:nvPr/>
      </p:nvGrpSpPr>
      <p:grpSpPr>
        <a:xfrm>
          <a:off x="0" y="0"/>
          <a:ext cx="0" cy="0"/>
          <a:chOff x="0" y="0"/>
          <a:chExt cx="0" cy="0"/>
        </a:xfrm>
      </p:grpSpPr>
      <p:sp>
        <p:nvSpPr>
          <p:cNvPr id="2" name="Text 0"/>
          <p:cNvSpPr/>
          <p:nvPr/>
        </p:nvSpPr>
        <p:spPr>
          <a:xfrm>
            <a:off x="8686800" y="3200400"/>
            <a:ext cx="3474720" cy="3200400"/>
          </a:xfrm>
          <a:prstGeom prst="rect">
            <a:avLst/>
          </a:prstGeom>
          <a:noFill/>
          <a:ln/>
        </p:spPr>
        <p:txBody>
          <a:bodyPr wrap="square" rtlCol="0" anchor="ctr"/>
          <a:lstStyle/>
          <a:p>
            <a:pPr algn="r" indent="0" marL="0">
              <a:buNone/>
            </a:pPr>
            <a:r>
              <a:rPr lang="en-US" sz="18000" b="1" dirty="0">
                <a:solidFill>
                  <a:srgbClr val="00A3E0">
                    <a:alpha val="20000"/>
                  </a:srgbClr>
                </a:solidFill>
                <a:latin typeface="Calibri" pitchFamily="34" charset="0"/>
                <a:ea typeface="Calibri" pitchFamily="34" charset="-122"/>
                <a:cs typeface="Calibri" pitchFamily="34" charset="-120"/>
              </a:rPr>
              <a:t>07</a:t>
            </a:r>
            <a:endParaRPr lang="en-US" sz="18000" dirty="0"/>
          </a:p>
        </p:txBody>
      </p:sp>
      <p:sp>
        <p:nvSpPr>
          <p:cNvPr id="3" name="Shape 1"/>
          <p:cNvSpPr/>
          <p:nvPr/>
        </p:nvSpPr>
        <p:spPr>
          <a:xfrm>
            <a:off x="548640" y="2194560"/>
            <a:ext cx="73152" cy="1463040"/>
          </a:xfrm>
          <a:prstGeom prst="rect">
            <a:avLst/>
          </a:prstGeom>
          <a:solidFill>
            <a:srgbClr val="00A3E0"/>
          </a:solidFill>
          <a:ln w="12700">
            <a:solidFill>
              <a:srgbClr val="00A3E0"/>
            </a:solidFill>
            <a:prstDash val="solid"/>
          </a:ln>
        </p:spPr>
      </p:sp>
      <p:sp>
        <p:nvSpPr>
          <p:cNvPr id="4" name="Text 2"/>
          <p:cNvSpPr/>
          <p:nvPr/>
        </p:nvSpPr>
        <p:spPr>
          <a:xfrm>
            <a:off x="777240" y="2286000"/>
            <a:ext cx="8229600" cy="6400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Section Divider: Extended Topics</a:t>
            </a:r>
            <a:endParaRPr lang="en-US" sz="3200" dirty="0"/>
          </a:p>
        </p:txBody>
      </p:sp>
      <p:sp>
        <p:nvSpPr>
          <p:cNvPr id="5" name="Text 3"/>
          <p:cNvSpPr/>
          <p:nvPr/>
        </p:nvSpPr>
        <p:spPr>
          <a:xfrm>
            <a:off x="777240" y="3017520"/>
            <a:ext cx="8229600" cy="45720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Claude Code · MCP · Agentic AI · Agent Skills · Context Management</a:t>
            </a:r>
            <a:endParaRPr lang="en-US" sz="1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indent="0" marL="0">
              <a:buNone/>
            </a:pPr>
            <a:r>
              <a:rPr lang="en-US" sz="2800" b="1" dirty="0">
                <a:solidFill>
                  <a:srgbClr val="0A1628"/>
                </a:solidFill>
                <a:latin typeface="Calibri" pitchFamily="34" charset="0"/>
                <a:ea typeface="Calibri" pitchFamily="34" charset="-122"/>
                <a:cs typeface="Calibri" pitchFamily="34" charset="-120"/>
              </a:rPr>
              <a:t>Claude Code: The CLI Difference</a:t>
            </a:r>
            <a:endParaRPr lang="en-US" sz="2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indent="0" marL="0">
              <a:buNone/>
            </a:pPr>
            <a:r>
              <a:rPr lang="en-US" sz="2800" b="1" dirty="0">
                <a:solidFill>
                  <a:srgbClr val="0A1628"/>
                </a:solidFill>
                <a:latin typeface="Calibri" pitchFamily="34" charset="0"/>
                <a:ea typeface="Calibri" pitchFamily="34" charset="-122"/>
                <a:cs typeface="Calibri" pitchFamily="34" charset="-120"/>
              </a:rPr>
              <a:t>Claude Code Agent Teams</a:t>
            </a:r>
            <a:endParaRPr lang="en-US" sz="2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indent="0" marL="0">
              <a:buNone/>
            </a:pPr>
            <a:r>
              <a:rPr lang="en-US" sz="2800" b="1" dirty="0">
                <a:solidFill>
                  <a:srgbClr val="0A1628"/>
                </a:solidFill>
                <a:latin typeface="Calibri" pitchFamily="34" charset="0"/>
                <a:ea typeface="Calibri" pitchFamily="34" charset="-122"/>
                <a:cs typeface="Calibri" pitchFamily="34" charset="-120"/>
              </a:rPr>
              <a:t>Tool Calling &amp; MCP: The Connectivity Layer</a:t>
            </a:r>
            <a:endParaRPr lang="en-US" sz="2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MCP for FM&amp;I: What You Could Build Today</a:t>
            </a:r>
            <a:endParaRPr lang="en-US" sz="2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indent="0" marL="0">
              <a:buNone/>
            </a:pPr>
            <a:r>
              <a:rPr lang="en-US" sz="2800" b="1" dirty="0">
                <a:solidFill>
                  <a:srgbClr val="0A1628"/>
                </a:solidFill>
                <a:latin typeface="Calibri" pitchFamily="34" charset="0"/>
                <a:ea typeface="Calibri" pitchFamily="34" charset="-122"/>
                <a:cs typeface="Calibri" pitchFamily="34" charset="-120"/>
              </a:rPr>
              <a:t>Agentic AI: What Changed and Why It Matters</a:t>
            </a:r>
            <a:endParaRPr lang="en-US" sz="2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indent="0" marL="0">
              <a:buNone/>
            </a:pPr>
            <a:r>
              <a:rPr lang="en-US" sz="2800" b="1" dirty="0">
                <a:solidFill>
                  <a:srgbClr val="0A1628"/>
                </a:solidFill>
                <a:latin typeface="Calibri" pitchFamily="34" charset="0"/>
                <a:ea typeface="Calibri" pitchFamily="34" charset="-122"/>
                <a:cs typeface="Calibri" pitchFamily="34" charset="-120"/>
              </a:rPr>
              <a:t>Agent Skills: Packaged Reusable Capabilities</a:t>
            </a:r>
            <a:endParaRPr lang="en-US" sz="2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indent="0" marL="0">
              <a:buNone/>
            </a:pPr>
            <a:r>
              <a:rPr lang="en-US" sz="2800" b="1" dirty="0">
                <a:solidFill>
                  <a:srgbClr val="0A1628"/>
                </a:solidFill>
                <a:latin typeface="Calibri" pitchFamily="34" charset="0"/>
                <a:ea typeface="Calibri" pitchFamily="34" charset="-122"/>
                <a:cs typeface="Calibri" pitchFamily="34" charset="-120"/>
              </a:rPr>
              <a:t>Context, Tokens, and Hooks</a:t>
            </a:r>
            <a:endParaRPr lang="en-US" sz="2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indent="0" marL="0">
              <a:buNone/>
            </a:pPr>
            <a:r>
              <a:rPr lang="en-US" sz="2800" b="1" dirty="0">
                <a:solidFill>
                  <a:srgbClr val="0A1628"/>
                </a:solidFill>
                <a:latin typeface="Calibri" pitchFamily="34" charset="0"/>
                <a:ea typeface="Calibri" pitchFamily="34" charset="-122"/>
                <a:cs typeface="Calibri" pitchFamily="34" charset="-120"/>
              </a:rPr>
              <a:t>ChatGPT Codex vs Claude Code vs Cursor</a:t>
            </a:r>
            <a:endParaRPr lang="en-US" sz="2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E3A5F"/>
        </a:solidFill>
      </p:bgPr>
    </p:bg>
    <p:spTree>
      <p:nvGrpSpPr>
        <p:cNvPr id="1" name=""/>
        <p:cNvGrpSpPr/>
        <p:nvPr/>
      </p:nvGrpSpPr>
      <p:grpSpPr>
        <a:xfrm>
          <a:off x="0" y="0"/>
          <a:ext cx="0" cy="0"/>
          <a:chOff x="0" y="0"/>
          <a:chExt cx="0" cy="0"/>
        </a:xfrm>
      </p:grpSpPr>
      <p:sp>
        <p:nvSpPr>
          <p:cNvPr id="2" name="Text 0"/>
          <p:cNvSpPr/>
          <p:nvPr/>
        </p:nvSpPr>
        <p:spPr>
          <a:xfrm>
            <a:off x="8686800" y="3200400"/>
            <a:ext cx="3474720" cy="3200400"/>
          </a:xfrm>
          <a:prstGeom prst="rect">
            <a:avLst/>
          </a:prstGeom>
          <a:noFill/>
          <a:ln/>
        </p:spPr>
        <p:txBody>
          <a:bodyPr wrap="square" rtlCol="0" anchor="ctr"/>
          <a:lstStyle/>
          <a:p>
            <a:pPr algn="r" indent="0" marL="0">
              <a:buNone/>
            </a:pPr>
            <a:r>
              <a:rPr lang="en-US" sz="18000" b="1" dirty="0">
                <a:solidFill>
                  <a:srgbClr val="00A3E0">
                    <a:alpha val="20000"/>
                  </a:srgbClr>
                </a:solidFill>
                <a:latin typeface="Calibri" pitchFamily="34" charset="0"/>
                <a:ea typeface="Calibri" pitchFamily="34" charset="-122"/>
                <a:cs typeface="Calibri" pitchFamily="34" charset="-120"/>
              </a:rPr>
              <a:t>08</a:t>
            </a:r>
            <a:endParaRPr lang="en-US" sz="18000" dirty="0"/>
          </a:p>
        </p:txBody>
      </p:sp>
      <p:sp>
        <p:nvSpPr>
          <p:cNvPr id="3" name="Shape 1"/>
          <p:cNvSpPr/>
          <p:nvPr/>
        </p:nvSpPr>
        <p:spPr>
          <a:xfrm>
            <a:off x="548640" y="2194560"/>
            <a:ext cx="73152" cy="1463040"/>
          </a:xfrm>
          <a:prstGeom prst="rect">
            <a:avLst/>
          </a:prstGeom>
          <a:solidFill>
            <a:srgbClr val="00A3E0"/>
          </a:solidFill>
          <a:ln w="12700">
            <a:solidFill>
              <a:srgbClr val="00A3E0"/>
            </a:solidFill>
            <a:prstDash val="solid"/>
          </a:ln>
        </p:spPr>
      </p:sp>
      <p:sp>
        <p:nvSpPr>
          <p:cNvPr id="4" name="Text 2"/>
          <p:cNvSpPr/>
          <p:nvPr/>
        </p:nvSpPr>
        <p:spPr>
          <a:xfrm>
            <a:off x="777240" y="2286000"/>
            <a:ext cx="8229600" cy="6400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Section Divider: From the Field</a:t>
            </a:r>
            <a:endParaRPr lang="en-US" sz="3200" dirty="0"/>
          </a:p>
        </p:txBody>
      </p:sp>
      <p:sp>
        <p:nvSpPr>
          <p:cNvPr id="5" name="Text 3"/>
          <p:cNvSpPr/>
          <p:nvPr/>
        </p:nvSpPr>
        <p:spPr>
          <a:xfrm>
            <a:off x="777240" y="3017520"/>
            <a:ext cx="8229600" cy="45720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Real workflows using these tools — with the rough edges included</a:t>
            </a:r>
            <a:endParaRPr lang="en-US" sz="1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indent="0" marL="0">
              <a:buNone/>
            </a:pPr>
            <a:r>
              <a:rPr lang="en-US" sz="2800" b="1" dirty="0">
                <a:solidFill>
                  <a:srgbClr val="0A1628"/>
                </a:solidFill>
                <a:latin typeface="Calibri" pitchFamily="34" charset="0"/>
                <a:ea typeface="Calibri" pitchFamily="34" charset="-122"/>
                <a:cs typeface="Calibri" pitchFamily="34" charset="-120"/>
              </a:rPr>
              <a:t>Personal Use Cases: The Toolkit</a:t>
            </a:r>
            <a:endParaRPr lang="en-US" sz="2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The Weather Alerts Pattern — Transferable to FM&amp;I</a:t>
            </a:r>
            <a:endParaRPr lang="en-US" sz="2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indent="0" marL="0">
              <a:buNone/>
            </a:pPr>
            <a:r>
              <a:rPr lang="en-US" sz="2800" b="1" dirty="0">
                <a:solidFill>
                  <a:srgbClr val="0A1628"/>
                </a:solidFill>
                <a:latin typeface="Calibri" pitchFamily="34" charset="0"/>
                <a:ea typeface="Calibri" pitchFamily="34" charset="-122"/>
                <a:cs typeface="Calibri" pitchFamily="34" charset="-120"/>
              </a:rPr>
              <a:t>The Template Project: Configuration Is the Asset</a:t>
            </a:r>
            <a:endParaRPr lang="en-US" sz="2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E3A5F"/>
        </a:solidFill>
      </p:bgPr>
    </p:bg>
    <p:spTree>
      <p:nvGrpSpPr>
        <p:cNvPr id="1" name=""/>
        <p:cNvGrpSpPr/>
        <p:nvPr/>
      </p:nvGrpSpPr>
      <p:grpSpPr>
        <a:xfrm>
          <a:off x="0" y="0"/>
          <a:ext cx="0" cy="0"/>
          <a:chOff x="0" y="0"/>
          <a:chExt cx="0" cy="0"/>
        </a:xfrm>
      </p:grpSpPr>
      <p:sp>
        <p:nvSpPr>
          <p:cNvPr id="2" name="Text 0"/>
          <p:cNvSpPr/>
          <p:nvPr/>
        </p:nvSpPr>
        <p:spPr>
          <a:xfrm>
            <a:off x="8686800" y="3200400"/>
            <a:ext cx="3474720" cy="3200400"/>
          </a:xfrm>
          <a:prstGeom prst="rect">
            <a:avLst/>
          </a:prstGeom>
          <a:noFill/>
          <a:ln/>
        </p:spPr>
        <p:txBody>
          <a:bodyPr wrap="square" rtlCol="0" anchor="ctr"/>
          <a:lstStyle/>
          <a:p>
            <a:pPr algn="r" indent="0" marL="0">
              <a:buNone/>
            </a:pPr>
            <a:r>
              <a:rPr lang="en-US" sz="18000" b="1" dirty="0">
                <a:solidFill>
                  <a:srgbClr val="00A3E0">
                    <a:alpha val="20000"/>
                  </a:srgbClr>
                </a:solidFill>
                <a:latin typeface="Calibri" pitchFamily="34" charset="0"/>
                <a:ea typeface="Calibri" pitchFamily="34" charset="-122"/>
                <a:cs typeface="Calibri" pitchFamily="34" charset="-120"/>
              </a:rPr>
              <a:t>09</a:t>
            </a:r>
            <a:endParaRPr lang="en-US" sz="18000" dirty="0"/>
          </a:p>
        </p:txBody>
      </p:sp>
      <p:sp>
        <p:nvSpPr>
          <p:cNvPr id="3" name="Shape 1"/>
          <p:cNvSpPr/>
          <p:nvPr/>
        </p:nvSpPr>
        <p:spPr>
          <a:xfrm>
            <a:off x="548640" y="2194560"/>
            <a:ext cx="73152" cy="1463040"/>
          </a:xfrm>
          <a:prstGeom prst="rect">
            <a:avLst/>
          </a:prstGeom>
          <a:solidFill>
            <a:srgbClr val="00A3E0"/>
          </a:solidFill>
          <a:ln w="12700">
            <a:solidFill>
              <a:srgbClr val="00A3E0"/>
            </a:solidFill>
            <a:prstDash val="solid"/>
          </a:ln>
        </p:spPr>
      </p:sp>
      <p:sp>
        <p:nvSpPr>
          <p:cNvPr id="4" name="Text 2"/>
          <p:cNvSpPr/>
          <p:nvPr/>
        </p:nvSpPr>
        <p:spPr>
          <a:xfrm>
            <a:off x="777240" y="2286000"/>
            <a:ext cx="8229600" cy="6400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Section Divider: Business Use Cases + Innovation Day</a:t>
            </a:r>
            <a:endParaRPr lang="en-US" sz="3200" dirty="0"/>
          </a:p>
        </p:txBody>
      </p:sp>
      <p:sp>
        <p:nvSpPr>
          <p:cNvPr id="5" name="Text 3"/>
          <p:cNvSpPr/>
          <p:nvPr/>
        </p:nvSpPr>
        <p:spPr>
          <a:xfrm>
            <a:off x="777240" y="3017520"/>
            <a:ext cx="8229600" cy="45720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Ideas for the Innovation Day mural board — and beyond</a:t>
            </a:r>
            <a:endParaRPr lang="en-US" sz="1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indent="0" marL="0">
              <a:buNone/>
            </a:pPr>
            <a:r>
              <a:rPr lang="en-US" sz="2800" b="1" dirty="0">
                <a:solidFill>
                  <a:srgbClr val="0A1628"/>
                </a:solidFill>
                <a:latin typeface="Calibri" pitchFamily="34" charset="0"/>
                <a:ea typeface="Calibri" pitchFamily="34" charset="-122"/>
                <a:cs typeface="Calibri" pitchFamily="34" charset="-120"/>
              </a:rPr>
              <a:t>Business Use Cases: The Hit List</a:t>
            </a:r>
            <a:endParaRPr lang="en-US" sz="2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Core Message — Closing Callback</a:t>
            </a:r>
            <a:endParaRPr lang="en-US" sz="2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Philosophical Anecdotes</a:t>
            </a:r>
            <a:endParaRPr lang="en-US" sz="2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Innovation Day: The Mural Board</a:t>
            </a:r>
            <a:endParaRPr lang="en-US" sz="2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Closing + Resources</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60</Slides>
  <Notes>60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60</vt:i4>
      </vt:variant>
    </vt:vector>
  </HeadingPairs>
  <TitlesOfParts>
    <vt:vector size="6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2026-03-08T17:13:30Z</dcterms:created>
  <dcterms:modified xsi:type="dcterms:W3CDTF">2026-03-08T17:13:30Z</dcterms:modified>
</cp:coreProperties>
</file>